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projet" id="{6714c7aa-453c-ceed-4784-ed8c0676e357}">
          <p14:sldIdLst>
            <p14:sldId id="256"/>
            <p14:sldId id="257"/>
            <p14:sldId id="258"/>
            <p14:sldId id="259"/>
          </p14:sldIdLst>
        </p14:section>
        <p14:section name="Résultats et KPI" id="{53503668-bd40-06c7-a086-56f8e7a15121}">
          <p14:sldIdLst>
            <p14:sldId id="260"/>
            <p14:sldId id="261"/>
            <p14:sldId id="262"/>
            <p14:sldId id="263"/>
            <p14:sldId id="264"/>
          </p14:sldIdLst>
        </p14:section>
        <p14:section name="Démonstration" id="{d3568117-b7fa-c00e-0ab5-f43045986b5b}">
          <p14:sldIdLst>
            <p14:sldId id="265"/>
            <p14:sldId id="266"/>
          </p14:sldIdLst>
        </p14:section>
        <p14:section name="Limites" id="{eb0ff6e5-60f6-096c-5cce-a28ef40076dc}">
          <p14:sldIdLst>
            <p14:sldId id="267"/>
            <p14:sldId id="268"/>
            <p14:sldId id="269"/>
            <p14:sldId id="270"/>
          </p14:sldIdLst>
        </p14:section>
        <p14:section name="Bilan" id="{2fbf39af-5fdf-5c11-96d6-f4e426cc0817}">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Temps par analyse et par étape (ms, médiane de 5 sessions)</a:t>
            </a:r>
          </a:p>
        </c:rich>
      </c:tx>
      <c:layout/>
      <c:overlay val="0"/>
    </c:title>
    <c:autoTitleDeleted val="0"/>
    <c:plotArea>
      <c:layout/>
      <c:barChart>
        <c:barDir val="bar"/>
        <c:grouping val="stacked"/>
        <c:varyColors val="0"/>
        <c:ser>
          <c:idx val="0"/>
          <c:order val="0"/>
          <c:tx>
            <c:strRef>
              <c:f>Sheet1!$B$1</c:f>
              <c:strCache>
                <c:ptCount val="1"/>
                <c:pt idx="0">
                  <c:v>Préparation de l'image</c:v>
                </c:pt>
              </c:strCache>
            </c:strRef>
          </c:tx>
          <c:spPr>
            <a:solidFill>
              <a:srgbClr val="2A78D6"/>
            </a:solidFill>
            <a:effectLst/>
          </c:spPr>
          <c:invertIfNegative val="0"/>
          <c:dLbls>
            <c:numFmt formatCode="#,##0" sourceLinked="0"/>
            <c:txPr>
              <a:bodyPr/>
              <a:lstStyle/>
              <a:p>
                <a:pPr>
                  <a:defRPr b="0" i="0" strike="noStrike" sz="1100" u="none">
                    <a:solidFill>
                      <a:srgbClr val="1E1A17"/>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Processeur (WASM)</c:v>
                  </c:pt>
                  <c:pt idx="1">
                    <c:v>WebGPU, GPU intégré</c:v>
                  </c:pt>
                  <c:pt idx="2">
                    <c:v>Hybride, GPU intégré</c:v>
                  </c:pt>
                  <c:pt idx="3">
                    <c:v>WebGPU, RTX 3060</c:v>
                  </c:pt>
                  <c:pt idx="4">
                    <c:v>Hybride, RTX 3060</c:v>
                  </c:pt>
                </c:lvl>
              </c:multiLvlStrCache>
            </c:multiLvlStrRef>
          </c:cat>
          <c:val>
            <c:numRef>
              <c:f>Sheet1!$B$2:$B$6</c:f>
              <c:numCache>
                <c:formatCode>General</c:formatCode>
                <c:ptCount val="5"/>
                <c:pt idx="0">
                  <c:v>13</c:v>
                </c:pt>
                <c:pt idx="1">
                  <c:v>12</c:v>
                </c:pt>
                <c:pt idx="2">
                  <c:v>12</c:v>
                </c:pt>
                <c:pt idx="3">
                  <c:v>14</c:v>
                </c:pt>
                <c:pt idx="4">
                  <c:v>12</c:v>
                </c:pt>
              </c:numCache>
            </c:numRef>
          </c:val>
        </c:ser>
        <c:ser>
          <c:idx val="1"/>
          <c:order val="1"/>
          <c:tx>
            <c:strRef>
              <c:f>Sheet1!$C$1</c:f>
              <c:strCache>
                <c:ptCount val="1"/>
                <c:pt idx="0">
                  <c:v>Détection des visages</c:v>
                </c:pt>
              </c:strCache>
            </c:strRef>
          </c:tx>
          <c:spPr>
            <a:solidFill>
              <a:srgbClr val="C08A32"/>
            </a:solidFill>
            <a:effectLst/>
          </c:spPr>
          <c:invertIfNegative val="0"/>
          <c:dLbls>
            <c:numFmt formatCode="#,##0" sourceLinked="0"/>
            <c:txPr>
              <a:bodyPr/>
              <a:lstStyle/>
              <a:p>
                <a:pPr>
                  <a:defRPr b="0" i="0" strike="noStrike" sz="1100" u="none">
                    <a:solidFill>
                      <a:srgbClr val="1E1A17"/>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Processeur (WASM)</c:v>
                  </c:pt>
                  <c:pt idx="1">
                    <c:v>WebGPU, GPU intégré</c:v>
                  </c:pt>
                  <c:pt idx="2">
                    <c:v>Hybride, GPU intégré</c:v>
                  </c:pt>
                  <c:pt idx="3">
                    <c:v>WebGPU, RTX 3060</c:v>
                  </c:pt>
                  <c:pt idx="4">
                    <c:v>Hybride, RTX 3060</c:v>
                  </c:pt>
                </c:lvl>
              </c:multiLvlStrCache>
            </c:multiLvlStrRef>
          </c:cat>
          <c:val>
            <c:numRef>
              <c:f>Sheet1!$C$2:$C$6</c:f>
              <c:numCache>
                <c:formatCode>General</c:formatCode>
                <c:ptCount val="5"/>
                <c:pt idx="0">
                  <c:v>77</c:v>
                </c:pt>
                <c:pt idx="1">
                  <c:v>79</c:v>
                </c:pt>
                <c:pt idx="2">
                  <c:v>101</c:v>
                </c:pt>
                <c:pt idx="3">
                  <c:v>61</c:v>
                </c:pt>
                <c:pt idx="4">
                  <c:v>57</c:v>
                </c:pt>
              </c:numCache>
            </c:numRef>
          </c:val>
        </c:ser>
        <c:ser>
          <c:idx val="2"/>
          <c:order val="2"/>
          <c:tx>
            <c:strRef>
              <c:f>Sheet1!$D$1</c:f>
              <c:strCache>
                <c:ptCount val="1"/>
                <c:pt idx="0">
                  <c:v>Reconnaissance</c:v>
                </c:pt>
              </c:strCache>
            </c:strRef>
          </c:tx>
          <c:spPr>
            <a:solidFill>
              <a:srgbClr val="1BAF7A"/>
            </a:solidFill>
            <a:effectLst/>
          </c:spPr>
          <c:invertIfNegative val="0"/>
          <c:dLbls>
            <c:numFmt formatCode="#,##0" sourceLinked="0"/>
            <c:txPr>
              <a:bodyPr/>
              <a:lstStyle/>
              <a:p>
                <a:pPr>
                  <a:defRPr b="0" i="0" strike="noStrike" sz="1100" u="none">
                    <a:solidFill>
                      <a:srgbClr val="1E1A17"/>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Processeur (WASM)</c:v>
                  </c:pt>
                  <c:pt idx="1">
                    <c:v>WebGPU, GPU intégré</c:v>
                  </c:pt>
                  <c:pt idx="2">
                    <c:v>Hybride, GPU intégré</c:v>
                  </c:pt>
                  <c:pt idx="3">
                    <c:v>WebGPU, RTX 3060</c:v>
                  </c:pt>
                  <c:pt idx="4">
                    <c:v>Hybride, RTX 3060</c:v>
                  </c:pt>
                </c:lvl>
              </c:multiLvlStrCache>
            </c:multiLvlStrRef>
          </c:cat>
          <c:val>
            <c:numRef>
              <c:f>Sheet1!$D$2:$D$6</c:f>
              <c:numCache>
                <c:formatCode>General</c:formatCode>
                <c:ptCount val="5"/>
                <c:pt idx="0">
                  <c:v>41</c:v>
                </c:pt>
                <c:pt idx="1">
                  <c:v>149</c:v>
                </c:pt>
                <c:pt idx="2">
                  <c:v>42</c:v>
                </c:pt>
                <c:pt idx="3">
                  <c:v>161</c:v>
                </c:pt>
                <c:pt idx="4">
                  <c:v>41</c:v>
                </c:pt>
              </c:numCache>
            </c:numRef>
          </c:val>
        </c:ser>
        <c:dLbls>
          <c:numFmt formatCode="#,##0" sourceLinked="0"/>
          <c:txPr>
            <a:bodyPr/>
            <a:lstStyle/>
            <a:p>
              <a:pPr>
                <a:defRPr b="0" i="0" strike="noStrike" sz="1100" u="none">
                  <a:solidFill>
                    <a:srgbClr val="1E1A17"/>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C9C2B6"/>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6E1D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1A1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Clients bien identifiés selon la distance estimée visage-caméra</a:t>
            </a:r>
          </a:p>
        </c:rich>
      </c:tx>
      <c:layout/>
      <c:overlay val="0"/>
    </c:title>
    <c:autoTitleDeleted val="0"/>
    <c:plotArea>
      <c:layout/>
      <c:lineChart>
        <c:varyColors val="0"/>
        <c:ser>
          <c:idx val="0"/>
          <c:order val="0"/>
          <c:tx>
            <c:strRef>
              <c:f>Sheet1!$B$1</c:f>
              <c:strCache>
                <c:ptCount val="1"/>
                <c:pt idx="0">
                  <c:v>Client bien identifié</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Sheet1!$A$2:$A$10</c:f>
              <c:multiLvlStrCache>
                <c:ptCount val="9"/>
                <c:lvl>
                  <c:pt idx="0">
                    <c:v>0,6 m</c:v>
                  </c:pt>
                  <c:pt idx="1">
                    <c:v>0,8 m</c:v>
                  </c:pt>
                  <c:pt idx="2">
                    <c:v>1,0 m</c:v>
                  </c:pt>
                  <c:pt idx="3">
                    <c:v>1,4 m</c:v>
                  </c:pt>
                  <c:pt idx="4">
                    <c:v>2,0 m</c:v>
                  </c:pt>
                  <c:pt idx="5">
                    <c:v>2,7 m</c:v>
                  </c:pt>
                  <c:pt idx="6">
                    <c:v>3,9 m</c:v>
                  </c:pt>
                  <c:pt idx="7">
                    <c:v>5,5 m</c:v>
                  </c:pt>
                  <c:pt idx="8">
                    <c:v>7,6 m</c:v>
                  </c:pt>
                </c:lvl>
              </c:multiLvlStrCache>
            </c:multiLvlStrRef>
          </c:cat>
          <c:val>
            <c:numRef>
              <c:f>Sheet1!$B$2:$B$10</c:f>
              <c:numCache>
                <c:formatCode>General</c:formatCode>
                <c:ptCount val="9"/>
                <c:pt idx="0">
                  <c:v>100</c:v>
                </c:pt>
                <c:pt idx="1">
                  <c:v>100</c:v>
                </c:pt>
                <c:pt idx="2">
                  <c:v>100</c:v>
                </c:pt>
                <c:pt idx="3">
                  <c:v>100</c:v>
                </c:pt>
                <c:pt idx="4">
                  <c:v>100</c:v>
                </c:pt>
                <c:pt idx="5">
                  <c:v>83.3</c:v>
                </c:pt>
                <c:pt idx="6">
                  <c:v>83.3</c:v>
                </c:pt>
                <c:pt idx="7">
                  <c:v>33.3</c:v>
                </c:pt>
                <c:pt idx="8">
                  <c:v>0</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Exposition (×)</a:t>
            </a:r>
          </a:p>
        </c:rich>
      </c:tx>
      <c:layout/>
      <c:overlay val="0"/>
    </c:title>
    <c:autoTitleDeleted val="0"/>
    <c:plotArea>
      <c:layout/>
      <c:lineChart>
        <c:varyColors val="0"/>
        <c:ser>
          <c:idx val="0"/>
          <c:order val="0"/>
          <c:tx>
            <c:strRef>
              <c:f>Sheet1!$B$1</c:f>
              <c:strCache>
                <c:ptCount val="1"/>
                <c:pt idx="0">
                  <c:v>Client bien identifié</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Sheet1!$A$2:$A$12</c:f>
              <c:multiLvlStrCache>
                <c:ptCount val="11"/>
                <c:lvl>
                  <c:pt idx="0">
                    <c:v>0,04</c:v>
                  </c:pt>
                  <c:pt idx="1">
                    <c:v>0,07</c:v>
                  </c:pt>
                  <c:pt idx="2">
                    <c:v>0,1</c:v>
                  </c:pt>
                  <c:pt idx="3">
                    <c:v>0,15</c:v>
                  </c:pt>
                  <c:pt idx="4">
                    <c:v>0,25</c:v>
                  </c:pt>
                  <c:pt idx="5">
                    <c:v>0,5</c:v>
                  </c:pt>
                  <c:pt idx="6">
                    <c:v>1</c:v>
                  </c:pt>
                  <c:pt idx="7">
                    <c:v>1,8</c:v>
                  </c:pt>
                  <c:pt idx="8">
                    <c:v>2,4</c:v>
                  </c:pt>
                  <c:pt idx="9">
                    <c:v>3,5</c:v>
                  </c:pt>
                  <c:pt idx="10">
                    <c:v>5</c:v>
                  </c:pt>
                </c:lvl>
              </c:multiLvlStrCache>
            </c:multiLvlStrRef>
          </c:cat>
          <c:val>
            <c:numRef>
              <c:f>Sheet1!$B$2:$B$12</c:f>
              <c:numCache>
                <c:formatCode>General</c:formatCode>
                <c:ptCount val="11"/>
                <c:pt idx="0">
                  <c:v>66.7</c:v>
                </c:pt>
                <c:pt idx="1">
                  <c:v>100</c:v>
                </c:pt>
                <c:pt idx="2">
                  <c:v>100</c:v>
                </c:pt>
                <c:pt idx="3">
                  <c:v>100</c:v>
                </c:pt>
                <c:pt idx="4">
                  <c:v>100</c:v>
                </c:pt>
                <c:pt idx="5">
                  <c:v>100</c:v>
                </c:pt>
                <c:pt idx="6">
                  <c:v>100</c:v>
                </c:pt>
                <c:pt idx="7">
                  <c:v>100</c:v>
                </c:pt>
                <c:pt idx="8">
                  <c:v>100</c:v>
                </c:pt>
                <c:pt idx="9">
                  <c:v>50</c:v>
                </c:pt>
                <c:pt idx="10">
                  <c:v>16.7</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Flou (px)</a:t>
            </a:r>
          </a:p>
        </c:rich>
      </c:tx>
      <c:layout/>
      <c:overlay val="0"/>
    </c:title>
    <c:autoTitleDeleted val="0"/>
    <c:plotArea>
      <c:layout/>
      <c:lineChart>
        <c:varyColors val="0"/>
        <c:ser>
          <c:idx val="0"/>
          <c:order val="0"/>
          <c:tx>
            <c:strRef>
              <c:f>Sheet1!$B$1</c:f>
              <c:strCache>
                <c:ptCount val="1"/>
                <c:pt idx="0">
                  <c:v>Client bien identifié</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Sheet1!$A$2:$A$9</c:f>
              <c:multiLvlStrCache>
                <c:ptCount val="8"/>
                <c:lvl>
                  <c:pt idx="0">
                    <c:v>0</c:v>
                  </c:pt>
                  <c:pt idx="1">
                    <c:v>2</c:v>
                  </c:pt>
                  <c:pt idx="2">
                    <c:v>4</c:v>
                  </c:pt>
                  <c:pt idx="3">
                    <c:v>6</c:v>
                  </c:pt>
                  <c:pt idx="4">
                    <c:v>8</c:v>
                  </c:pt>
                  <c:pt idx="5">
                    <c:v>11</c:v>
                  </c:pt>
                  <c:pt idx="6">
                    <c:v>14</c:v>
                  </c:pt>
                  <c:pt idx="7">
                    <c:v>18</c:v>
                  </c:pt>
                </c:lvl>
              </c:multiLvlStrCache>
            </c:multiLvlStrRef>
          </c:cat>
          <c:val>
            <c:numRef>
              <c:f>Sheet1!$B$2:$B$9</c:f>
              <c:numCache>
                <c:formatCode>General</c:formatCode>
                <c:ptCount val="8"/>
                <c:pt idx="0">
                  <c:v>100</c:v>
                </c:pt>
                <c:pt idx="1">
                  <c:v>100</c:v>
                </c:pt>
                <c:pt idx="2">
                  <c:v>100</c:v>
                </c:pt>
                <c:pt idx="3">
                  <c:v>100</c:v>
                </c:pt>
                <c:pt idx="4">
                  <c:v>100</c:v>
                </c:pt>
                <c:pt idx="5">
                  <c:v>16.7</c:v>
                </c:pt>
                <c:pt idx="6">
                  <c:v>0</c:v>
                </c:pt>
                <c:pt idx="7">
                  <c:v>0</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Inclinaison (°)</a:t>
            </a:r>
          </a:p>
        </c:rich>
      </c:tx>
      <c:layout/>
      <c:overlay val="0"/>
    </c:title>
    <c:autoTitleDeleted val="0"/>
    <c:plotArea>
      <c:layout/>
      <c:lineChart>
        <c:varyColors val="0"/>
        <c:ser>
          <c:idx val="0"/>
          <c:order val="0"/>
          <c:tx>
            <c:strRef>
              <c:f>Sheet1!$B$1</c:f>
              <c:strCache>
                <c:ptCount val="1"/>
                <c:pt idx="0">
                  <c:v>Client bien identifié</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Sheet1!$A$2:$A$8</c:f>
              <c:multiLvlStrCache>
                <c:ptCount val="7"/>
                <c:lvl>
                  <c:pt idx="0">
                    <c:v>0</c:v>
                  </c:pt>
                  <c:pt idx="1">
                    <c:v>10</c:v>
                  </c:pt>
                  <c:pt idx="2">
                    <c:v>20</c:v>
                  </c:pt>
                  <c:pt idx="3">
                    <c:v>30</c:v>
                  </c:pt>
                  <c:pt idx="4">
                    <c:v>45</c:v>
                  </c:pt>
                  <c:pt idx="5">
                    <c:v>60</c:v>
                  </c:pt>
                  <c:pt idx="6">
                    <c:v>90</c:v>
                  </c:pt>
                </c:lvl>
              </c:multiLvlStrCache>
            </c:multiLvlStrRef>
          </c:cat>
          <c:val>
            <c:numRef>
              <c:f>Sheet1!$B$2:$B$8</c:f>
              <c:numCache>
                <c:formatCode>General</c:formatCode>
                <c:ptCount val="7"/>
                <c:pt idx="0">
                  <c:v>100</c:v>
                </c:pt>
                <c:pt idx="1">
                  <c:v>100</c:v>
                </c:pt>
                <c:pt idx="2">
                  <c:v>100</c:v>
                </c:pt>
                <c:pt idx="3">
                  <c:v>100</c:v>
                </c:pt>
                <c:pt idx="4">
                  <c:v>100</c:v>
                </c:pt>
                <c:pt idx="5">
                  <c:v>100</c:v>
                </c:pt>
                <c:pt idx="6">
                  <c:v>50</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Bas du visage masqué (%)</a:t>
            </a:r>
          </a:p>
        </c:rich>
      </c:tx>
      <c:layout/>
      <c:overlay val="0"/>
    </c:title>
    <c:autoTitleDeleted val="0"/>
    <c:plotArea>
      <c:layout/>
      <c:lineChart>
        <c:varyColors val="0"/>
        <c:ser>
          <c:idx val="0"/>
          <c:order val="0"/>
          <c:tx>
            <c:strRef>
              <c:f>Sheet1!$B$1</c:f>
              <c:strCache>
                <c:ptCount val="1"/>
                <c:pt idx="0">
                  <c:v>Client bien identifié</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Sheet1!$A$2:$A$6</c:f>
              <c:multiLvlStrCache>
                <c:ptCount val="5"/>
                <c:lvl>
                  <c:pt idx="0">
                    <c:v>0</c:v>
                  </c:pt>
                  <c:pt idx="1">
                    <c:v>20</c:v>
                  </c:pt>
                  <c:pt idx="2">
                    <c:v>35</c:v>
                  </c:pt>
                  <c:pt idx="3">
                    <c:v>50</c:v>
                  </c:pt>
                  <c:pt idx="4">
                    <c:v>65</c:v>
                  </c:pt>
                </c:lvl>
              </c:multiLvlStrCache>
            </c:multiLvlStrRef>
          </c:cat>
          <c:val>
            <c:numRef>
              <c:f>Sheet1!$B$2:$B$6</c:f>
              <c:numCache>
                <c:formatCode>General</c:formatCode>
                <c:ptCount val="5"/>
                <c:pt idx="0">
                  <c:v>100</c:v>
                </c:pt>
                <c:pt idx="1">
                  <c:v>100</c:v>
                </c:pt>
                <c:pt idx="2">
                  <c:v>100</c:v>
                </c:pt>
                <c:pt idx="3">
                  <c:v>100</c:v>
                </c:pt>
                <c:pt idx="4">
                  <c:v>0</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Bruit du capteur</a:t>
            </a:r>
          </a:p>
        </c:rich>
      </c:tx>
      <c:layout/>
      <c:overlay val="0"/>
    </c:title>
    <c:autoTitleDeleted val="0"/>
    <c:plotArea>
      <c:layout/>
      <c:lineChart>
        <c:varyColors val="0"/>
        <c:ser>
          <c:idx val="0"/>
          <c:order val="0"/>
          <c:tx>
            <c:strRef>
              <c:f>Sheet1!$B$1</c:f>
              <c:strCache>
                <c:ptCount val="1"/>
                <c:pt idx="0">
                  <c:v>Client bien identifié</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Sheet1!$A$2:$A$8</c:f>
              <c:multiLvlStrCache>
                <c:ptCount val="7"/>
                <c:lvl>
                  <c:pt idx="0">
                    <c:v>0</c:v>
                  </c:pt>
                  <c:pt idx="1">
                    <c:v>20</c:v>
                  </c:pt>
                  <c:pt idx="2">
                    <c:v>35</c:v>
                  </c:pt>
                  <c:pt idx="3">
                    <c:v>50</c:v>
                  </c:pt>
                  <c:pt idx="4">
                    <c:v>70</c:v>
                  </c:pt>
                  <c:pt idx="5">
                    <c:v>90</c:v>
                  </c:pt>
                  <c:pt idx="6">
                    <c:v>120</c:v>
                  </c:pt>
                </c:lvl>
              </c:multiLvlStrCache>
            </c:multiLvlStrRef>
          </c:cat>
          <c:val>
            <c:numRef>
              <c:f>Sheet1!$B$2:$B$8</c:f>
              <c:numCache>
                <c:formatCode>General</c:formatCode>
                <c:ptCount val="7"/>
                <c:pt idx="0">
                  <c:v>100</c:v>
                </c:pt>
                <c:pt idx="1">
                  <c:v>100</c:v>
                </c:pt>
                <c:pt idx="2">
                  <c:v>100</c:v>
                </c:pt>
                <c:pt idx="3">
                  <c:v>100</c:v>
                </c:pt>
                <c:pt idx="4">
                  <c:v>83.3</c:v>
                </c:pt>
                <c:pt idx="5">
                  <c:v>16.7</c:v>
                </c:pt>
                <c:pt idx="6">
                  <c:v>0</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Qualité JPEG</a:t>
            </a:r>
          </a:p>
        </c:rich>
      </c:tx>
      <c:layout/>
      <c:overlay val="0"/>
    </c:title>
    <c:autoTitleDeleted val="0"/>
    <c:plotArea>
      <c:layout/>
      <c:lineChart>
        <c:varyColors val="0"/>
        <c:ser>
          <c:idx val="0"/>
          <c:order val="0"/>
          <c:tx>
            <c:strRef>
              <c:f>Sheet1!$B$1</c:f>
              <c:strCache>
                <c:ptCount val="1"/>
                <c:pt idx="0">
                  <c:v>Client bien identifié</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Sheet1!$A$2:$A$7</c:f>
              <c:multiLvlStrCache>
                <c:ptCount val="6"/>
                <c:lvl>
                  <c:pt idx="0">
                    <c:v>95</c:v>
                  </c:pt>
                  <c:pt idx="1">
                    <c:v>50</c:v>
                  </c:pt>
                  <c:pt idx="2">
                    <c:v>25</c:v>
                  </c:pt>
                  <c:pt idx="3">
                    <c:v>10</c:v>
                  </c:pt>
                  <c:pt idx="4">
                    <c:v>5</c:v>
                  </c:pt>
                  <c:pt idx="5">
                    <c:v>2</c:v>
                  </c:pt>
                </c:lvl>
              </c:multiLvlStrCache>
            </c:multiLvlStrRef>
          </c:cat>
          <c:val>
            <c:numRef>
              <c:f>Sheet1!$B$2:$B$7</c:f>
              <c:numCache>
                <c:formatCode>General</c:formatCode>
                <c:ptCount val="6"/>
                <c:pt idx="0">
                  <c:v>100</c:v>
                </c:pt>
                <c:pt idx="1">
                  <c:v>100</c:v>
                </c:pt>
                <c:pt idx="2">
                  <c:v>100</c:v>
                </c:pt>
                <c:pt idx="3">
                  <c:v>100</c:v>
                </c:pt>
                <c:pt idx="4">
                  <c:v>100</c:v>
                </c:pt>
                <c:pt idx="5">
                  <c:v>66.7</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0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000" b="0" i="0" u="none" strike="noStrike">
                <a:solidFill>
                  <a:srgbClr val="6E645B"/>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Similarité visage-gabarit (part des comparaisons)</a:t>
            </a:r>
          </a:p>
        </c:rich>
      </c:tx>
      <c:layout/>
      <c:overlay val="0"/>
    </c:title>
    <c:autoTitleDeleted val="0"/>
    <c:plotArea>
      <c:layout/>
      <c:barChart>
        <c:barDir val="col"/>
        <c:grouping val="clustered"/>
        <c:varyColors val="0"/>
        <c:ser>
          <c:idx val="0"/>
          <c:order val="0"/>
          <c:tx>
            <c:strRef>
              <c:f>Sheet1!$B$1</c:f>
              <c:strCache>
                <c:ptCount val="1"/>
                <c:pt idx="0">
                  <c:v>Même personne</c:v>
                </c:pt>
              </c:strCache>
            </c:strRef>
          </c:tx>
          <c:spPr>
            <a:solidFill>
              <a:srgbClr val="2A78D6"/>
            </a:solidFill>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cat>
            <c:multiLvlStrRef>
              <c:f>Sheet1!$A$2:$A$13</c:f>
              <c:multiLvlStrCache>
                <c:ptCount val="12"/>
                <c:lvl>
                  <c:pt idx="0">
                    <c:v>-0,2</c:v>
                  </c:pt>
                  <c:pt idx="1">
                    <c:v>-0,1</c:v>
                  </c:pt>
                  <c:pt idx="2">
                    <c:v>0,0</c:v>
                  </c:pt>
                  <c:pt idx="3">
                    <c:v>0,1</c:v>
                  </c:pt>
                  <c:pt idx="4">
                    <c:v>0,2</c:v>
                  </c:pt>
                  <c:pt idx="5">
                    <c:v>0,3</c:v>
                  </c:pt>
                  <c:pt idx="6">
                    <c:v>0,4</c:v>
                  </c:pt>
                  <c:pt idx="7">
                    <c:v>0,5</c:v>
                  </c:pt>
                  <c:pt idx="8">
                    <c:v>0,6</c:v>
                  </c:pt>
                  <c:pt idx="9">
                    <c:v>0,7</c:v>
                  </c:pt>
                  <c:pt idx="10">
                    <c:v>0,8</c:v>
                  </c:pt>
                  <c:pt idx="11">
                    <c:v>0,9</c:v>
                  </c:pt>
                </c:lvl>
              </c:multiLvlStrCache>
            </c:multiLvlStrRef>
          </c:cat>
          <c:val>
            <c:numRef>
              <c:f>Sheet1!$B$2:$B$13</c:f>
              <c:numCache>
                <c:formatCode>General</c:formatCode>
                <c:ptCount val="12"/>
                <c:pt idx="0">
                  <c:v>0</c:v>
                </c:pt>
                <c:pt idx="1">
                  <c:v>0</c:v>
                </c:pt>
                <c:pt idx="2">
                  <c:v>2.8</c:v>
                </c:pt>
                <c:pt idx="3">
                  <c:v>3.8</c:v>
                </c:pt>
                <c:pt idx="4">
                  <c:v>2.8</c:v>
                </c:pt>
                <c:pt idx="5">
                  <c:v>4.5</c:v>
                </c:pt>
                <c:pt idx="6">
                  <c:v>4.1</c:v>
                </c:pt>
                <c:pt idx="7">
                  <c:v>6.2</c:v>
                </c:pt>
                <c:pt idx="8">
                  <c:v>7.6</c:v>
                </c:pt>
                <c:pt idx="9">
                  <c:v>10.7</c:v>
                </c:pt>
                <c:pt idx="10">
                  <c:v>13.4</c:v>
                </c:pt>
                <c:pt idx="11">
                  <c:v>44.1</c:v>
                </c:pt>
              </c:numCache>
            </c:numRef>
          </c:val>
        </c:ser>
        <c:ser>
          <c:idx val="1"/>
          <c:order val="1"/>
          <c:tx>
            <c:strRef>
              <c:f>Sheet1!$C$1</c:f>
              <c:strCache>
                <c:ptCount val="1"/>
                <c:pt idx="0">
                  <c:v>Autre personne</c:v>
                </c:pt>
              </c:strCache>
            </c:strRef>
          </c:tx>
          <c:spPr>
            <a:solidFill>
              <a:srgbClr val="C08A32"/>
            </a:solidFill>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cat>
            <c:multiLvlStrRef>
              <c:f>Sheet1!$A$2:$A$13</c:f>
              <c:multiLvlStrCache>
                <c:ptCount val="12"/>
                <c:lvl>
                  <c:pt idx="0">
                    <c:v>-0,2</c:v>
                  </c:pt>
                  <c:pt idx="1">
                    <c:v>-0,1</c:v>
                  </c:pt>
                  <c:pt idx="2">
                    <c:v>0,0</c:v>
                  </c:pt>
                  <c:pt idx="3">
                    <c:v>0,1</c:v>
                  </c:pt>
                  <c:pt idx="4">
                    <c:v>0,2</c:v>
                  </c:pt>
                  <c:pt idx="5">
                    <c:v>0,3</c:v>
                  </c:pt>
                  <c:pt idx="6">
                    <c:v>0,4</c:v>
                  </c:pt>
                  <c:pt idx="7">
                    <c:v>0,5</c:v>
                  </c:pt>
                  <c:pt idx="8">
                    <c:v>0,6</c:v>
                  </c:pt>
                  <c:pt idx="9">
                    <c:v>0,7</c:v>
                  </c:pt>
                  <c:pt idx="10">
                    <c:v>0,8</c:v>
                  </c:pt>
                  <c:pt idx="11">
                    <c:v>0,9</c:v>
                  </c:pt>
                </c:lvl>
              </c:multiLvlStrCache>
            </c:multiLvlStrRef>
          </c:cat>
          <c:val>
            <c:numRef>
              <c:f>Sheet1!$C$2:$C$13</c:f>
              <c:numCache>
                <c:formatCode>General</c:formatCode>
                <c:ptCount val="12"/>
                <c:pt idx="0">
                  <c:v>0.4</c:v>
                </c:pt>
                <c:pt idx="1">
                  <c:v>27.7</c:v>
                </c:pt>
                <c:pt idx="2">
                  <c:v>53.5</c:v>
                </c:pt>
                <c:pt idx="3">
                  <c:v>16.7</c:v>
                </c:pt>
                <c:pt idx="4">
                  <c:v>1.7</c:v>
                </c:pt>
                <c:pt idx="5">
                  <c:v>0</c:v>
                </c:pt>
                <c:pt idx="6">
                  <c:v>0</c:v>
                </c:pt>
                <c:pt idx="7">
                  <c:v>0</c:v>
                </c:pt>
                <c:pt idx="8">
                  <c:v>0</c:v>
                </c:pt>
                <c:pt idx="9">
                  <c:v>0</c:v>
                </c:pt>
                <c:pt idx="10">
                  <c:v>0</c:v>
                </c:pt>
                <c:pt idx="11">
                  <c:v>0</c:v>
                </c:pt>
              </c:numCache>
            </c:numRef>
          </c:val>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1A1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A17"/>
                </a:solidFill>
                <a:latin typeface="+mn-lt"/>
              </a:defRPr>
            </a:pPr>
            <a:r>
              <a:rPr sz="1300" b="0" i="0" u="none" strike="noStrike">
                <a:solidFill>
                  <a:srgbClr val="1E1A17"/>
                </a:solidFill>
                <a:latin typeface="+mn-lt"/>
              </a:rPr>
              <a:t>Taux d'erreur selon le seuil choisi</a:t>
            </a:r>
          </a:p>
        </c:rich>
      </c:tx>
      <c:layout/>
      <c:overlay val="0"/>
    </c:title>
    <c:autoTitleDeleted val="0"/>
    <c:plotArea>
      <c:layout/>
      <c:lineChart>
        <c:varyColors val="0"/>
        <c:ser>
          <c:idx val="0"/>
          <c:order val="0"/>
          <c:tx>
            <c:strRef>
              <c:f>Sheet1!$B$1</c:f>
              <c:strCache>
                <c:ptCount val="1"/>
                <c:pt idx="0">
                  <c:v>Fausses acceptations (FAR)</c:v>
                </c:pt>
              </c:strCache>
            </c:strRef>
          </c:tx>
          <c:spPr>
            <a:solidFill>
              <a:srgbClr val="C08A32"/>
            </a:solidFill>
            <a:ln w="25400" cap="flat">
              <a:solidFill>
                <a:srgbClr val="C08A32"/>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none"/>
            <c:size val="6"/>
            <c:spPr>
              <a:solidFill>
                <a:srgbClr val="C08A32"/>
              </a:solidFill>
              <a:ln w="9525" cap="flat">
                <a:solidFill>
                  <a:srgbClr val="C08A32"/>
                </a:solidFill>
                <a:prstDash val="solid"/>
                <a:round/>
              </a:ln>
              <a:effectLst/>
            </c:spPr>
          </c:marker>
          <c:cat>
            <c:multiLvlStrRef>
              <c:f>Sheet1!$A$2:$A$18</c:f>
              <c:multiLvlStrCache>
                <c:ptCount val="17"/>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lvl>
              </c:multiLvlStrCache>
            </c:multiLvlStrRef>
          </c:cat>
          <c:val>
            <c:numRef>
              <c:f>Sheet1!$B$2:$B$18</c:f>
              <c:numCache>
                <c:formatCode>General</c:formatCode>
                <c:ptCount val="17"/>
                <c:pt idx="0">
                  <c:v>71.93</c:v>
                </c:pt>
                <c:pt idx="1">
                  <c:v>41.45</c:v>
                </c:pt>
                <c:pt idx="2">
                  <c:v>18.41</c:v>
                </c:pt>
                <c:pt idx="3">
                  <c:v>11.59</c:v>
                </c:pt>
                <c:pt idx="4">
                  <c:v>1.72</c:v>
                </c:pt>
                <c:pt idx="5">
                  <c:v>0</c:v>
                </c:pt>
                <c:pt idx="6">
                  <c:v>0</c:v>
                </c:pt>
                <c:pt idx="7">
                  <c:v>0</c:v>
                </c:pt>
                <c:pt idx="8">
                  <c:v>0</c:v>
                </c:pt>
                <c:pt idx="9">
                  <c:v>0</c:v>
                </c:pt>
                <c:pt idx="10">
                  <c:v>0</c:v>
                </c:pt>
                <c:pt idx="11">
                  <c:v>0</c:v>
                </c:pt>
                <c:pt idx="12">
                  <c:v>0</c:v>
                </c:pt>
                <c:pt idx="13">
                  <c:v>0</c:v>
                </c:pt>
                <c:pt idx="14">
                  <c:v>0</c:v>
                </c:pt>
                <c:pt idx="15">
                  <c:v>0</c:v>
                </c:pt>
                <c:pt idx="16">
                  <c:v>0</c:v>
                </c:pt>
              </c:numCache>
            </c:numRef>
          </c:val>
          <c:smooth val="0"/>
        </c:ser>
        <c:ser>
          <c:idx val="1"/>
          <c:order val="1"/>
          <c:tx>
            <c:strRef>
              <c:f>Sheet1!$C$1</c:f>
              <c:strCache>
                <c:ptCount val="1"/>
                <c:pt idx="0">
                  <c:v>Refus à tort (FRR)</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Sheet1!$A$2:$A$18</c:f>
              <c:multiLvlStrCache>
                <c:ptCount val="17"/>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lvl>
              </c:multiLvlStrCache>
            </c:multiLvlStrRef>
          </c:cat>
          <c:val>
            <c:numRef>
              <c:f>Sheet1!$C$2:$C$18</c:f>
              <c:numCache>
                <c:formatCode>General</c:formatCode>
                <c:ptCount val="17"/>
                <c:pt idx="0">
                  <c:v>0</c:v>
                </c:pt>
                <c:pt idx="1">
                  <c:v>0.34</c:v>
                </c:pt>
                <c:pt idx="2">
                  <c:v>2.76</c:v>
                </c:pt>
                <c:pt idx="3">
                  <c:v>3.79</c:v>
                </c:pt>
                <c:pt idx="4">
                  <c:v>6.55</c:v>
                </c:pt>
                <c:pt idx="5">
                  <c:v>8.28</c:v>
                </c:pt>
                <c:pt idx="6">
                  <c:v>9.31</c:v>
                </c:pt>
                <c:pt idx="7">
                  <c:v>11.72</c:v>
                </c:pt>
                <c:pt idx="8">
                  <c:v>13.79</c:v>
                </c:pt>
                <c:pt idx="9">
                  <c:v>16.21</c:v>
                </c:pt>
                <c:pt idx="10">
                  <c:v>17.93</c:v>
                </c:pt>
                <c:pt idx="11">
                  <c:v>20.69</c:v>
                </c:pt>
                <c:pt idx="12">
                  <c:v>24.14</c:v>
                </c:pt>
                <c:pt idx="13">
                  <c:v>27.93</c:v>
                </c:pt>
                <c:pt idx="14">
                  <c:v>31.72</c:v>
                </c:pt>
                <c:pt idx="15">
                  <c:v>36.55</c:v>
                </c:pt>
                <c:pt idx="16">
                  <c:v>42.41</c:v>
                </c:pt>
              </c:numCache>
            </c:numRef>
          </c:val>
          <c:smooth val="0"/>
        </c:ser>
        <c:dLbls>
          <c:numFmt formatCode="#,##0" sourceLinked="0"/>
          <c:txPr>
            <a:bodyPr/>
            <a:lstStyle/>
            <a:p>
              <a:pPr>
                <a:defRPr b="0" i="0" strike="noStrike" sz="1100" u="none">
                  <a:solidFill>
                    <a:srgbClr val="1E1A1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2B6"/>
            </a:solidFill>
            <a:prstDash val="solid"/>
            <a:round/>
          </a:ln>
        </c:spPr>
        <c:txPr>
          <a:bodyPr/>
          <a:lstStyle/>
          <a:p>
            <a:pPr>
              <a:defRPr sz="1100" b="0" i="0" u="none" strike="noStrike">
                <a:solidFill>
                  <a:srgbClr val="6E645B"/>
                </a:solidFill>
                <a:latin typeface="+mn-lt"/>
              </a:defRPr>
            </a:pPr>
            <a:endParaRPr lang="en-US"/>
          </a:p>
        </c:txPr>
        <c:crossAx val="2094734552"/>
        <c:crosses val="autoZero"/>
        <c:auto val="1"/>
        <c:lblAlgn val="ctr"/>
        <c:noMultiLvlLbl val="1"/>
        <c:tickLblSkip val="2"/>
      </c:catAx>
      <c:valAx>
        <c:axId val="2094734552"/>
        <c:scaling>
          <c:orientation val="minMax"/>
          <c:max val="100"/>
          <c:min val="0"/>
        </c:scaling>
        <c:delete val="0"/>
        <c:axPos val="l"/>
        <c:majorGridlines>
          <c:spPr>
            <a:ln w="9525" cap="flat">
              <a:solidFill>
                <a:srgbClr val="E6E1D8"/>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100" b="0" i="0" u="none" strike="noStrike">
                <a:solidFill>
                  <a:srgbClr val="6E645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1A1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 en boutique de luxe, l'accueil se joue dans les premières secondes. Nous avons construit un prototype qui reconnaît un client enregistré et affiche sa fiche au conseiller. Le QR code ouvre la démo en ligne : tout le monde peut la tester sur son téléphone ou son ordinateur. Plan : le projet, les résultats chiffrés, une démo de 4 minutes, puis les limites, qui sont la partie la plus intéressante.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scénario : une boutique fictive, Maison Test. Les clients sont des membres de l'équipe avec des fiches inventées. L'objectif n'est pas de vendre un produit mais de tester un concept : est-ce faisable, à quelle vitesse, et qu'est-ce qui coince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pages : Reconnaissance pour le conseiller, Clients pour l'inscription, Indicateurs pour le suivi. Le site est publié sur GitHub Pages : aucun serveur, aucune installation. Les visages des captures sont pixélisés.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technique : rien ne part sur un serveur. Le navigateur télécharge deux modèles, 15 Mo au total, et fait tout le calcul. Nous avons d'abord fait une version Python, puis porté la chaîne en JavaScript et vérifié qu'elle donne les mêmes résultats au pixel 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chiffres viennent de mesures reproductibles (dossier evaluation/ du dépôt) : performance dans Edge sur un Ryzen 7 5800H avec RTX 3060, robustesse avec les mêmes modèles. Les trois premiers chiffres correspondent au réglage de démo (GPU dédié activé, mode hybride) ; le site utilise le processeur par défaut. Le délai de reconnaissance tient compte du lissage : il faut trois décisions concordantes avant d'afficher un nom, pour éviter les 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analyse se décompose en trois étapes, mesurées séparément par l'application. Première surprise : le navigateur utilisait le GPU intégré du processeur, pas la RTX. Deuxième surprise : même sur la RTX, la reconnaissance est plus lente qu'en WASM, sans doute parce que certaines opérations du modèle ne sont pas prises en charge par WebGPU. D'où un réglage par défaut prudent (processeur) et un mode hybride pour le PC de démo, après avoir activé la carte dédiée pour Edge dans les paramètres graphiques de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simulé l'éloignement en réduisant la taille du visage dans une image HD. La conversion en mètres est une estimation géométrique. Le message pour un magasin : la caméra doit être bien placée, la distance utile est d'environ 2 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familles de dégradations, du léger au très fort. Le modèle tient très bien la lumière faible ou forte et la compression. Il décroche avec un flou important, une tête inclinée à 90 degrés, ou quand plus de la moitié du visage est masquée. Attention : enrôlement et test partent de la même photo, la réalité sera moins favorable.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seuil règle le compromis : trop bas, on affiche la fiche de quelqu'un d'autre ; trop haut, on ne reconnaît plus les clients. Dans le luxe, afficher le mauvais nom est pire que ne rien afficher, d'où un seuil prudent. Les 11,7 % de refus viennent surtout des conditions extrêmes (flou fort, visage masqué).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la séance : dans Windows, Paramètres, Affichage, Graphiques, régler Microsoft Edge sur Hautes performances (RTX 3060). Ouvrir index.html?moteur=hybride sur l'ordinateur de démo, autoriser la caméra, vérifier la lumière face à la personne, et charger une première fois les modèles (15 Mo) pour éviter l'attente. Garder un export JSON avec un client déjà enrôlé. Pendant la démo, montrer aussi le bouton Masquer la fiche, et faire entrer une personne non enregistrée pour montrer « Inconnu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secours : si la caméra ou le réseau font défaut, dérouler le parcours à partir de ces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préférons être transparents : un POC montre la faisabilité, pas la fiabilité en conditions réelles. La première limite est la plus importante : notre évaluation est petite et optimiste. La deuxième est un vrai risque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RGPD article 9 ; AI Act, annexe III point 1(a) ; accord Omnibus voté par le Parlement le 16 juin 2026 et approuvé par le Conseil le 29 juin 2026, publication au Journal officiel à vérifier ; positions de la CNIL rapportées par la presse sur les caméras intelligentes en magasin. Ce n'est pas un avis juridique.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principal : la performance mesurée dépend autant du matériel et de l'installation que du modèle. Les fourchettes de prix sont des ordres de grandeur, pas un devis.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prouve que la technique est accessible : quelques centaines d'euros de matériel et un navigateur. La vraie question business est l'acceptation par les clients, et le cadre légal qui impose un vrai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à retenir : la reconnaissance faciale est devenue techniquement accessible, ce qui rend les questions de cadre d'autant plus importantes. Le projet nous a fait travailler aussi bien l'IA que la mesure, le droit et le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l'équilibre : techniquement faisable aujourd'hui, mais le déploiement réel demande d'abord un cadre. Ouvrir aux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UVERTURE">
    <p:bg>
      <p:bgPr>
        <a:solidFill>
          <a:srgbClr val="1F243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9144000" cy="365760"/>
          </a:xfrm>
          <a:prstGeom prst="rect">
            <a:avLst/>
          </a:prstGeom>
          <a:noFill/>
          <a:ln/>
        </p:spPr>
        <p:txBody>
          <a:bodyPr wrap="square" rtlCol="0"/>
          <a:lstStyle>
            <a:lvl1pPr indent="0" marL="0">
              <a:buNone/>
              <a:defRPr lang="en-US" sz="14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645920"/>
            <a:ext cx="10515600" cy="1737360"/>
          </a:xfrm>
          <a:prstGeom prst="rect">
            <a:avLst/>
          </a:prstGeom>
          <a:noFill/>
          <a:ln/>
        </p:spPr>
        <p:txBody>
          <a:bodyPr wrap="square" rtlCol="0"/>
          <a:lstStyle>
            <a:lvl1pPr algn="l" indent="0" marL="0">
              <a:buNone/>
              <a:defRPr lang="en-US" sz="4400"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548640" y="3520440"/>
            <a:ext cx="9601200" cy="914400"/>
          </a:xfrm>
          <a:prstGeom prst="rect">
            <a:avLst/>
          </a:prstGeom>
          <a:noFill/>
          <a:ln/>
        </p:spPr>
        <p:txBody>
          <a:bodyPr wrap="square" rtlCol="0"/>
          <a:lstStyle>
            <a:lvl1pPr indent="0" marL="0">
              <a:buNone/>
              <a:defRPr lang="en-US" sz="2000" dirty="0">
                <a:solidFill>
                  <a:srgbClr val="D9D4CA"/>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rtlCol="0"/>
          <a:lstStyle>
            <a:lvl1pPr algn="l" indent="0" marL="0">
              <a:buNone/>
              <a:defRPr lang="en-US" sz="3000"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Maison Test  ·  POC de reconnaissance client  ·  Audencia 2026</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chart" Target="/ppt/charts/chart7.xml"/><Relationship Id="rId6" Type="http://schemas.openxmlformats.org/officeDocument/2006/relationships/chart" Target="/ppt/charts/chart8.xml"/><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9144000" cy="365760"/>
          </a:xfrm>
          <a:prstGeom prst="rect">
            <a:avLst/>
          </a:prstGeom>
          <a:noFill/>
          <a:ln/>
        </p:spPr>
        <p:txBody>
          <a:bodyPr wrap="square" lIns="0" tIns="0" rIns="0" bIns="0" rtlCol="0"/>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PROJET DE COURS  ·  AUDENCIA  ·  2026</a:t>
            </a:r>
            <a:endParaRPr lang="en-US" sz="1400" dirty="0"/>
          </a:p>
        </p:txBody>
      </p:sp>
      <p:sp>
        <p:nvSpPr>
          <p:cNvPr id="3" name="Text 0"/>
          <p:cNvSpPr/>
          <p:nvPr>
            <p:ph idx="101" type="title" hasCustomPrompt="1"/>
          </p:nvPr>
        </p:nvSpPr>
        <p:spPr>
          <a:xfrm>
            <a:off x="548640" y="1645920"/>
            <a:ext cx="10515600" cy="173736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Reconnaître un client en moins d'une seconde</a:t>
            </a:r>
            <a:endParaRPr lang="en-US" sz="4400" dirty="0"/>
          </a:p>
        </p:txBody>
      </p:sp>
      <p:sp>
        <p:nvSpPr>
          <p:cNvPr id="4" name="Text 0"/>
          <p:cNvSpPr/>
          <p:nvPr>
            <p:ph idx="102" type="body" hasCustomPrompt="1"/>
          </p:nvPr>
        </p:nvSpPr>
        <p:spPr>
          <a:xfrm>
            <a:off x="548640" y="3520440"/>
            <a:ext cx="9601200" cy="914400"/>
          </a:xfrm>
          <a:prstGeom prst="rect">
            <a:avLst/>
          </a:prstGeom>
          <a:noFill/>
          <a:ln/>
        </p:spPr>
        <p:txBody>
          <a:bodyPr wrap="square" lIns="0" tIns="0" rIns="0" bIns="0" rtlCol="0" anchor="t"/>
          <a:lstStyle/>
          <a:p>
            <a:pPr indent="0" marL="0">
              <a:buNone/>
            </a:pPr>
            <a:r>
              <a:rPr lang="en-US" sz="2000" dirty="0">
                <a:solidFill>
                  <a:srgbClr val="D9D4CA"/>
                </a:solidFill>
                <a:latin typeface="Calibri" pitchFamily="34" charset="0"/>
                <a:ea typeface="Calibri" pitchFamily="34" charset="-122"/>
                <a:cs typeface="Calibri" pitchFamily="34" charset="-120"/>
              </a:rPr>
              <a:t>Maison Test : un prototype de reconnaissance client qui tourne entièrement dans le navigateur</a:t>
            </a:r>
            <a:endParaRPr lang="en-US" sz="2000" dirty="0"/>
          </a:p>
        </p:txBody>
      </p:sp>
      <p:sp>
        <p:nvSpPr>
          <p:cNvPr id="5" name="equipe"/>
          <p:cNvSpPr txBox="1"/>
          <p:nvPr/>
        </p:nvSpPr>
        <p:spPr>
          <a:xfrm>
            <a:off x="548640" y="5257800"/>
            <a:ext cx="6400800" cy="365760"/>
          </a:xfrm>
          <a:prstGeom prst="rect">
            <a:avLst/>
          </a:prstGeom>
          <a:noFill/>
          <a:ln/>
        </p:spPr>
        <p:txBody>
          <a:bodyPr wrap="square" lIns="0" tIns="0" rIns="0" bIns="0" rtlCol="0" anchor="t"/>
          <a:lstStyle/>
          <a:p>
            <a:pPr indent="0" marL="0">
              <a:buNone/>
            </a:pPr>
            <a:r>
              <a:rPr lang="en-US" sz="1600" dirty="0">
                <a:solidFill>
                  <a:srgbClr val="D9D4CA"/>
                </a:solidFill>
                <a:latin typeface="Calibri" pitchFamily="34" charset="0"/>
                <a:ea typeface="Calibri" pitchFamily="34" charset="-122"/>
                <a:cs typeface="Calibri" pitchFamily="34" charset="-120"/>
              </a:rPr>
              <a:t>Équipe : à compléter</a:t>
            </a:r>
            <a:endParaRPr lang="en-US" sz="1600" dirty="0"/>
          </a:p>
        </p:txBody>
      </p:sp>
      <p:sp>
        <p:nvSpPr>
          <p:cNvPr id="6" name="lien-demo"/>
          <p:cNvSpPr txBox="1"/>
          <p:nvPr/>
        </p:nvSpPr>
        <p:spPr>
          <a:xfrm>
            <a:off x="548640" y="5669280"/>
            <a:ext cx="7315200" cy="365760"/>
          </a:xfrm>
          <a:prstGeom prst="rect">
            <a:avLst/>
          </a:prstGeom>
          <a:noFill/>
          <a:ln/>
        </p:spPr>
        <p:txBody>
          <a:bodyPr wrap="square" lIns="0" tIns="0" rIns="0" bIns="0" rtlCol="0" anchor="t"/>
          <a:lstStyle/>
          <a:p>
            <a:pPr indent="0" marL="0">
              <a:buNone/>
            </a:pPr>
            <a:r>
              <a:rPr lang="en-US" sz="1400" dirty="0">
                <a:solidFill>
                  <a:schemeClr val="accent1"/>
                </a:solidFill>
                <a:latin typeface="Calibri" pitchFamily="34" charset="0"/>
                <a:ea typeface="Calibri" pitchFamily="34" charset="-122"/>
                <a:cs typeface="Calibri" pitchFamily="34" charset="-120"/>
              </a:rPr>
              <a:t>Démo en ligne : mathos34.github.io/reconnaissance-equipe</a:t>
            </a:r>
            <a:endParaRPr lang="en-US" sz="1400" dirty="0"/>
          </a:p>
        </p:txBody>
      </p:sp>
      <p:sp>
        <p:nvSpPr>
          <p:cNvPr id="7" name="qr-fond"/>
          <p:cNvSpPr/>
          <p:nvPr/>
        </p:nvSpPr>
        <p:spPr>
          <a:xfrm>
            <a:off x="9921240" y="4526280"/>
            <a:ext cx="1737360" cy="1737360"/>
          </a:xfrm>
          <a:prstGeom prst="roundRect">
            <a:avLst>
              <a:gd name="adj" fmla="val 5263"/>
            </a:avLst>
          </a:prstGeom>
          <a:solidFill>
            <a:srgbClr val="FFFFFF"/>
          </a:solidFill>
          <a:ln w="12700">
            <a:solidFill>
              <a:srgbClr val="FFFFFF"/>
            </a:solidFill>
            <a:prstDash val="solid"/>
          </a:ln>
        </p:spPr>
      </p:sp>
      <p:pic>
        <p:nvPicPr>
          <p:cNvPr id="8" name="qr-demo" descr="QR code vers la démo en ligne">    </p:cNvPr>
          <p:cNvPicPr>
            <a:picLocks noChangeAspect="1"/>
          </p:cNvPicPr>
          <p:nvPr/>
        </p:nvPicPr>
        <p:blipFill>
          <a:blip r:embed="rId1"/>
          <a:stretch>
            <a:fillRect/>
          </a:stretch>
        </p:blipFill>
        <p:spPr>
          <a:xfrm>
            <a:off x="10012680" y="4617720"/>
            <a:ext cx="1554480" cy="1554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Le luxe se joue dans les premières secondes de l'accueil</a:t>
            </a:r>
            <a:endParaRPr lang="en-US" sz="3000" dirty="0"/>
          </a:p>
        </p:txBody>
      </p:sp>
      <p:sp>
        <p:nvSpPr>
          <p:cNvPr id="3" name="citation"/>
          <p:cNvSpPr/>
          <p:nvPr/>
        </p:nvSpPr>
        <p:spPr>
          <a:xfrm>
            <a:off x="548640" y="1508760"/>
            <a:ext cx="5394960" cy="4206240"/>
          </a:xfrm>
          <a:prstGeom prst="roundRect">
            <a:avLst>
              <a:gd name="adj" fmla="val 2609"/>
            </a:avLst>
          </a:prstGeom>
          <a:solidFill>
            <a:schemeClr val="bg2"/>
          </a:solidFill>
          <a:ln w="12700">
            <a:solidFill>
              <a:schemeClr val="bg2"/>
            </a:solidFill>
            <a:prstDash val="solid"/>
          </a:ln>
        </p:spPr>
      </p:sp>
      <p:sp>
        <p:nvSpPr>
          <p:cNvPr id="4" name="Text 2"/>
          <p:cNvSpPr txBox="1"/>
          <p:nvPr/>
        </p:nvSpPr>
        <p:spPr>
          <a:xfrm>
            <a:off x="914400" y="1783080"/>
            <a:ext cx="466344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Ce que voit le conseiller</a:t>
            </a:r>
            <a:endParaRPr lang="en-US" sz="1400" dirty="0"/>
          </a:p>
        </p:txBody>
      </p:sp>
      <p:sp>
        <p:nvSpPr>
          <p:cNvPr id="5" name="Text 3"/>
          <p:cNvSpPr txBox="1"/>
          <p:nvPr/>
        </p:nvSpPr>
        <p:spPr>
          <a:xfrm>
            <a:off x="914400" y="2240280"/>
            <a:ext cx="4663440" cy="2011680"/>
          </a:xfrm>
          <a:prstGeom prst="rect">
            <a:avLst/>
          </a:prstGeom>
          <a:noFill/>
          <a:ln/>
        </p:spPr>
        <p:txBody>
          <a:bodyPr wrap="square" lIns="0" tIns="0" rIns="0" bIns="0" rtlCol="0" anchor="t"/>
          <a:lstStyle/>
          <a:p>
            <a:pPr indent="0" marL="0">
              <a:buNone/>
            </a:pPr>
            <a:r>
              <a:rPr lang="en-US" sz="3000" i="1" dirty="0">
                <a:solidFill>
                  <a:schemeClr val="tx1"/>
                </a:solidFill>
                <a:latin typeface="Cambria" pitchFamily="34" charset="0"/>
                <a:ea typeface="Cambria" pitchFamily="34" charset="-122"/>
                <a:cs typeface="Cambria" pitchFamily="34" charset="-120"/>
              </a:rPr>
              <a:t>« Bonjour Madame Test, un café glacé sans sucre, comme d'habitude ? »</a:t>
            </a:r>
            <a:endParaRPr lang="en-US" sz="3000" dirty="0"/>
          </a:p>
        </p:txBody>
      </p:sp>
      <p:sp>
        <p:nvSpPr>
          <p:cNvPr id="6" name="Text 4"/>
          <p:cNvSpPr txBox="1"/>
          <p:nvPr/>
        </p:nvSpPr>
        <p:spPr>
          <a:xfrm>
            <a:off x="914400" y="4846320"/>
            <a:ext cx="4663440" cy="6400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Phrase d'accueil générée par l'application à partir de la fiche et de l'heure.</a:t>
            </a:r>
            <a:endParaRPr lang="en-US" sz="1300" dirty="0"/>
          </a:p>
        </p:txBody>
      </p:sp>
      <p:sp>
        <p:nvSpPr>
          <p:cNvPr id="7" name="besoin-0-cercle"/>
          <p:cNvSpPr/>
          <p:nvPr/>
        </p:nvSpPr>
        <p:spPr>
          <a:xfrm>
            <a:off x="6400800" y="1600200"/>
            <a:ext cx="640080" cy="640080"/>
          </a:xfrm>
          <a:prstGeom prst="ellipse">
            <a:avLst/>
          </a:prstGeom>
          <a:solidFill>
            <a:schemeClr val="bg2"/>
          </a:solidFill>
          <a:ln w="12700">
            <a:solidFill>
              <a:schemeClr val="bg2"/>
            </a:solidFill>
            <a:prstDash val="solid"/>
          </a:ln>
        </p:spPr>
      </p:sp>
      <p:pic>
        <p:nvPicPr>
          <p:cNvPr id="8" name="besoin-0-icone" descr="preencoded.png">    </p:cNvPr>
          <p:cNvPicPr>
            <a:picLocks noChangeAspect="1"/>
          </p:cNvPicPr>
          <p:nvPr/>
        </p:nvPicPr>
        <p:blipFill>
          <a:blip r:embed="rId1"/>
          <a:stretch>
            <a:fillRect/>
          </a:stretch>
        </p:blipFill>
        <p:spPr>
          <a:xfrm>
            <a:off x="6554419" y="1753819"/>
            <a:ext cx="332842" cy="332842"/>
          </a:xfrm>
          <a:prstGeom prst="rect">
            <a:avLst/>
          </a:prstGeom>
        </p:spPr>
      </p:pic>
      <p:sp>
        <p:nvSpPr>
          <p:cNvPr id="9" name="Text 6"/>
          <p:cNvSpPr txBox="1"/>
          <p:nvPr/>
        </p:nvSpPr>
        <p:spPr>
          <a:xfrm>
            <a:off x="7269480" y="1581912"/>
            <a:ext cx="4389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Reconnaître sans demander le nom</a:t>
            </a:r>
            <a:endParaRPr lang="en-US" sz="1800" dirty="0"/>
          </a:p>
        </p:txBody>
      </p:sp>
      <p:sp>
        <p:nvSpPr>
          <p:cNvPr id="10" name="Text 7"/>
          <p:cNvSpPr txBox="1"/>
          <p:nvPr/>
        </p:nvSpPr>
        <p:spPr>
          <a:xfrm>
            <a:off x="7269480" y="1984248"/>
            <a:ext cx="4389120" cy="7315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Le client enregistré est identifié dès son entrée dans le champ de la caméra.</a:t>
            </a:r>
            <a:endParaRPr lang="en-US" sz="1400" dirty="0"/>
          </a:p>
        </p:txBody>
      </p:sp>
      <p:sp>
        <p:nvSpPr>
          <p:cNvPr id="11" name="besoin-1-cercle"/>
          <p:cNvSpPr/>
          <p:nvPr/>
        </p:nvSpPr>
        <p:spPr>
          <a:xfrm>
            <a:off x="6400800" y="2926080"/>
            <a:ext cx="640080" cy="640080"/>
          </a:xfrm>
          <a:prstGeom prst="ellipse">
            <a:avLst/>
          </a:prstGeom>
          <a:solidFill>
            <a:schemeClr val="bg2"/>
          </a:solidFill>
          <a:ln w="12700">
            <a:solidFill>
              <a:schemeClr val="bg2"/>
            </a:solidFill>
            <a:prstDash val="solid"/>
          </a:ln>
        </p:spPr>
      </p:sp>
      <p:pic>
        <p:nvPicPr>
          <p:cNvPr id="12" name="besoin-1-icone" descr="preencoded.png">    </p:cNvPr>
          <p:cNvPicPr>
            <a:picLocks noChangeAspect="1"/>
          </p:cNvPicPr>
          <p:nvPr/>
        </p:nvPicPr>
        <p:blipFill>
          <a:blip r:embed="rId2"/>
          <a:stretch>
            <a:fillRect/>
          </a:stretch>
        </p:blipFill>
        <p:spPr>
          <a:xfrm>
            <a:off x="6554419" y="3079699"/>
            <a:ext cx="332842" cy="332842"/>
          </a:xfrm>
          <a:prstGeom prst="rect">
            <a:avLst/>
          </a:prstGeom>
        </p:spPr>
      </p:pic>
      <p:sp>
        <p:nvSpPr>
          <p:cNvPr id="13" name="Text 9"/>
          <p:cNvSpPr txBox="1"/>
          <p:nvPr/>
        </p:nvSpPr>
        <p:spPr>
          <a:xfrm>
            <a:off x="7269480" y="2907792"/>
            <a:ext cx="4389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Se souvenir de ses préférences</a:t>
            </a:r>
            <a:endParaRPr lang="en-US" sz="1800" dirty="0"/>
          </a:p>
        </p:txBody>
      </p:sp>
      <p:sp>
        <p:nvSpPr>
          <p:cNvPr id="14" name="Text 10"/>
          <p:cNvSpPr txBox="1"/>
          <p:nvPr/>
        </p:nvSpPr>
        <p:spPr>
          <a:xfrm>
            <a:off x="7269480" y="3310128"/>
            <a:ext cx="4389120" cy="7315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Boisson, sucre, lait, style, derniers achats, notes du conseiller.</a:t>
            </a:r>
            <a:endParaRPr lang="en-US" sz="1400" dirty="0"/>
          </a:p>
        </p:txBody>
      </p:sp>
      <p:sp>
        <p:nvSpPr>
          <p:cNvPr id="15" name="besoin-2-cercle"/>
          <p:cNvSpPr/>
          <p:nvPr/>
        </p:nvSpPr>
        <p:spPr>
          <a:xfrm>
            <a:off x="6400800" y="4251960"/>
            <a:ext cx="640080" cy="640080"/>
          </a:xfrm>
          <a:prstGeom prst="ellipse">
            <a:avLst/>
          </a:prstGeom>
          <a:solidFill>
            <a:schemeClr val="bg2"/>
          </a:solidFill>
          <a:ln w="12700">
            <a:solidFill>
              <a:schemeClr val="bg2"/>
            </a:solidFill>
            <a:prstDash val="solid"/>
          </a:ln>
        </p:spPr>
      </p:sp>
      <p:pic>
        <p:nvPicPr>
          <p:cNvPr id="16" name="besoin-2-icone" descr="preencoded.png">    </p:cNvPr>
          <p:cNvPicPr>
            <a:picLocks noChangeAspect="1"/>
          </p:cNvPicPr>
          <p:nvPr/>
        </p:nvPicPr>
        <p:blipFill>
          <a:blip r:embed="rId3"/>
          <a:stretch>
            <a:fillRect/>
          </a:stretch>
        </p:blipFill>
        <p:spPr>
          <a:xfrm>
            <a:off x="6554419" y="4405579"/>
            <a:ext cx="332842" cy="332842"/>
          </a:xfrm>
          <a:prstGeom prst="rect">
            <a:avLst/>
          </a:prstGeom>
        </p:spPr>
      </p:pic>
      <p:sp>
        <p:nvSpPr>
          <p:cNvPr id="17" name="Text 12"/>
          <p:cNvSpPr txBox="1"/>
          <p:nvPr/>
        </p:nvSpPr>
        <p:spPr>
          <a:xfrm>
            <a:off x="7269480" y="4233672"/>
            <a:ext cx="4389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Adapter l'accueil au moment</a:t>
            </a:r>
            <a:endParaRPr lang="en-US" sz="1800" dirty="0"/>
          </a:p>
        </p:txBody>
      </p:sp>
      <p:sp>
        <p:nvSpPr>
          <p:cNvPr id="18" name="Text 13"/>
          <p:cNvSpPr txBox="1"/>
          <p:nvPr/>
        </p:nvSpPr>
        <p:spPr>
          <a:xfrm>
            <a:off x="7269480" y="4636008"/>
            <a:ext cx="4389120" cy="7315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La suggestion change avant et après 12 h, avec un rappel de la dernière visite.</a:t>
            </a:r>
            <a:endParaRPr lang="en-US" sz="1400" dirty="0"/>
          </a:p>
        </p:txBody>
      </p:sp>
      <p:sp>
        <p:nvSpPr>
          <p:cNvPr id="19" name="Text 14"/>
          <p:cNvSpPr txBox="1"/>
          <p:nvPr/>
        </p:nvSpPr>
        <p:spPr>
          <a:xfrm>
            <a:off x="6400800" y="5532120"/>
            <a:ext cx="5257800" cy="548640"/>
          </a:xfrm>
          <a:prstGeom prst="rect">
            <a:avLst/>
          </a:prstGeom>
          <a:noFill/>
          <a:ln/>
        </p:spPr>
        <p:txBody>
          <a:bodyPr wrap="square" lIns="0" tIns="0" rIns="0" bIns="0" rtlCol="0" anchor="t"/>
          <a:lstStyle/>
          <a:p>
            <a:pPr indent="0" marL="0">
              <a:buNone/>
            </a:pPr>
            <a:r>
              <a:rPr lang="en-US" sz="1500" i="1" dirty="0">
                <a:solidFill>
                  <a:schemeClr val="accent1"/>
                </a:solidFill>
                <a:latin typeface="Calibri" pitchFamily="34" charset="0"/>
                <a:ea typeface="Calibri" pitchFamily="34" charset="-122"/>
                <a:cs typeface="Calibri" pitchFamily="34" charset="-120"/>
              </a:rPr>
              <a:t>Notre question : jusqu'où une IA peut-elle aider le conseiller, et avec quelles limites ?</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Une application complète, publiée et utilisable par lien</a:t>
            </a:r>
            <a:endParaRPr lang="en-US" sz="3000" dirty="0"/>
          </a:p>
        </p:txBody>
      </p:sp>
      <p:sp>
        <p:nvSpPr>
          <p:cNvPr id="3" name="bloc-0"/>
          <p:cNvSpPr/>
          <p:nvPr/>
        </p:nvSpPr>
        <p:spPr>
          <a:xfrm>
            <a:off x="548640" y="1508760"/>
            <a:ext cx="4754880" cy="1280160"/>
          </a:xfrm>
          <a:prstGeom prst="roundRect">
            <a:avLst>
              <a:gd name="adj" fmla="val 8571"/>
            </a:avLst>
          </a:prstGeom>
          <a:solidFill>
            <a:schemeClr val="bg2"/>
          </a:solidFill>
          <a:ln w="12700">
            <a:solidFill>
              <a:schemeClr val="bg2"/>
            </a:solidFill>
            <a:prstDash val="solid"/>
          </a:ln>
        </p:spPr>
      </p:sp>
      <p:sp>
        <p:nvSpPr>
          <p:cNvPr id="4" name="bloc-0-cercle"/>
          <p:cNvSpPr/>
          <p:nvPr/>
        </p:nvSpPr>
        <p:spPr>
          <a:xfrm>
            <a:off x="777240" y="1828800"/>
            <a:ext cx="640080" cy="640080"/>
          </a:xfrm>
          <a:prstGeom prst="ellipse">
            <a:avLst/>
          </a:prstGeom>
          <a:solidFill>
            <a:schemeClr val="bg1"/>
          </a:solidFill>
          <a:ln w="12700">
            <a:solidFill>
              <a:schemeClr val="bg1"/>
            </a:solidFill>
            <a:prstDash val="solid"/>
          </a:ln>
        </p:spPr>
      </p:sp>
      <p:pic>
        <p:nvPicPr>
          <p:cNvPr id="5" name="bloc-0-icone" descr="preencoded.png">    </p:cNvPr>
          <p:cNvPicPr>
            <a:picLocks noChangeAspect="1"/>
          </p:cNvPicPr>
          <p:nvPr/>
        </p:nvPicPr>
        <p:blipFill>
          <a:blip r:embed="rId1"/>
          <a:stretch>
            <a:fillRect/>
          </a:stretch>
        </p:blipFill>
        <p:spPr>
          <a:xfrm>
            <a:off x="930859" y="1982419"/>
            <a:ext cx="332842" cy="332842"/>
          </a:xfrm>
          <a:prstGeom prst="rect">
            <a:avLst/>
          </a:prstGeom>
        </p:spPr>
      </p:pic>
      <p:sp>
        <p:nvSpPr>
          <p:cNvPr id="6" name="Text 3"/>
          <p:cNvSpPr txBox="1"/>
          <p:nvPr/>
        </p:nvSpPr>
        <p:spPr>
          <a:xfrm>
            <a:off x="1600200" y="1673352"/>
            <a:ext cx="35661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Reconnaissance en direct</a:t>
            </a:r>
            <a:endParaRPr lang="en-US" sz="1700" dirty="0"/>
          </a:p>
        </p:txBody>
      </p:sp>
      <p:sp>
        <p:nvSpPr>
          <p:cNvPr id="7" name="Text 4"/>
          <p:cNvSpPr txBox="1"/>
          <p:nvPr/>
        </p:nvSpPr>
        <p:spPr>
          <a:xfrm>
            <a:off x="1600200" y="2039112"/>
            <a:ext cx="3566160" cy="73152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Cadre et nom sur chaque visage, « Inconnu » sinon. Fiche et suggestion d'accueil affichées à droite.</a:t>
            </a:r>
            <a:endParaRPr lang="en-US" sz="1300" dirty="0"/>
          </a:p>
        </p:txBody>
      </p:sp>
      <p:sp>
        <p:nvSpPr>
          <p:cNvPr id="8" name="bloc-1"/>
          <p:cNvSpPr/>
          <p:nvPr/>
        </p:nvSpPr>
        <p:spPr>
          <a:xfrm>
            <a:off x="548640" y="2971800"/>
            <a:ext cx="4754880" cy="1280160"/>
          </a:xfrm>
          <a:prstGeom prst="roundRect">
            <a:avLst>
              <a:gd name="adj" fmla="val 8571"/>
            </a:avLst>
          </a:prstGeom>
          <a:solidFill>
            <a:schemeClr val="bg2"/>
          </a:solidFill>
          <a:ln w="12700">
            <a:solidFill>
              <a:schemeClr val="bg2"/>
            </a:solidFill>
            <a:prstDash val="solid"/>
          </a:ln>
        </p:spPr>
      </p:sp>
      <p:sp>
        <p:nvSpPr>
          <p:cNvPr id="9" name="bloc-1-cercle"/>
          <p:cNvSpPr/>
          <p:nvPr/>
        </p:nvSpPr>
        <p:spPr>
          <a:xfrm>
            <a:off x="777240" y="3291840"/>
            <a:ext cx="640080" cy="640080"/>
          </a:xfrm>
          <a:prstGeom prst="ellipse">
            <a:avLst/>
          </a:prstGeom>
          <a:solidFill>
            <a:schemeClr val="bg1"/>
          </a:solidFill>
          <a:ln w="12700">
            <a:solidFill>
              <a:schemeClr val="bg1"/>
            </a:solidFill>
            <a:prstDash val="solid"/>
          </a:ln>
        </p:spPr>
      </p:sp>
      <p:pic>
        <p:nvPicPr>
          <p:cNvPr id="10" name="bloc-1-icone" descr="preencoded.png">    </p:cNvPr>
          <p:cNvPicPr>
            <a:picLocks noChangeAspect="1"/>
          </p:cNvPicPr>
          <p:nvPr/>
        </p:nvPicPr>
        <p:blipFill>
          <a:blip r:embed="rId2"/>
          <a:stretch>
            <a:fillRect/>
          </a:stretch>
        </p:blipFill>
        <p:spPr>
          <a:xfrm>
            <a:off x="930859" y="3445459"/>
            <a:ext cx="332842" cy="332842"/>
          </a:xfrm>
          <a:prstGeom prst="rect">
            <a:avLst/>
          </a:prstGeom>
        </p:spPr>
      </p:pic>
      <p:sp>
        <p:nvSpPr>
          <p:cNvPr id="11" name="Text 7"/>
          <p:cNvSpPr txBox="1"/>
          <p:nvPr/>
        </p:nvSpPr>
        <p:spPr>
          <a:xfrm>
            <a:off x="1600200" y="3136392"/>
            <a:ext cx="35661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Gestion des clients</a:t>
            </a:r>
            <a:endParaRPr lang="en-US" sz="1700" dirty="0"/>
          </a:p>
        </p:txBody>
      </p:sp>
      <p:sp>
        <p:nvSpPr>
          <p:cNvPr id="12" name="Text 8"/>
          <p:cNvSpPr txBox="1"/>
          <p:nvPr/>
        </p:nvSpPr>
        <p:spPr>
          <a:xfrm>
            <a:off x="1600200" y="3502152"/>
            <a:ext cx="3566160" cy="73152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Consentement « J'ACCEPTE », capture guidée de 25 images en 5 poses, fiche complète, export et import.</a:t>
            </a:r>
            <a:endParaRPr lang="en-US" sz="1300" dirty="0"/>
          </a:p>
        </p:txBody>
      </p:sp>
      <p:sp>
        <p:nvSpPr>
          <p:cNvPr id="13" name="bloc-2"/>
          <p:cNvSpPr/>
          <p:nvPr/>
        </p:nvSpPr>
        <p:spPr>
          <a:xfrm>
            <a:off x="548640" y="4434840"/>
            <a:ext cx="4754880" cy="1280160"/>
          </a:xfrm>
          <a:prstGeom prst="roundRect">
            <a:avLst>
              <a:gd name="adj" fmla="val 8571"/>
            </a:avLst>
          </a:prstGeom>
          <a:solidFill>
            <a:schemeClr val="bg2"/>
          </a:solidFill>
          <a:ln w="12700">
            <a:solidFill>
              <a:schemeClr val="bg2"/>
            </a:solidFill>
            <a:prstDash val="solid"/>
          </a:ln>
        </p:spPr>
      </p:sp>
      <p:sp>
        <p:nvSpPr>
          <p:cNvPr id="14" name="bloc-2-cercle"/>
          <p:cNvSpPr/>
          <p:nvPr/>
        </p:nvSpPr>
        <p:spPr>
          <a:xfrm>
            <a:off x="777240" y="4754880"/>
            <a:ext cx="640080" cy="640080"/>
          </a:xfrm>
          <a:prstGeom prst="ellipse">
            <a:avLst/>
          </a:prstGeom>
          <a:solidFill>
            <a:schemeClr val="bg1"/>
          </a:solidFill>
          <a:ln w="12700">
            <a:solidFill>
              <a:schemeClr val="bg1"/>
            </a:solidFill>
            <a:prstDash val="solid"/>
          </a:ln>
        </p:spPr>
      </p:sp>
      <p:pic>
        <p:nvPicPr>
          <p:cNvPr id="15" name="bloc-2-icone" descr="preencoded.png">    </p:cNvPr>
          <p:cNvPicPr>
            <a:picLocks noChangeAspect="1"/>
          </p:cNvPicPr>
          <p:nvPr/>
        </p:nvPicPr>
        <p:blipFill>
          <a:blip r:embed="rId3"/>
          <a:stretch>
            <a:fillRect/>
          </a:stretch>
        </p:blipFill>
        <p:spPr>
          <a:xfrm>
            <a:off x="930859" y="4908499"/>
            <a:ext cx="332842" cy="332842"/>
          </a:xfrm>
          <a:prstGeom prst="rect">
            <a:avLst/>
          </a:prstGeom>
        </p:spPr>
      </p:pic>
      <p:sp>
        <p:nvSpPr>
          <p:cNvPr id="16" name="Text 11"/>
          <p:cNvSpPr txBox="1"/>
          <p:nvPr/>
        </p:nvSpPr>
        <p:spPr>
          <a:xfrm>
            <a:off x="1600200" y="4599432"/>
            <a:ext cx="35661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Indicateurs intégrés</a:t>
            </a:r>
            <a:endParaRPr lang="en-US" sz="1700" dirty="0"/>
          </a:p>
        </p:txBody>
      </p:sp>
      <p:sp>
        <p:nvSpPr>
          <p:cNvPr id="17" name="Text 12"/>
          <p:cNvSpPr txBox="1"/>
          <p:nvPr/>
        </p:nvSpPr>
        <p:spPr>
          <a:xfrm>
            <a:off x="1600200" y="4965192"/>
            <a:ext cx="3566160" cy="73152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L'application mesure elle-même sa vitesse, ses délais et la qualité de l'enrôlement.</a:t>
            </a:r>
            <a:endParaRPr lang="en-US" sz="1300" dirty="0"/>
          </a:p>
        </p:txBody>
      </p:sp>
      <p:pic>
        <p:nvPicPr>
          <p:cNvPr id="18" name="capture-reconnaissance" descr="Page Reconnaissance : visage encadré avec le nom de la cliente, fiche et suggestion d'accueil à droite">    </p:cNvPr>
          <p:cNvPicPr>
            <a:picLocks noChangeAspect="1"/>
          </p:cNvPicPr>
          <p:nvPr/>
        </p:nvPicPr>
        <p:blipFill>
          <a:blip r:embed="rId4"/>
          <a:stretch>
            <a:fillRect/>
          </a:stretch>
        </p:blipFill>
        <p:spPr>
          <a:xfrm>
            <a:off x="5715000" y="1600200"/>
            <a:ext cx="5943600" cy="3343275"/>
          </a:xfrm>
          <a:prstGeom prst="rect">
            <a:avLst/>
          </a:prstGeom>
          <a:effectLst>
            <a:outerShdw sx="100000" sy="100000" kx="0" ky="0" algn="bl" rotWithShape="0" blurRad="76200" dist="25400" dir="5400000">
              <a:srgbClr val="000000">
                <a:alpha val="18000"/>
              </a:srgbClr>
            </a:outerShdw>
          </a:effectLst>
        </p:spPr>
      </p:pic>
      <p:sp>
        <p:nvSpPr>
          <p:cNvPr id="19" name="Text 13"/>
          <p:cNvSpPr txBox="1"/>
          <p:nvPr/>
        </p:nvSpPr>
        <p:spPr>
          <a:xfrm>
            <a:off x="5715000" y="5074920"/>
            <a:ext cx="5943600" cy="32004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Page Reconnaissance (visage pixélisé pour la publication).</a:t>
            </a:r>
            <a:endParaRPr lang="en-US" sz="11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Sans serveur : toute l'IA tourne dans le navigateur</a:t>
            </a:r>
            <a:endParaRPr lang="en-US" sz="3000" dirty="0"/>
          </a:p>
        </p:txBody>
      </p:sp>
      <p:sp>
        <p:nvSpPr>
          <p:cNvPr id="3" name="etape-0"/>
          <p:cNvSpPr/>
          <p:nvPr/>
        </p:nvSpPr>
        <p:spPr>
          <a:xfrm>
            <a:off x="548640" y="1691640"/>
            <a:ext cx="1874520" cy="1234440"/>
          </a:xfrm>
          <a:prstGeom prst="roundRect">
            <a:avLst>
              <a:gd name="adj" fmla="val 8889"/>
            </a:avLst>
          </a:prstGeom>
          <a:solidFill>
            <a:schemeClr val="bg2"/>
          </a:solidFill>
          <a:ln w="12700">
            <a:solidFill>
              <a:schemeClr val="bg2"/>
            </a:solidFill>
            <a:prstDash val="solid"/>
          </a:ln>
        </p:spPr>
      </p:sp>
      <p:sp>
        <p:nvSpPr>
          <p:cNvPr id="4" name="Text 2"/>
          <p:cNvSpPr txBox="1"/>
          <p:nvPr/>
        </p:nvSpPr>
        <p:spPr>
          <a:xfrm>
            <a:off x="685800" y="1847088"/>
            <a:ext cx="1600200" cy="41148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Caméra</a:t>
            </a:r>
            <a:endParaRPr lang="en-US" sz="1600" dirty="0"/>
          </a:p>
        </p:txBody>
      </p:sp>
      <p:sp>
        <p:nvSpPr>
          <p:cNvPr id="5" name="Text 3"/>
          <p:cNvSpPr txBox="1"/>
          <p:nvPr/>
        </p:nvSpPr>
        <p:spPr>
          <a:xfrm>
            <a:off x="685800" y="2286000"/>
            <a:ext cx="1600200" cy="5029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1 image sur 3 analysée</a:t>
            </a:r>
            <a:endParaRPr lang="en-US" sz="1300" dirty="0"/>
          </a:p>
        </p:txBody>
      </p:sp>
      <p:sp>
        <p:nvSpPr>
          <p:cNvPr id="6" name="fleche-0"/>
          <p:cNvSpPr/>
          <p:nvPr/>
        </p:nvSpPr>
        <p:spPr>
          <a:xfrm>
            <a:off x="2468880" y="2304288"/>
            <a:ext cx="339014" cy="0"/>
          </a:xfrm>
          <a:prstGeom prst="line">
            <a:avLst/>
          </a:prstGeom>
          <a:noFill/>
          <a:ln w="22225">
            <a:solidFill>
              <a:schemeClr val="accent1"/>
            </a:solidFill>
            <a:prstDash val="solid"/>
            <a:tailEnd type="triangle"/>
          </a:ln>
        </p:spPr>
      </p:sp>
      <p:sp>
        <p:nvSpPr>
          <p:cNvPr id="7" name="etape-1"/>
          <p:cNvSpPr/>
          <p:nvPr/>
        </p:nvSpPr>
        <p:spPr>
          <a:xfrm>
            <a:off x="2853614" y="1691640"/>
            <a:ext cx="1874520" cy="1234440"/>
          </a:xfrm>
          <a:prstGeom prst="roundRect">
            <a:avLst>
              <a:gd name="adj" fmla="val 8889"/>
            </a:avLst>
          </a:prstGeom>
          <a:solidFill>
            <a:schemeClr val="bg2"/>
          </a:solidFill>
          <a:ln w="12700">
            <a:solidFill>
              <a:schemeClr val="bg2"/>
            </a:solidFill>
            <a:prstDash val="solid"/>
          </a:ln>
        </p:spPr>
      </p:sp>
      <p:sp>
        <p:nvSpPr>
          <p:cNvPr id="8" name="Text 6"/>
          <p:cNvSpPr txBox="1"/>
          <p:nvPr/>
        </p:nvSpPr>
        <p:spPr>
          <a:xfrm>
            <a:off x="2990774" y="1847088"/>
            <a:ext cx="1600200" cy="41148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Détection</a:t>
            </a:r>
            <a:endParaRPr lang="en-US" sz="1600" dirty="0"/>
          </a:p>
        </p:txBody>
      </p:sp>
      <p:sp>
        <p:nvSpPr>
          <p:cNvPr id="9" name="Text 7"/>
          <p:cNvSpPr txBox="1"/>
          <p:nvPr/>
        </p:nvSpPr>
        <p:spPr>
          <a:xfrm>
            <a:off x="2990774" y="2286000"/>
            <a:ext cx="1600200" cy="5029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SCRFD, 2,4 Mo</a:t>
            </a:r>
            <a:endParaRPr lang="en-US" sz="1300" dirty="0"/>
          </a:p>
        </p:txBody>
      </p:sp>
      <p:sp>
        <p:nvSpPr>
          <p:cNvPr id="10" name="fleche-1"/>
          <p:cNvSpPr/>
          <p:nvPr/>
        </p:nvSpPr>
        <p:spPr>
          <a:xfrm>
            <a:off x="4773854" y="2304288"/>
            <a:ext cx="339014" cy="0"/>
          </a:xfrm>
          <a:prstGeom prst="line">
            <a:avLst/>
          </a:prstGeom>
          <a:noFill/>
          <a:ln w="22225">
            <a:solidFill>
              <a:schemeClr val="accent1"/>
            </a:solidFill>
            <a:prstDash val="solid"/>
            <a:tailEnd type="triangle"/>
          </a:ln>
        </p:spPr>
      </p:sp>
      <p:sp>
        <p:nvSpPr>
          <p:cNvPr id="11" name="etape-2"/>
          <p:cNvSpPr/>
          <p:nvPr/>
        </p:nvSpPr>
        <p:spPr>
          <a:xfrm>
            <a:off x="5158588" y="1691640"/>
            <a:ext cx="1874520" cy="1234440"/>
          </a:xfrm>
          <a:prstGeom prst="roundRect">
            <a:avLst>
              <a:gd name="adj" fmla="val 8889"/>
            </a:avLst>
          </a:prstGeom>
          <a:solidFill>
            <a:schemeClr val="bg2"/>
          </a:solidFill>
          <a:ln w="12700">
            <a:solidFill>
              <a:schemeClr val="bg2"/>
            </a:solidFill>
            <a:prstDash val="solid"/>
          </a:ln>
        </p:spPr>
      </p:sp>
      <p:sp>
        <p:nvSpPr>
          <p:cNvPr id="12" name="Text 10"/>
          <p:cNvSpPr txBox="1"/>
          <p:nvPr/>
        </p:nvSpPr>
        <p:spPr>
          <a:xfrm>
            <a:off x="5295748" y="1847088"/>
            <a:ext cx="1600200" cy="41148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Reconnaissance</a:t>
            </a:r>
            <a:endParaRPr lang="en-US" sz="1600" dirty="0"/>
          </a:p>
        </p:txBody>
      </p:sp>
      <p:sp>
        <p:nvSpPr>
          <p:cNvPr id="13" name="Text 11"/>
          <p:cNvSpPr txBox="1"/>
          <p:nvPr/>
        </p:nvSpPr>
        <p:spPr>
          <a:xfrm>
            <a:off x="5295748" y="2286000"/>
            <a:ext cx="1600200" cy="5029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MobileFaceNet, 13 Mo</a:t>
            </a:r>
            <a:endParaRPr lang="en-US" sz="1300" dirty="0"/>
          </a:p>
        </p:txBody>
      </p:sp>
      <p:sp>
        <p:nvSpPr>
          <p:cNvPr id="14" name="fleche-2"/>
          <p:cNvSpPr/>
          <p:nvPr/>
        </p:nvSpPr>
        <p:spPr>
          <a:xfrm>
            <a:off x="7078828" y="2304288"/>
            <a:ext cx="339014" cy="0"/>
          </a:xfrm>
          <a:prstGeom prst="line">
            <a:avLst/>
          </a:prstGeom>
          <a:noFill/>
          <a:ln w="22225">
            <a:solidFill>
              <a:schemeClr val="accent1"/>
            </a:solidFill>
            <a:prstDash val="solid"/>
            <a:tailEnd type="triangle"/>
          </a:ln>
        </p:spPr>
      </p:sp>
      <p:sp>
        <p:nvSpPr>
          <p:cNvPr id="15" name="etape-3"/>
          <p:cNvSpPr/>
          <p:nvPr/>
        </p:nvSpPr>
        <p:spPr>
          <a:xfrm>
            <a:off x="7463561" y="1691640"/>
            <a:ext cx="1874520" cy="1234440"/>
          </a:xfrm>
          <a:prstGeom prst="roundRect">
            <a:avLst>
              <a:gd name="adj" fmla="val 8889"/>
            </a:avLst>
          </a:prstGeom>
          <a:solidFill>
            <a:schemeClr val="bg2"/>
          </a:solidFill>
          <a:ln w="12700">
            <a:solidFill>
              <a:schemeClr val="bg2"/>
            </a:solidFill>
            <a:prstDash val="solid"/>
          </a:ln>
        </p:spPr>
      </p:sp>
      <p:sp>
        <p:nvSpPr>
          <p:cNvPr id="16" name="Text 14"/>
          <p:cNvSpPr txBox="1"/>
          <p:nvPr/>
        </p:nvSpPr>
        <p:spPr>
          <a:xfrm>
            <a:off x="7600721" y="1847088"/>
            <a:ext cx="1600200" cy="41148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Suivi et lissage</a:t>
            </a:r>
            <a:endParaRPr lang="en-US" sz="1600" dirty="0"/>
          </a:p>
        </p:txBody>
      </p:sp>
      <p:sp>
        <p:nvSpPr>
          <p:cNvPr id="17" name="Text 15"/>
          <p:cNvSpPr txBox="1"/>
          <p:nvPr/>
        </p:nvSpPr>
        <p:spPr>
          <a:xfrm>
            <a:off x="7600721" y="2286000"/>
            <a:ext cx="1600200" cy="5029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3 décisions sur 5</a:t>
            </a:r>
            <a:endParaRPr lang="en-US" sz="1300" dirty="0"/>
          </a:p>
        </p:txBody>
      </p:sp>
      <p:sp>
        <p:nvSpPr>
          <p:cNvPr id="18" name="fleche-3"/>
          <p:cNvSpPr/>
          <p:nvPr/>
        </p:nvSpPr>
        <p:spPr>
          <a:xfrm>
            <a:off x="9383801" y="2304288"/>
            <a:ext cx="339014" cy="0"/>
          </a:xfrm>
          <a:prstGeom prst="line">
            <a:avLst/>
          </a:prstGeom>
          <a:noFill/>
          <a:ln w="22225">
            <a:solidFill>
              <a:schemeClr val="accent1"/>
            </a:solidFill>
            <a:prstDash val="solid"/>
            <a:tailEnd type="triangle"/>
          </a:ln>
        </p:spPr>
      </p:sp>
      <p:sp>
        <p:nvSpPr>
          <p:cNvPr id="19" name="etape-4"/>
          <p:cNvSpPr/>
          <p:nvPr/>
        </p:nvSpPr>
        <p:spPr>
          <a:xfrm>
            <a:off x="9768535" y="1691640"/>
            <a:ext cx="1874520" cy="1234440"/>
          </a:xfrm>
          <a:prstGeom prst="roundRect">
            <a:avLst>
              <a:gd name="adj" fmla="val 8889"/>
            </a:avLst>
          </a:prstGeom>
          <a:solidFill>
            <a:schemeClr val="bg2"/>
          </a:solidFill>
          <a:ln w="12700">
            <a:solidFill>
              <a:schemeClr val="bg2"/>
            </a:solidFill>
            <a:prstDash val="solid"/>
          </a:ln>
        </p:spPr>
      </p:sp>
      <p:sp>
        <p:nvSpPr>
          <p:cNvPr id="20" name="Text 18"/>
          <p:cNvSpPr txBox="1"/>
          <p:nvPr/>
        </p:nvSpPr>
        <p:spPr>
          <a:xfrm>
            <a:off x="9905695" y="1847088"/>
            <a:ext cx="1600200" cy="41148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Fiche</a:t>
            </a:r>
            <a:endParaRPr lang="en-US" sz="1600" dirty="0"/>
          </a:p>
        </p:txBody>
      </p:sp>
      <p:sp>
        <p:nvSpPr>
          <p:cNvPr id="21" name="Text 19"/>
          <p:cNvSpPr txBox="1"/>
          <p:nvPr/>
        </p:nvSpPr>
        <p:spPr>
          <a:xfrm>
            <a:off x="9905695" y="2286000"/>
            <a:ext cx="1600200" cy="5029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suggestion selon l'heure</a:t>
            </a:r>
            <a:endParaRPr lang="en-US" sz="1300" dirty="0"/>
          </a:p>
        </p:txBody>
      </p:sp>
      <p:sp>
        <p:nvSpPr>
          <p:cNvPr id="22" name="fait-0-cercle"/>
          <p:cNvSpPr/>
          <p:nvPr/>
        </p:nvSpPr>
        <p:spPr>
          <a:xfrm>
            <a:off x="548640" y="3520440"/>
            <a:ext cx="640080" cy="640080"/>
          </a:xfrm>
          <a:prstGeom prst="ellipse">
            <a:avLst/>
          </a:prstGeom>
          <a:solidFill>
            <a:schemeClr val="bg2"/>
          </a:solidFill>
          <a:ln w="12700">
            <a:solidFill>
              <a:schemeClr val="bg2"/>
            </a:solidFill>
            <a:prstDash val="solid"/>
          </a:ln>
        </p:spPr>
      </p:sp>
      <p:pic>
        <p:nvPicPr>
          <p:cNvPr id="23" name="fait-0-icone" descr="preencoded.png">    </p:cNvPr>
          <p:cNvPicPr>
            <a:picLocks noChangeAspect="1"/>
          </p:cNvPicPr>
          <p:nvPr/>
        </p:nvPicPr>
        <p:blipFill>
          <a:blip r:embed="rId1"/>
          <a:stretch>
            <a:fillRect/>
          </a:stretch>
        </p:blipFill>
        <p:spPr>
          <a:xfrm>
            <a:off x="702259" y="3674059"/>
            <a:ext cx="332842" cy="332842"/>
          </a:xfrm>
          <a:prstGeom prst="rect">
            <a:avLst/>
          </a:prstGeom>
        </p:spPr>
      </p:pic>
      <p:sp>
        <p:nvSpPr>
          <p:cNvPr id="24" name="Text 21"/>
          <p:cNvSpPr txBox="1"/>
          <p:nvPr/>
        </p:nvSpPr>
        <p:spPr>
          <a:xfrm>
            <a:off x="1371600" y="3520440"/>
            <a:ext cx="278892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Aucune image envoyée</a:t>
            </a:r>
            <a:endParaRPr lang="en-US" sz="1700" dirty="0"/>
          </a:p>
        </p:txBody>
      </p:sp>
      <p:sp>
        <p:nvSpPr>
          <p:cNvPr id="25" name="Text 22"/>
          <p:cNvSpPr txBox="1"/>
          <p:nvPr/>
        </p:nvSpPr>
        <p:spPr>
          <a:xfrm>
            <a:off x="1371600" y="3913632"/>
            <a:ext cx="2788920" cy="118872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Les photos restent sur l'appareil. Seul un gabarit de 512 nombres est conservé, après consentement.</a:t>
            </a:r>
            <a:endParaRPr lang="en-US" sz="1300" dirty="0"/>
          </a:p>
        </p:txBody>
      </p:sp>
      <p:sp>
        <p:nvSpPr>
          <p:cNvPr id="26" name="fait-1-cercle"/>
          <p:cNvSpPr/>
          <p:nvPr/>
        </p:nvSpPr>
        <p:spPr>
          <a:xfrm>
            <a:off x="4343400" y="3520440"/>
            <a:ext cx="640080" cy="640080"/>
          </a:xfrm>
          <a:prstGeom prst="ellipse">
            <a:avLst/>
          </a:prstGeom>
          <a:solidFill>
            <a:schemeClr val="bg2"/>
          </a:solidFill>
          <a:ln w="12700">
            <a:solidFill>
              <a:schemeClr val="bg2"/>
            </a:solidFill>
            <a:prstDash val="solid"/>
          </a:ln>
        </p:spPr>
      </p:sp>
      <p:pic>
        <p:nvPicPr>
          <p:cNvPr id="27" name="fait-1-icone" descr="preencoded.png">    </p:cNvPr>
          <p:cNvPicPr>
            <a:picLocks noChangeAspect="1"/>
          </p:cNvPicPr>
          <p:nvPr/>
        </p:nvPicPr>
        <p:blipFill>
          <a:blip r:embed="rId2"/>
          <a:stretch>
            <a:fillRect/>
          </a:stretch>
        </p:blipFill>
        <p:spPr>
          <a:xfrm>
            <a:off x="4497019" y="3674059"/>
            <a:ext cx="332842" cy="332842"/>
          </a:xfrm>
          <a:prstGeom prst="rect">
            <a:avLst/>
          </a:prstGeom>
        </p:spPr>
      </p:pic>
      <p:sp>
        <p:nvSpPr>
          <p:cNvPr id="28" name="Text 24"/>
          <p:cNvSpPr txBox="1"/>
          <p:nvPr/>
        </p:nvSpPr>
        <p:spPr>
          <a:xfrm>
            <a:off x="5166360" y="3520440"/>
            <a:ext cx="278892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15,4 Mo de modèles</a:t>
            </a:r>
            <a:endParaRPr lang="en-US" sz="1700" dirty="0"/>
          </a:p>
        </p:txBody>
      </p:sp>
      <p:sp>
        <p:nvSpPr>
          <p:cNvPr id="29" name="Text 25"/>
          <p:cNvSpPr txBox="1"/>
          <p:nvPr/>
        </p:nvSpPr>
        <p:spPr>
          <a:xfrm>
            <a:off x="5166360" y="3913632"/>
            <a:ext cx="2788920" cy="118872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Téléchargés une fois, puis gardés par le navigateur. ONNX Runtime Web, WebGPU et WASM.</a:t>
            </a:r>
            <a:endParaRPr lang="en-US" sz="1300" dirty="0"/>
          </a:p>
        </p:txBody>
      </p:sp>
      <p:sp>
        <p:nvSpPr>
          <p:cNvPr id="30" name="fait-2-cercle"/>
          <p:cNvSpPr/>
          <p:nvPr/>
        </p:nvSpPr>
        <p:spPr>
          <a:xfrm>
            <a:off x="8138160" y="3520440"/>
            <a:ext cx="640080" cy="640080"/>
          </a:xfrm>
          <a:prstGeom prst="ellipse">
            <a:avLst/>
          </a:prstGeom>
          <a:solidFill>
            <a:schemeClr val="bg2"/>
          </a:solidFill>
          <a:ln w="12700">
            <a:solidFill>
              <a:schemeClr val="bg2"/>
            </a:solidFill>
            <a:prstDash val="solid"/>
          </a:ln>
        </p:spPr>
      </p:sp>
      <p:pic>
        <p:nvPicPr>
          <p:cNvPr id="31" name="fait-2-icone" descr="preencoded.png">    </p:cNvPr>
          <p:cNvPicPr>
            <a:picLocks noChangeAspect="1"/>
          </p:cNvPicPr>
          <p:nvPr/>
        </p:nvPicPr>
        <p:blipFill>
          <a:blip r:embed="rId3"/>
          <a:stretch>
            <a:fillRect/>
          </a:stretch>
        </p:blipFill>
        <p:spPr>
          <a:xfrm>
            <a:off x="8291779" y="3674059"/>
            <a:ext cx="332842" cy="332842"/>
          </a:xfrm>
          <a:prstGeom prst="rect">
            <a:avLst/>
          </a:prstGeom>
        </p:spPr>
      </p:pic>
      <p:sp>
        <p:nvSpPr>
          <p:cNvPr id="32" name="Text 27"/>
          <p:cNvSpPr txBox="1"/>
          <p:nvPr/>
        </p:nvSpPr>
        <p:spPr>
          <a:xfrm>
            <a:off x="8961120" y="3520440"/>
            <a:ext cx="278892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Publié sur GitHub Pages</a:t>
            </a:r>
            <a:endParaRPr lang="en-US" sz="1700" dirty="0"/>
          </a:p>
        </p:txBody>
      </p:sp>
      <p:sp>
        <p:nvSpPr>
          <p:cNvPr id="33" name="Text 28"/>
          <p:cNvSpPr txBox="1"/>
          <p:nvPr/>
        </p:nvSpPr>
        <p:spPr>
          <a:xfrm>
            <a:off x="8961120" y="3913632"/>
            <a:ext cx="2788920" cy="118872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Un site statique, une base dans le navigateur, export et import en JSON.</a:t>
            </a:r>
            <a:endParaRPr lang="en-US" sz="1300" dirty="0"/>
          </a:p>
        </p:txBody>
      </p:sp>
      <p:sp>
        <p:nvSpPr>
          <p:cNvPr id="34" name="Text 29"/>
          <p:cNvSpPr txBox="1"/>
          <p:nvPr/>
        </p:nvSpPr>
        <p:spPr>
          <a:xfrm>
            <a:off x="548640" y="5440680"/>
            <a:ext cx="11094415" cy="640080"/>
          </a:xfrm>
          <a:prstGeom prst="rect">
            <a:avLst/>
          </a:prstGeom>
          <a:noFill/>
          <a:ln/>
        </p:spPr>
        <p:txBody>
          <a:bodyPr wrap="square" lIns="0" tIns="0" rIns="0" bIns="0" rtlCol="0" anchor="t"/>
          <a:lstStyle/>
          <a:p>
            <a:pPr indent="0" marL="0">
              <a:buNone/>
            </a:pPr>
            <a:r>
              <a:rPr lang="en-US" sz="1300" i="1" dirty="0">
                <a:solidFill>
                  <a:schemeClr val="accent4"/>
                </a:solidFill>
                <a:latin typeface="Calibri" pitchFamily="34" charset="0"/>
                <a:ea typeface="Calibri" pitchFamily="34" charset="-122"/>
                <a:cs typeface="Calibri" pitchFamily="34" charset="-120"/>
              </a:rPr>
              <a:t>Mêmes modèles que la version Python (InsightFace buffalo_s), portés en JavaScript et validés : écart de position des visages de 0,17 px, similarité des signatures de 0,9985.</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Les chiffres clés, mesurés par l'application elle-même</a:t>
            </a:r>
            <a:endParaRPr lang="en-US" sz="3000" dirty="0"/>
          </a:p>
        </p:txBody>
      </p:sp>
      <p:sp>
        <p:nvSpPr>
          <p:cNvPr id="3" name="kpi-0"/>
          <p:cNvSpPr/>
          <p:nvPr/>
        </p:nvSpPr>
        <p:spPr>
          <a:xfrm>
            <a:off x="548640" y="1463040"/>
            <a:ext cx="2567864" cy="2103120"/>
          </a:xfrm>
          <a:prstGeom prst="roundRect">
            <a:avLst>
              <a:gd name="adj" fmla="val 5217"/>
            </a:avLst>
          </a:prstGeom>
          <a:solidFill>
            <a:schemeClr val="bg2"/>
          </a:solidFill>
          <a:ln w="12700">
            <a:solidFill>
              <a:schemeClr val="bg2"/>
            </a:solidFill>
            <a:prstDash val="solid"/>
          </a:ln>
        </p:spPr>
      </p:sp>
      <p:sp>
        <p:nvSpPr>
          <p:cNvPr id="4" name="kpi-0-valeur"/>
          <p:cNvSpPr txBox="1"/>
          <p:nvPr/>
        </p:nvSpPr>
        <p:spPr>
          <a:xfrm>
            <a:off x="777240" y="166420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0,20 s</a:t>
            </a:r>
            <a:endParaRPr lang="en-US" sz="3400" dirty="0"/>
          </a:p>
        </p:txBody>
      </p:sp>
      <p:sp>
        <p:nvSpPr>
          <p:cNvPr id="5" name="kpi-0-libelle"/>
          <p:cNvSpPr txBox="1"/>
          <p:nvPr/>
        </p:nvSpPr>
        <p:spPr>
          <a:xfrm>
            <a:off x="777240" y="237744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Délai de reconnaissance</a:t>
            </a:r>
            <a:endParaRPr lang="en-US" sz="1500" dirty="0"/>
          </a:p>
        </p:txBody>
      </p:sp>
      <p:sp>
        <p:nvSpPr>
          <p:cNvPr id="6" name="kpi-0-detail"/>
          <p:cNvSpPr txBox="1"/>
          <p:nvPr/>
        </p:nvSpPr>
        <p:spPr>
          <a:xfrm>
            <a:off x="777240" y="272491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De l'apparition du visage à la fiche (médiane). 0,34 s sur le seul processeur.</a:t>
            </a:r>
            <a:endParaRPr lang="en-US" sz="1200" dirty="0"/>
          </a:p>
        </p:txBody>
      </p:sp>
      <p:sp>
        <p:nvSpPr>
          <p:cNvPr id="7" name="kpi-1"/>
          <p:cNvSpPr/>
          <p:nvPr/>
        </p:nvSpPr>
        <p:spPr>
          <a:xfrm>
            <a:off x="3390824" y="1463040"/>
            <a:ext cx="2567864" cy="2103120"/>
          </a:xfrm>
          <a:prstGeom prst="roundRect">
            <a:avLst>
              <a:gd name="adj" fmla="val 5217"/>
            </a:avLst>
          </a:prstGeom>
          <a:solidFill>
            <a:schemeClr val="bg2"/>
          </a:solidFill>
          <a:ln w="12700">
            <a:solidFill>
              <a:schemeClr val="bg2"/>
            </a:solidFill>
            <a:prstDash val="solid"/>
          </a:ln>
        </p:spPr>
      </p:sp>
      <p:sp>
        <p:nvSpPr>
          <p:cNvPr id="8" name="kpi-1-valeur"/>
          <p:cNvSpPr txBox="1"/>
          <p:nvPr/>
        </p:nvSpPr>
        <p:spPr>
          <a:xfrm>
            <a:off x="3619424" y="166420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108 ms</a:t>
            </a:r>
            <a:endParaRPr lang="en-US" sz="3400" dirty="0"/>
          </a:p>
        </p:txBody>
      </p:sp>
      <p:sp>
        <p:nvSpPr>
          <p:cNvPr id="9" name="kpi-1-libelle"/>
          <p:cNvSpPr txBox="1"/>
          <p:nvPr/>
        </p:nvSpPr>
        <p:spPr>
          <a:xfrm>
            <a:off x="3619424" y="237744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Par analyse</a:t>
            </a:r>
            <a:endParaRPr lang="en-US" sz="1500" dirty="0"/>
          </a:p>
        </p:txBody>
      </p:sp>
      <p:sp>
        <p:nvSpPr>
          <p:cNvPr id="10" name="kpi-1-detail"/>
          <p:cNvSpPr txBox="1"/>
          <p:nvPr/>
        </p:nvSpPr>
        <p:spPr>
          <a:xfrm>
            <a:off x="3619424" y="272491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Détection et reconnaissance, hybride, GPU dédié. 132 ms sur le seul processeur.</a:t>
            </a:r>
            <a:endParaRPr lang="en-US" sz="1200" dirty="0"/>
          </a:p>
        </p:txBody>
      </p:sp>
      <p:sp>
        <p:nvSpPr>
          <p:cNvPr id="11" name="kpi-2"/>
          <p:cNvSpPr/>
          <p:nvPr/>
        </p:nvSpPr>
        <p:spPr>
          <a:xfrm>
            <a:off x="6233008" y="1463040"/>
            <a:ext cx="2567864" cy="2103120"/>
          </a:xfrm>
          <a:prstGeom prst="roundRect">
            <a:avLst>
              <a:gd name="adj" fmla="val 5217"/>
            </a:avLst>
          </a:prstGeom>
          <a:solidFill>
            <a:schemeClr val="bg2"/>
          </a:solidFill>
          <a:ln w="12700">
            <a:solidFill>
              <a:schemeClr val="bg2"/>
            </a:solidFill>
            <a:prstDash val="solid"/>
          </a:ln>
        </p:spPr>
      </p:sp>
      <p:sp>
        <p:nvSpPr>
          <p:cNvPr id="12" name="kpi-2-valeur"/>
          <p:cNvSpPr txBox="1"/>
          <p:nvPr/>
        </p:nvSpPr>
        <p:spPr>
          <a:xfrm>
            <a:off x="6461608" y="166420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24 img/s</a:t>
            </a:r>
            <a:endParaRPr lang="en-US" sz="3400" dirty="0"/>
          </a:p>
        </p:txBody>
      </p:sp>
      <p:sp>
        <p:nvSpPr>
          <p:cNvPr id="13" name="kpi-2-libelle"/>
          <p:cNvSpPr txBox="1"/>
          <p:nvPr/>
        </p:nvSpPr>
        <p:spPr>
          <a:xfrm>
            <a:off x="6461608" y="237744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Fluidité de l'affichage</a:t>
            </a:r>
            <a:endParaRPr lang="en-US" sz="1500" dirty="0"/>
          </a:p>
        </p:txBody>
      </p:sp>
      <p:sp>
        <p:nvSpPr>
          <p:cNvPr id="14" name="kpi-2-detail"/>
          <p:cNvSpPr txBox="1"/>
          <p:nvPr/>
        </p:nvSpPr>
        <p:spPr>
          <a:xfrm>
            <a:off x="6461608" y="272491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Dont 8,1 analyses par seconde, une image sur trois.</a:t>
            </a:r>
            <a:endParaRPr lang="en-US" sz="1200" dirty="0"/>
          </a:p>
        </p:txBody>
      </p:sp>
      <p:sp>
        <p:nvSpPr>
          <p:cNvPr id="15" name="kpi-3"/>
          <p:cNvSpPr/>
          <p:nvPr/>
        </p:nvSpPr>
        <p:spPr>
          <a:xfrm>
            <a:off x="9075191" y="1463040"/>
            <a:ext cx="2567864" cy="2103120"/>
          </a:xfrm>
          <a:prstGeom prst="roundRect">
            <a:avLst>
              <a:gd name="adj" fmla="val 5217"/>
            </a:avLst>
          </a:prstGeom>
          <a:solidFill>
            <a:schemeClr val="bg2"/>
          </a:solidFill>
          <a:ln w="12700">
            <a:solidFill>
              <a:schemeClr val="bg2"/>
            </a:solidFill>
            <a:prstDash val="solid"/>
          </a:ln>
        </p:spPr>
      </p:sp>
      <p:sp>
        <p:nvSpPr>
          <p:cNvPr id="16" name="kpi-3-valeur"/>
          <p:cNvSpPr txBox="1"/>
          <p:nvPr/>
        </p:nvSpPr>
        <p:spPr>
          <a:xfrm>
            <a:off x="9303791" y="166420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18,7 s</a:t>
            </a:r>
            <a:endParaRPr lang="en-US" sz="3400" dirty="0"/>
          </a:p>
        </p:txBody>
      </p:sp>
      <p:sp>
        <p:nvSpPr>
          <p:cNvPr id="17" name="kpi-3-libelle"/>
          <p:cNvSpPr txBox="1"/>
          <p:nvPr/>
        </p:nvSpPr>
        <p:spPr>
          <a:xfrm>
            <a:off x="9303791" y="237744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Pour enrôler un client</a:t>
            </a:r>
            <a:endParaRPr lang="en-US" sz="1500" dirty="0"/>
          </a:p>
        </p:txBody>
      </p:sp>
      <p:sp>
        <p:nvSpPr>
          <p:cNvPr id="18" name="kpi-3-detail"/>
          <p:cNvSpPr txBox="1"/>
          <p:nvPr/>
        </p:nvSpPr>
        <p:spPr>
          <a:xfrm>
            <a:off x="9303791" y="272491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25 images valides en 5 poses, 100 % d'images exploitables.</a:t>
            </a:r>
            <a:endParaRPr lang="en-US" sz="1200" dirty="0"/>
          </a:p>
        </p:txBody>
      </p:sp>
      <p:sp>
        <p:nvSpPr>
          <p:cNvPr id="19" name="kpi-4"/>
          <p:cNvSpPr/>
          <p:nvPr/>
        </p:nvSpPr>
        <p:spPr>
          <a:xfrm>
            <a:off x="548640" y="3794760"/>
            <a:ext cx="2567864" cy="2103120"/>
          </a:xfrm>
          <a:prstGeom prst="roundRect">
            <a:avLst>
              <a:gd name="adj" fmla="val 5217"/>
            </a:avLst>
          </a:prstGeom>
          <a:solidFill>
            <a:schemeClr val="bg2"/>
          </a:solidFill>
          <a:ln w="12700">
            <a:solidFill>
              <a:schemeClr val="bg2"/>
            </a:solidFill>
            <a:prstDash val="solid"/>
          </a:ln>
        </p:spPr>
      </p:sp>
      <p:sp>
        <p:nvSpPr>
          <p:cNvPr id="20" name="kpi-4-valeur"/>
          <p:cNvSpPr txBox="1"/>
          <p:nvPr/>
        </p:nvSpPr>
        <p:spPr>
          <a:xfrm>
            <a:off x="777240" y="399592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0 %</a:t>
            </a:r>
            <a:endParaRPr lang="en-US" sz="3400" dirty="0"/>
          </a:p>
        </p:txBody>
      </p:sp>
      <p:sp>
        <p:nvSpPr>
          <p:cNvPr id="21" name="kpi-4-libelle"/>
          <p:cNvSpPr txBox="1"/>
          <p:nvPr/>
        </p:nvSpPr>
        <p:spPr>
          <a:xfrm>
            <a:off x="777240" y="470916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Fausses acceptations</a:t>
            </a:r>
            <a:endParaRPr lang="en-US" sz="1500" dirty="0"/>
          </a:p>
        </p:txBody>
      </p:sp>
      <p:sp>
        <p:nvSpPr>
          <p:cNvPr id="22" name="kpi-4-detail"/>
          <p:cNvSpPr txBox="1"/>
          <p:nvPr/>
        </p:nvSpPr>
        <p:spPr>
          <a:xfrm>
            <a:off x="777240" y="505663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Au seuil 0,35, sur 6 identités et 7 familles de conditions dégradées.</a:t>
            </a:r>
            <a:endParaRPr lang="en-US" sz="1200" dirty="0"/>
          </a:p>
        </p:txBody>
      </p:sp>
      <p:sp>
        <p:nvSpPr>
          <p:cNvPr id="23" name="kpi-5"/>
          <p:cNvSpPr/>
          <p:nvPr/>
        </p:nvSpPr>
        <p:spPr>
          <a:xfrm>
            <a:off x="3390824" y="3794760"/>
            <a:ext cx="2567864" cy="2103120"/>
          </a:xfrm>
          <a:prstGeom prst="roundRect">
            <a:avLst>
              <a:gd name="adj" fmla="val 5217"/>
            </a:avLst>
          </a:prstGeom>
          <a:solidFill>
            <a:schemeClr val="bg2"/>
          </a:solidFill>
          <a:ln w="12700">
            <a:solidFill>
              <a:schemeClr val="bg2"/>
            </a:solidFill>
            <a:prstDash val="solid"/>
          </a:ln>
        </p:spPr>
      </p:sp>
      <p:sp>
        <p:nvSpPr>
          <p:cNvPr id="24" name="kpi-5-valeur"/>
          <p:cNvSpPr txBox="1"/>
          <p:nvPr/>
        </p:nvSpPr>
        <p:spPr>
          <a:xfrm>
            <a:off x="3619424" y="399592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2,0 m</a:t>
            </a:r>
            <a:endParaRPr lang="en-US" sz="3400" dirty="0"/>
          </a:p>
        </p:txBody>
      </p:sp>
      <p:sp>
        <p:nvSpPr>
          <p:cNvPr id="25" name="kpi-5-libelle"/>
          <p:cNvSpPr txBox="1"/>
          <p:nvPr/>
        </p:nvSpPr>
        <p:spPr>
          <a:xfrm>
            <a:off x="3619424" y="470916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Distance fiable</a:t>
            </a:r>
            <a:endParaRPr lang="en-US" sz="1500" dirty="0"/>
          </a:p>
        </p:txBody>
      </p:sp>
      <p:sp>
        <p:nvSpPr>
          <p:cNvPr id="26" name="kpi-5-detail"/>
          <p:cNvSpPr txBox="1"/>
          <p:nvPr/>
        </p:nvSpPr>
        <p:spPr>
          <a:xfrm>
            <a:off x="3619424" y="505663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100 % d'identification jusque-là, encore 83 % à 3,9 m (estimation).</a:t>
            </a:r>
            <a:endParaRPr lang="en-US" sz="1200" dirty="0"/>
          </a:p>
        </p:txBody>
      </p:sp>
      <p:sp>
        <p:nvSpPr>
          <p:cNvPr id="27" name="kpi-6"/>
          <p:cNvSpPr/>
          <p:nvPr/>
        </p:nvSpPr>
        <p:spPr>
          <a:xfrm>
            <a:off x="6233008" y="3794760"/>
            <a:ext cx="2567864" cy="2103120"/>
          </a:xfrm>
          <a:prstGeom prst="roundRect">
            <a:avLst>
              <a:gd name="adj" fmla="val 5217"/>
            </a:avLst>
          </a:prstGeom>
          <a:solidFill>
            <a:schemeClr val="bg2"/>
          </a:solidFill>
          <a:ln w="12700">
            <a:solidFill>
              <a:schemeClr val="bg2"/>
            </a:solidFill>
            <a:prstDash val="solid"/>
          </a:ln>
        </p:spPr>
      </p:sp>
      <p:sp>
        <p:nvSpPr>
          <p:cNvPr id="28" name="kpi-6-valeur"/>
          <p:cNvSpPr txBox="1"/>
          <p:nvPr/>
        </p:nvSpPr>
        <p:spPr>
          <a:xfrm>
            <a:off x="6461608" y="399592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0,17 px</a:t>
            </a:r>
            <a:endParaRPr lang="en-US" sz="3400" dirty="0"/>
          </a:p>
        </p:txBody>
      </p:sp>
      <p:sp>
        <p:nvSpPr>
          <p:cNvPr id="29" name="kpi-6-libelle"/>
          <p:cNvSpPr txBox="1"/>
          <p:nvPr/>
        </p:nvSpPr>
        <p:spPr>
          <a:xfrm>
            <a:off x="6461608" y="470916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Écart JavaScript et Python</a:t>
            </a:r>
            <a:endParaRPr lang="en-US" sz="1500" dirty="0"/>
          </a:p>
        </p:txBody>
      </p:sp>
      <p:sp>
        <p:nvSpPr>
          <p:cNvPr id="30" name="kpi-6-detail"/>
          <p:cNvSpPr txBox="1"/>
          <p:nvPr/>
        </p:nvSpPr>
        <p:spPr>
          <a:xfrm>
            <a:off x="6461608" y="505663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Mêmes visages et mêmes signatures, à 0,9985 de similarité.</a:t>
            </a:r>
            <a:endParaRPr lang="en-US" sz="1200" dirty="0"/>
          </a:p>
        </p:txBody>
      </p:sp>
      <p:sp>
        <p:nvSpPr>
          <p:cNvPr id="31" name="kpi-7"/>
          <p:cNvSpPr/>
          <p:nvPr/>
        </p:nvSpPr>
        <p:spPr>
          <a:xfrm>
            <a:off x="9075191" y="3794760"/>
            <a:ext cx="2567864" cy="2103120"/>
          </a:xfrm>
          <a:prstGeom prst="roundRect">
            <a:avLst>
              <a:gd name="adj" fmla="val 5217"/>
            </a:avLst>
          </a:prstGeom>
          <a:solidFill>
            <a:schemeClr val="bg2"/>
          </a:solidFill>
          <a:ln w="12700">
            <a:solidFill>
              <a:schemeClr val="bg2"/>
            </a:solidFill>
            <a:prstDash val="solid"/>
          </a:ln>
        </p:spPr>
      </p:sp>
      <p:sp>
        <p:nvSpPr>
          <p:cNvPr id="32" name="kpi-7-valeur"/>
          <p:cNvSpPr txBox="1"/>
          <p:nvPr/>
        </p:nvSpPr>
        <p:spPr>
          <a:xfrm>
            <a:off x="9303791" y="3995928"/>
            <a:ext cx="2110664" cy="685800"/>
          </a:xfrm>
          <a:prstGeom prst="rect">
            <a:avLst/>
          </a:prstGeom>
          <a:noFill/>
          <a:ln/>
        </p:spPr>
        <p:txBody>
          <a:bodyPr wrap="square" lIns="0" tIns="0" rIns="0" bIns="0" rtlCol="0" anchor="ctr"/>
          <a:lstStyle/>
          <a:p>
            <a:pPr indent="0" marL="0">
              <a:buNone/>
            </a:pPr>
            <a:r>
              <a:rPr lang="en-US" sz="3400" dirty="0">
                <a:solidFill>
                  <a:schemeClr val="accent1"/>
                </a:solidFill>
                <a:latin typeface="Cambria" pitchFamily="34" charset="0"/>
                <a:ea typeface="Cambria" pitchFamily="34" charset="-122"/>
                <a:cs typeface="Cambria" pitchFamily="34" charset="-120"/>
              </a:rPr>
              <a:t>133</a:t>
            </a:r>
            <a:endParaRPr lang="en-US" sz="3400" dirty="0"/>
          </a:p>
        </p:txBody>
      </p:sp>
      <p:sp>
        <p:nvSpPr>
          <p:cNvPr id="33" name="kpi-7-libelle"/>
          <p:cNvSpPr txBox="1"/>
          <p:nvPr/>
        </p:nvSpPr>
        <p:spPr>
          <a:xfrm>
            <a:off x="9303791" y="4709160"/>
            <a:ext cx="2110664"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Tests automatisés</a:t>
            </a:r>
            <a:endParaRPr lang="en-US" sz="1500" dirty="0"/>
          </a:p>
        </p:txBody>
      </p:sp>
      <p:sp>
        <p:nvSpPr>
          <p:cNvPr id="34" name="kpi-7-detail"/>
          <p:cNvSpPr txBox="1"/>
          <p:nvPr/>
        </p:nvSpPr>
        <p:spPr>
          <a:xfrm>
            <a:off x="9303791" y="5056632"/>
            <a:ext cx="2110664" cy="7315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45 tests du site, 88 de la version Python, plus un test de bout en bout.</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Les KPI ont guidé le choix du moteur de calcul</a:t>
            </a:r>
            <a:endParaRPr lang="en-US" sz="3000" dirty="0"/>
          </a:p>
        </p:txBody>
      </p:sp>
      <p:graphicFrame>
        <p:nvGraphicFramePr>
          <p:cNvPr id="3" name="Chart 0" descr=""/>
          <p:cNvGraphicFramePr/>
          <p:nvPr/>
        </p:nvGraphicFramePr>
        <p:xfrm>
          <a:off x="548640" y="1417320"/>
          <a:ext cx="704088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909560" y="1508760"/>
            <a:ext cx="374904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Ce que les mesures ont montré</a:t>
            </a:r>
            <a:endParaRPr lang="en-US" sz="1600" dirty="0"/>
          </a:p>
        </p:txBody>
      </p:sp>
      <p:sp>
        <p:nvSpPr>
          <p:cNvPr id="5" name="Text 2"/>
          <p:cNvSpPr txBox="1"/>
          <p:nvPr/>
        </p:nvSpPr>
        <p:spPr>
          <a:xfrm>
            <a:off x="7909560" y="1965960"/>
            <a:ext cx="374904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La reconnaissance est 3 à 4 fois plus lente sur carte graphique, quelle qu'elle soit (149 à 161 ms contre 41 ms).</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La détection n'accélère qu'avec la carte dédiée (57 ms contre 77 ms).</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Réglage retenu : processeur par défaut, hybride sur le PC de démo, soit 108 ms par analyse et 0,20 s avant la fiche.</a:t>
            </a:r>
            <a:endParaRPr lang="en-US" sz="1400" dirty="0"/>
          </a:p>
        </p:txBody>
      </p:sp>
      <p:sp>
        <p:nvSpPr>
          <p:cNvPr id="6" name="lecon"/>
          <p:cNvSpPr/>
          <p:nvPr/>
        </p:nvSpPr>
        <p:spPr>
          <a:xfrm>
            <a:off x="7909560" y="4846320"/>
            <a:ext cx="3749040" cy="1143000"/>
          </a:xfrm>
          <a:prstGeom prst="roundRect">
            <a:avLst>
              <a:gd name="adj" fmla="val 9600"/>
            </a:avLst>
          </a:prstGeom>
          <a:solidFill>
            <a:schemeClr val="bg2"/>
          </a:solidFill>
          <a:ln w="12700">
            <a:solidFill>
              <a:schemeClr val="bg2"/>
            </a:solidFill>
            <a:prstDash val="solid"/>
          </a:ln>
        </p:spPr>
      </p:sp>
      <p:sp>
        <p:nvSpPr>
          <p:cNvPr id="7" name="Text 4"/>
          <p:cNvSpPr txBox="1"/>
          <p:nvPr/>
        </p:nvSpPr>
        <p:spPr>
          <a:xfrm>
            <a:off x="8110728" y="4937760"/>
            <a:ext cx="3346704" cy="987552"/>
          </a:xfrm>
          <a:prstGeom prst="rect">
            <a:avLst/>
          </a:prstGeom>
          <a:noFill/>
          <a:ln/>
        </p:spPr>
        <p:txBody>
          <a:bodyPr wrap="square" lIns="0" tIns="0" rIns="0" bIns="0" rtlCol="0" anchor="ctr"/>
          <a:lstStyle/>
          <a:p>
            <a:pPr indent="0" marL="0">
              <a:buNone/>
            </a:pPr>
            <a:r>
              <a:rPr lang="en-US" sz="1300" i="1" dirty="0">
                <a:solidFill>
                  <a:schemeClr val="tx1"/>
                </a:solidFill>
                <a:latin typeface="Calibri" pitchFamily="34" charset="0"/>
                <a:ea typeface="Calibri" pitchFamily="34" charset="-122"/>
                <a:cs typeface="Calibri" pitchFamily="34" charset="-120"/>
              </a:rPr>
              <a:t>Sans mesure, nous aurions conclu « le GPU accélère tout ». Le navigateur utilisait en fait le GPU intégré, plus lent que le processeur.</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Fiable jusqu'à environ 2,0 m de la caméra</a:t>
            </a:r>
            <a:endParaRPr lang="en-US" sz="3000" dirty="0"/>
          </a:p>
        </p:txBody>
      </p:sp>
      <p:graphicFrame>
        <p:nvGraphicFramePr>
          <p:cNvPr id="3" name="Chart 0" descr=""/>
          <p:cNvGraphicFramePr/>
          <p:nvPr/>
        </p:nvGraphicFramePr>
        <p:xfrm>
          <a:off x="548640" y="14173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412480" y="1508760"/>
            <a:ext cx="324612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Lecture</a:t>
            </a:r>
            <a:endParaRPr lang="en-US" sz="1600" dirty="0"/>
          </a:p>
        </p:txBody>
      </p:sp>
      <p:sp>
        <p:nvSpPr>
          <p:cNvPr id="5" name="Text 2"/>
          <p:cNvSpPr txBox="1"/>
          <p:nvPr/>
        </p:nvSpPr>
        <p:spPr>
          <a:xfrm>
            <a:off x="8412480" y="1965960"/>
            <a:ext cx="324612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100 % jusqu'à 2,0 m, encore 83 % à 3,9 m.</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Au-delà de 4 m, le visage fait moins de 35 px et n'est plus détecté.</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Tout visage détecté a été bien reconnu : la limite vient de la détection.</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Conséquence : placer la caméra près de l'entrée, à hauteur de visage.</a:t>
            </a:r>
            <a:endParaRPr lang="en-US" sz="1500" dirty="0"/>
          </a:p>
        </p:txBody>
      </p:sp>
      <p:sp>
        <p:nvSpPr>
          <p:cNvPr id="6" name="Text 3"/>
          <p:cNvSpPr txBox="1"/>
          <p:nvPr/>
        </p:nvSpPr>
        <p:spPr>
          <a:xfrm>
            <a:off x="8412480" y="4937760"/>
            <a:ext cx="3246120" cy="91440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Distance estimée pour une webcam HD de 70° et un visage de 15 cm. 6 identités, même photo source.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Robuste à la lumière, fragile au flou fort et au visage masqué</a:t>
            </a:r>
            <a:endParaRPr lang="en-US" sz="3000" dirty="0"/>
          </a:p>
        </p:txBody>
      </p:sp>
      <p:graphicFrame>
        <p:nvGraphicFramePr>
          <p:cNvPr id="3" name="Chart 0" descr=""/>
          <p:cNvGraphicFramePr/>
          <p:nvPr/>
        </p:nvGraphicFramePr>
        <p:xfrm>
          <a:off x="548640" y="1371600"/>
          <a:ext cx="3484778"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353458" y="1371600"/>
          <a:ext cx="3484778" cy="22402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8158277" y="1371600"/>
          <a:ext cx="3484778" cy="2240280"/>
        </p:xfrm>
        <a:graphic xmlns:a="http://schemas.openxmlformats.org/drawingml/2006/main">
          <a:graphicData uri="http://schemas.openxmlformats.org/drawingml/2006/chart">
            <c:chart xmlns:c="http://schemas.openxmlformats.org/drawingml/2006/chart" r:id="rId3"/>
          </a:graphicData>
        </a:graphic>
      </p:graphicFrame>
      <p:graphicFrame>
        <p:nvGraphicFramePr>
          <p:cNvPr id="6" name="Chart 3" descr=""/>
          <p:cNvGraphicFramePr/>
          <p:nvPr/>
        </p:nvGraphicFramePr>
        <p:xfrm>
          <a:off x="548640" y="3749040"/>
          <a:ext cx="3484778" cy="2240280"/>
        </p:xfrm>
        <a:graphic xmlns:a="http://schemas.openxmlformats.org/drawingml/2006/main">
          <a:graphicData uri="http://schemas.openxmlformats.org/drawingml/2006/chart">
            <c:chart xmlns:c="http://schemas.openxmlformats.org/drawingml/2006/chart" r:id="rId4"/>
          </a:graphicData>
        </a:graphic>
      </p:graphicFrame>
      <p:graphicFrame>
        <p:nvGraphicFramePr>
          <p:cNvPr id="7" name="Chart 4" descr=""/>
          <p:cNvGraphicFramePr/>
          <p:nvPr/>
        </p:nvGraphicFramePr>
        <p:xfrm>
          <a:off x="4353458" y="3749040"/>
          <a:ext cx="3484778" cy="2240280"/>
        </p:xfrm>
        <a:graphic xmlns:a="http://schemas.openxmlformats.org/drawingml/2006/main">
          <a:graphicData uri="http://schemas.openxmlformats.org/drawingml/2006/chart">
            <c:chart xmlns:c="http://schemas.openxmlformats.org/drawingml/2006/chart" r:id="rId5"/>
          </a:graphicData>
        </a:graphic>
      </p:graphicFrame>
      <p:graphicFrame>
        <p:nvGraphicFramePr>
          <p:cNvPr id="8" name="Chart 5" descr=""/>
          <p:cNvGraphicFramePr/>
          <p:nvPr/>
        </p:nvGraphicFramePr>
        <p:xfrm>
          <a:off x="8158277" y="3749040"/>
          <a:ext cx="3484778" cy="2240280"/>
        </p:xfrm>
        <a:graphic xmlns:a="http://schemas.openxmlformats.org/drawingml/2006/main">
          <a:graphicData uri="http://schemas.openxmlformats.org/drawingml/2006/chart">
            <c:chart xmlns:c="http://schemas.openxmlformats.org/drawingml/2006/chart" r:id="rId6"/>
          </a:graphicData>
        </a:graphic>
      </p:graphicFrame>
      <p:sp>
        <p:nvSpPr>
          <p:cNvPr id="9" name="Text 1"/>
          <p:cNvSpPr txBox="1"/>
          <p:nvPr/>
        </p:nvSpPr>
        <p:spPr>
          <a:xfrm>
            <a:off x="548640" y="6035040"/>
            <a:ext cx="11094415" cy="36576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Taux d'identification correcte au seuil 0,35, 6 identités, un point par niveau. La dégradation augmente vers la droite, sauf pour l'exposition : 1 = normale, plus sombre à gauche, plus claire à droite.</a:t>
            </a:r>
            <a:endParaRPr lang="en-US" sz="11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Au seuil 0,35 : 0 % de fausses acceptations, 11,7 % de refus</a:t>
            </a:r>
            <a:endParaRPr lang="en-US" sz="3000" dirty="0"/>
          </a:p>
        </p:txBody>
      </p:sp>
      <p:graphicFrame>
        <p:nvGraphicFramePr>
          <p:cNvPr id="3" name="Chart 0" descr=""/>
          <p:cNvGraphicFramePr/>
          <p:nvPr/>
        </p:nvGraphicFramePr>
        <p:xfrm>
          <a:off x="548640" y="1417320"/>
          <a:ext cx="557784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55080" y="1417320"/>
          <a:ext cx="5303520" cy="33832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6355080" y="4937760"/>
            <a:ext cx="5303520" cy="9144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Les deux groupes sont bien séparés : les autres personnes restent sous 0,24 de similarité. Le seuil 0,35 privilégie l'absence de fausse fiche : mieux vaut un « Inconnu » qu'une erreur de nom.</a:t>
            </a:r>
            <a:endParaRPr lang="en-US" sz="1300" dirty="0"/>
          </a:p>
        </p:txBody>
      </p:sp>
      <p:sp>
        <p:nvSpPr>
          <p:cNvPr id="6" name="Text 2"/>
          <p:cNvSpPr txBox="1"/>
          <p:nvPr/>
        </p:nvSpPr>
        <p:spPr>
          <a:xfrm>
            <a:off x="548640" y="5852160"/>
            <a:ext cx="5577840" cy="41148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Évaluation indicative : 6 identités, même photo source pour l'enrôlement et le test, conditions dégradées cumulées.</a:t>
            </a:r>
            <a:endParaRPr lang="en-US" sz="11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Démo : de l'inscription à l'accueil en 4 minutes</a:t>
            </a:r>
            <a:endParaRPr lang="en-US" sz="3000" dirty="0"/>
          </a:p>
        </p:txBody>
      </p:sp>
      <p:sp>
        <p:nvSpPr>
          <p:cNvPr id="3" name="demo-numero-1"/>
          <p:cNvSpPr/>
          <p:nvPr/>
        </p:nvSpPr>
        <p:spPr>
          <a:xfrm>
            <a:off x="548640" y="146304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325880" y="1426464"/>
            <a:ext cx="512064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Inscrire un client</a:t>
            </a:r>
            <a:endParaRPr lang="en-US" sz="1700" dirty="0"/>
          </a:p>
        </p:txBody>
      </p:sp>
      <p:sp>
        <p:nvSpPr>
          <p:cNvPr id="6" name="Text 4"/>
          <p:cNvSpPr txBox="1"/>
          <p:nvPr/>
        </p:nvSpPr>
        <p:spPr>
          <a:xfrm>
            <a:off x="1325880" y="1792224"/>
            <a:ext cx="5120640" cy="6400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Page Clients : taper J'ACCEPTE, capturer 25 images en suivant les 5 poses.</a:t>
            </a:r>
            <a:endParaRPr lang="en-US" sz="1300" dirty="0"/>
          </a:p>
        </p:txBody>
      </p:sp>
      <p:sp>
        <p:nvSpPr>
          <p:cNvPr id="7" name="Text 5"/>
          <p:cNvSpPr txBox="1"/>
          <p:nvPr/>
        </p:nvSpPr>
        <p:spPr>
          <a:xfrm>
            <a:off x="6537960" y="1508760"/>
            <a:ext cx="914400" cy="36576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1 min 15</a:t>
            </a:r>
            <a:endParaRPr lang="en-US" sz="1400" dirty="0"/>
          </a:p>
        </p:txBody>
      </p:sp>
      <p:sp>
        <p:nvSpPr>
          <p:cNvPr id="8" name="demo-numero-2"/>
          <p:cNvSpPr/>
          <p:nvPr/>
        </p:nvSpPr>
        <p:spPr>
          <a:xfrm>
            <a:off x="548640" y="2542032"/>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548640" y="254203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325880" y="2505456"/>
            <a:ext cx="512064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Remplir sa fiche</a:t>
            </a:r>
            <a:endParaRPr lang="en-US" sz="1700" dirty="0"/>
          </a:p>
        </p:txBody>
      </p:sp>
      <p:sp>
        <p:nvSpPr>
          <p:cNvPr id="11" name="Text 9"/>
          <p:cNvSpPr txBox="1"/>
          <p:nvPr/>
        </p:nvSpPr>
        <p:spPr>
          <a:xfrm>
            <a:off x="1325880" y="2871216"/>
            <a:ext cx="5120640" cy="6400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Boisson, sucre, lait, style, derniers achats, prochain rendez-vous.</a:t>
            </a:r>
            <a:endParaRPr lang="en-US" sz="1300" dirty="0"/>
          </a:p>
        </p:txBody>
      </p:sp>
      <p:sp>
        <p:nvSpPr>
          <p:cNvPr id="12" name="Text 10"/>
          <p:cNvSpPr txBox="1"/>
          <p:nvPr/>
        </p:nvSpPr>
        <p:spPr>
          <a:xfrm>
            <a:off x="6537960" y="2587752"/>
            <a:ext cx="914400" cy="36576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1 min</a:t>
            </a:r>
            <a:endParaRPr lang="en-US" sz="1400" dirty="0"/>
          </a:p>
        </p:txBody>
      </p:sp>
      <p:sp>
        <p:nvSpPr>
          <p:cNvPr id="13" name="demo-numero-3"/>
          <p:cNvSpPr/>
          <p:nvPr/>
        </p:nvSpPr>
        <p:spPr>
          <a:xfrm>
            <a:off x="548640" y="3621024"/>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548640" y="362102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25880" y="3584448"/>
            <a:ext cx="512064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Le reconnaître</a:t>
            </a:r>
            <a:endParaRPr lang="en-US" sz="1700" dirty="0"/>
          </a:p>
        </p:txBody>
      </p:sp>
      <p:sp>
        <p:nvSpPr>
          <p:cNvPr id="16" name="Text 14"/>
          <p:cNvSpPr txBox="1"/>
          <p:nvPr/>
        </p:nvSpPr>
        <p:spPr>
          <a:xfrm>
            <a:off x="1325880" y="3950208"/>
            <a:ext cx="5120640" cy="6400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Page Reconnaissance : la personne entre dans le champ, sa fiche s'affiche. Un autre membre reste « Inconnu ».</a:t>
            </a:r>
            <a:endParaRPr lang="en-US" sz="1300" dirty="0"/>
          </a:p>
        </p:txBody>
      </p:sp>
      <p:sp>
        <p:nvSpPr>
          <p:cNvPr id="17" name="Text 15"/>
          <p:cNvSpPr txBox="1"/>
          <p:nvPr/>
        </p:nvSpPr>
        <p:spPr>
          <a:xfrm>
            <a:off x="6537960" y="3666744"/>
            <a:ext cx="914400" cy="36576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1 min</a:t>
            </a:r>
            <a:endParaRPr lang="en-US" sz="1400" dirty="0"/>
          </a:p>
        </p:txBody>
      </p:sp>
      <p:sp>
        <p:nvSpPr>
          <p:cNvPr id="18" name="demo-numero-4"/>
          <p:cNvSpPr/>
          <p:nvPr/>
        </p:nvSpPr>
        <p:spPr>
          <a:xfrm>
            <a:off x="548640" y="4700016"/>
            <a:ext cx="548640" cy="548640"/>
          </a:xfrm>
          <a:prstGeom prst="ellipse">
            <a:avLst/>
          </a:prstGeom>
          <a:solidFill>
            <a:schemeClr val="accent1"/>
          </a:solidFill>
          <a:ln w="12700">
            <a:solidFill>
              <a:schemeClr val="accent1"/>
            </a:solidFill>
            <a:prstDash val="solid"/>
          </a:ln>
        </p:spPr>
      </p:sp>
      <p:sp>
        <p:nvSpPr>
          <p:cNvPr id="19" name="Text 17"/>
          <p:cNvSpPr txBox="1"/>
          <p:nvPr/>
        </p:nvSpPr>
        <p:spPr>
          <a:xfrm>
            <a:off x="548640" y="470001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0" name="Text 18"/>
          <p:cNvSpPr txBox="1"/>
          <p:nvPr/>
        </p:nvSpPr>
        <p:spPr>
          <a:xfrm>
            <a:off x="1325880" y="4663440"/>
            <a:ext cx="512064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Lire les indicateurs</a:t>
            </a:r>
            <a:endParaRPr lang="en-US" sz="1700" dirty="0"/>
          </a:p>
        </p:txBody>
      </p:sp>
      <p:sp>
        <p:nvSpPr>
          <p:cNvPr id="21" name="Text 19"/>
          <p:cNvSpPr txBox="1"/>
          <p:nvPr/>
        </p:nvSpPr>
        <p:spPr>
          <a:xfrm>
            <a:off x="1325880" y="5029200"/>
            <a:ext cx="5120640" cy="6400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Page Indicateurs : délai de reconnaissance, temps par étape, enrôlement.</a:t>
            </a:r>
            <a:endParaRPr lang="en-US" sz="1300" dirty="0"/>
          </a:p>
        </p:txBody>
      </p:sp>
      <p:sp>
        <p:nvSpPr>
          <p:cNvPr id="22" name="Text 20"/>
          <p:cNvSpPr txBox="1"/>
          <p:nvPr/>
        </p:nvSpPr>
        <p:spPr>
          <a:xfrm>
            <a:off x="6537960" y="4745736"/>
            <a:ext cx="914400" cy="36576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45 s</a:t>
            </a:r>
            <a:endParaRPr lang="en-US" sz="1400" dirty="0"/>
          </a:p>
        </p:txBody>
      </p:sp>
      <p:sp>
        <p:nvSpPr>
          <p:cNvPr id="23" name="plan-b"/>
          <p:cNvSpPr/>
          <p:nvPr/>
        </p:nvSpPr>
        <p:spPr>
          <a:xfrm>
            <a:off x="7818120" y="1417320"/>
            <a:ext cx="3840480" cy="4434840"/>
          </a:xfrm>
          <a:prstGeom prst="roundRect">
            <a:avLst>
              <a:gd name="adj" fmla="val 2857"/>
            </a:avLst>
          </a:prstGeom>
          <a:solidFill>
            <a:schemeClr val="bg2"/>
          </a:solidFill>
          <a:ln w="12700">
            <a:solidFill>
              <a:schemeClr val="bg2"/>
            </a:solidFill>
            <a:prstDash val="solid"/>
          </a:ln>
        </p:spPr>
      </p:sp>
      <p:sp>
        <p:nvSpPr>
          <p:cNvPr id="24" name="Text 22"/>
          <p:cNvSpPr txBox="1"/>
          <p:nvPr/>
        </p:nvSpPr>
        <p:spPr>
          <a:xfrm>
            <a:off x="8092440" y="1600200"/>
            <a:ext cx="329184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À tester en direct</a:t>
            </a:r>
            <a:endParaRPr lang="en-US" sz="1600" dirty="0"/>
          </a:p>
        </p:txBody>
      </p:sp>
      <p:sp>
        <p:nvSpPr>
          <p:cNvPr id="25" name="qr-fond-demo"/>
          <p:cNvSpPr/>
          <p:nvPr/>
        </p:nvSpPr>
        <p:spPr>
          <a:xfrm>
            <a:off x="8823960" y="2057400"/>
            <a:ext cx="1828800" cy="1828800"/>
          </a:xfrm>
          <a:prstGeom prst="rect">
            <a:avLst/>
          </a:prstGeom>
          <a:solidFill>
            <a:srgbClr val="FFFFFF"/>
          </a:solidFill>
          <a:ln w="12700">
            <a:solidFill>
              <a:srgbClr val="FFFFFF"/>
            </a:solidFill>
            <a:prstDash val="solid"/>
          </a:ln>
        </p:spPr>
      </p:sp>
      <p:pic>
        <p:nvPicPr>
          <p:cNvPr id="26" name="qr-demo-2" descr="QR code vers la démo en ligne">    </p:cNvPr>
          <p:cNvPicPr>
            <a:picLocks noChangeAspect="1"/>
          </p:cNvPicPr>
          <p:nvPr/>
        </p:nvPicPr>
        <p:blipFill>
          <a:blip r:embed="rId1"/>
          <a:stretch>
            <a:fillRect/>
          </a:stretch>
        </p:blipFill>
        <p:spPr>
          <a:xfrm>
            <a:off x="8915400" y="2148840"/>
            <a:ext cx="1645920" cy="1645920"/>
          </a:xfrm>
          <a:prstGeom prst="rect">
            <a:avLst/>
          </a:prstGeom>
        </p:spPr>
      </p:pic>
      <p:sp>
        <p:nvSpPr>
          <p:cNvPr id="27" name="Text 24"/>
          <p:cNvSpPr txBox="1"/>
          <p:nvPr/>
        </p:nvSpPr>
        <p:spPr>
          <a:xfrm>
            <a:off x="8092440" y="4069080"/>
            <a:ext cx="329184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Plan B si la démo coince</a:t>
            </a:r>
            <a:endParaRPr lang="en-US" sz="1400" dirty="0"/>
          </a:p>
        </p:txBody>
      </p:sp>
      <p:sp>
        <p:nvSpPr>
          <p:cNvPr id="28" name="Text 25"/>
          <p:cNvSpPr txBox="1"/>
          <p:nvPr/>
        </p:nvSpPr>
        <p:spPr>
          <a:xfrm>
            <a:off x="8092440" y="4434840"/>
            <a:ext cx="3337560" cy="128016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latin typeface="Calibri" pitchFamily="34" charset="0"/>
                <a:ea typeface="Calibri" pitchFamily="34" charset="-122"/>
                <a:cs typeface="Calibri" pitchFamily="34" charset="-120"/>
              </a:rPr>
              <a:t>Retirer ?moteur=hybride de l'adresse : retour au processeur.</a:t>
            </a:r>
            <a:endParaRPr lang="en-US" sz="1300" dirty="0"/>
          </a:p>
          <a:p>
            <a:pPr marL="342900" indent="-342900">
              <a:buSzPct val="100000"/>
              <a:buChar char="•"/>
            </a:pPr>
            <a:r>
              <a:rPr lang="en-US" sz="1300" dirty="0">
                <a:solidFill>
                  <a:schemeClr val="tx1"/>
                </a:solidFill>
                <a:latin typeface="Calibri" pitchFamily="34" charset="0"/>
                <a:ea typeface="Calibri" pitchFamily="34" charset="-122"/>
                <a:cs typeface="Calibri" pitchFamily="34" charset="-120"/>
              </a:rPr>
              <a:t>Importer la sauvegarde JSON préparée.</a:t>
            </a:r>
            <a:endParaRPr lang="en-US" sz="1300" dirty="0"/>
          </a:p>
          <a:p>
            <a:pPr marL="342900" indent="-342900">
              <a:buSzPct val="100000"/>
              <a:buChar char="•"/>
            </a:pPr>
            <a:r>
              <a:rPr lang="en-US" sz="1300" dirty="0">
                <a:solidFill>
                  <a:schemeClr val="tx1"/>
                </a:solidFill>
                <a:latin typeface="Calibri" pitchFamily="34" charset="0"/>
                <a:ea typeface="Calibri" pitchFamily="34" charset="-122"/>
                <a:cs typeface="Calibri" pitchFamily="34" charset="-120"/>
              </a:rPr>
              <a:t>Diapositive suivante : le parcours en images.</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Le parcours en images</a:t>
            </a:r>
            <a:endParaRPr lang="en-US" sz="3000" dirty="0"/>
          </a:p>
        </p:txBody>
      </p:sp>
      <p:pic>
        <p:nvPicPr>
          <p:cNvPr id="3" name="vue-0" descr="Page Clients en cours de capture">    </p:cNvPr>
          <p:cNvPicPr>
            <a:picLocks noChangeAspect="1"/>
          </p:cNvPicPr>
          <p:nvPr/>
        </p:nvPicPr>
        <p:blipFill>
          <a:blip r:embed="rId1"/>
          <a:stretch>
            <a:fillRect/>
          </a:stretch>
        </p:blipFill>
        <p:spPr>
          <a:xfrm>
            <a:off x="548640" y="1371600"/>
            <a:ext cx="7162495" cy="4028904"/>
          </a:xfrm>
          <a:prstGeom prst="rect">
            <a:avLst/>
          </a:prstGeom>
          <a:effectLst>
            <a:outerShdw sx="100000" sy="100000" kx="0" ky="0" algn="bl" rotWithShape="0" blurRad="76200" dist="25400" dir="5400000">
              <a:srgbClr val="000000">
                <a:alpha val="18000"/>
              </a:srgbClr>
            </a:outerShdw>
          </a:effectLst>
        </p:spPr>
      </p:pic>
      <p:sp>
        <p:nvSpPr>
          <p:cNvPr id="4" name="Text 1"/>
          <p:cNvSpPr txBox="1"/>
          <p:nvPr/>
        </p:nvSpPr>
        <p:spPr>
          <a:xfrm>
            <a:off x="548640" y="5510232"/>
            <a:ext cx="7162495"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1. Consentement, puis capture guidée en 5 poses</a:t>
            </a:r>
            <a:endParaRPr lang="en-US" sz="1400" dirty="0"/>
          </a:p>
        </p:txBody>
      </p:sp>
      <p:sp>
        <p:nvSpPr>
          <p:cNvPr id="5" name="Text 2"/>
          <p:cNvSpPr txBox="1"/>
          <p:nvPr/>
        </p:nvSpPr>
        <p:spPr>
          <a:xfrm>
            <a:off x="548640" y="5870448"/>
            <a:ext cx="7162495" cy="27432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La reconnaissance elle-même est en diapositive 3. Captures réalisées avec une caméra simulée, visages pixélisés.</a:t>
            </a:r>
            <a:endParaRPr lang="en-US" sz="1100" dirty="0"/>
          </a:p>
        </p:txBody>
      </p:sp>
      <p:pic>
        <p:nvPicPr>
          <p:cNvPr id="6" name="vue-1" descr="Formulaire de fiche client">    </p:cNvPr>
          <p:cNvPicPr>
            <a:picLocks noChangeAspect="1"/>
          </p:cNvPicPr>
          <p:nvPr/>
        </p:nvPicPr>
        <p:blipFill>
          <a:blip r:embed="rId2"/>
          <a:stretch>
            <a:fillRect/>
          </a:stretch>
        </p:blipFill>
        <p:spPr>
          <a:xfrm>
            <a:off x="8031175" y="1371600"/>
            <a:ext cx="3611880" cy="2031683"/>
          </a:xfrm>
          <a:prstGeom prst="rect">
            <a:avLst/>
          </a:prstGeom>
          <a:effectLst>
            <a:outerShdw sx="100000" sy="100000" kx="0" ky="0" algn="bl" rotWithShape="0" blurRad="76200" dist="25400" dir="5400000">
              <a:srgbClr val="000000">
                <a:alpha val="18000"/>
              </a:srgbClr>
            </a:outerShdw>
          </a:effectLst>
        </p:spPr>
      </p:pic>
      <p:sp>
        <p:nvSpPr>
          <p:cNvPr id="7" name="Text 3"/>
          <p:cNvSpPr txBox="1"/>
          <p:nvPr/>
        </p:nvSpPr>
        <p:spPr>
          <a:xfrm>
            <a:off x="8031175" y="3494723"/>
            <a:ext cx="36118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2. Fiche : préférences, achats, rendez-vous</a:t>
            </a:r>
            <a:endParaRPr lang="en-US" sz="1300" dirty="0"/>
          </a:p>
        </p:txBody>
      </p:sp>
      <p:pic>
        <p:nvPicPr>
          <p:cNvPr id="8" name="vue-2" descr="Tableau de bord des indicateurs">    </p:cNvPr>
          <p:cNvPicPr>
            <a:picLocks noChangeAspect="1"/>
          </p:cNvPicPr>
          <p:nvPr/>
        </p:nvPicPr>
        <p:blipFill>
          <a:blip r:embed="rId3"/>
          <a:stretch>
            <a:fillRect/>
          </a:stretch>
        </p:blipFill>
        <p:spPr>
          <a:xfrm>
            <a:off x="8031175" y="3794760"/>
            <a:ext cx="3611880" cy="2031683"/>
          </a:xfrm>
          <a:prstGeom prst="rect">
            <a:avLst/>
          </a:prstGeom>
          <a:effectLst>
            <a:outerShdw sx="100000" sy="100000" kx="0" ky="0" algn="bl" rotWithShape="0" blurRad="76200" dist="25400" dir="5400000">
              <a:srgbClr val="000000">
                <a:alpha val="18000"/>
              </a:srgbClr>
            </a:outerShdw>
          </a:effectLst>
        </p:spPr>
      </p:pic>
      <p:sp>
        <p:nvSpPr>
          <p:cNvPr id="9" name="Text 4"/>
          <p:cNvSpPr txBox="1"/>
          <p:nvPr/>
        </p:nvSpPr>
        <p:spPr>
          <a:xfrm>
            <a:off x="8031175" y="5917883"/>
            <a:ext cx="36118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3. Indicateurs mesurés pendant la démo</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Limites techniques et pistes d'amélioration</a:t>
            </a:r>
            <a:endParaRPr lang="en-US" sz="3000" dirty="0"/>
          </a:p>
        </p:txBody>
      </p:sp>
      <p:sp>
        <p:nvSpPr>
          <p:cNvPr id="3" name="Text 1"/>
          <p:cNvSpPr txBox="1"/>
          <p:nvPr/>
        </p:nvSpPr>
        <p:spPr>
          <a:xfrm>
            <a:off x="548640" y="1417320"/>
            <a:ext cx="5394960" cy="36576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Limite constatée</a:t>
            </a:r>
            <a:endParaRPr lang="en-US" sz="1500" dirty="0"/>
          </a:p>
        </p:txBody>
      </p:sp>
      <p:sp>
        <p:nvSpPr>
          <p:cNvPr id="4" name="Text 2"/>
          <p:cNvSpPr txBox="1"/>
          <p:nvPr/>
        </p:nvSpPr>
        <p:spPr>
          <a:xfrm>
            <a:off x="6263640" y="1417320"/>
            <a:ext cx="5394960" cy="365760"/>
          </a:xfrm>
          <a:prstGeom prst="rect">
            <a:avLst/>
          </a:prstGeom>
          <a:noFill/>
          <a:ln/>
        </p:spPr>
        <p:txBody>
          <a:bodyPr wrap="square" lIns="0" tIns="0" rIns="0" bIns="0" rtlCol="0" anchor="t"/>
          <a:lstStyle/>
          <a:p>
            <a:pPr indent="0" marL="0">
              <a:buNone/>
            </a:pPr>
            <a:r>
              <a:rPr lang="en-US" sz="1500" b="1" dirty="0">
                <a:solidFill>
                  <a:schemeClr val="accent6"/>
                </a:solidFill>
                <a:latin typeface="Calibri" pitchFamily="34" charset="0"/>
                <a:ea typeface="Calibri" pitchFamily="34" charset="-122"/>
                <a:cs typeface="Calibri" pitchFamily="34" charset="-120"/>
              </a:rPr>
              <a:t>Amélioration possible</a:t>
            </a:r>
            <a:endParaRPr lang="en-US" sz="1500" dirty="0"/>
          </a:p>
        </p:txBody>
      </p:sp>
      <p:sp>
        <p:nvSpPr>
          <p:cNvPr id="5" name="limite-0"/>
          <p:cNvSpPr/>
          <p:nvPr/>
        </p:nvSpPr>
        <p:spPr>
          <a:xfrm>
            <a:off x="548640" y="1874520"/>
            <a:ext cx="11094415" cy="603504"/>
          </a:xfrm>
          <a:prstGeom prst="roundRect">
            <a:avLst>
              <a:gd name="adj" fmla="val 18182"/>
            </a:avLst>
          </a:prstGeom>
          <a:solidFill>
            <a:schemeClr val="bg2"/>
          </a:solidFill>
          <a:ln w="12700">
            <a:solidFill>
              <a:schemeClr val="bg2"/>
            </a:solidFill>
            <a:prstDash val="solid"/>
          </a:ln>
        </p:spPr>
      </p:sp>
      <p:sp>
        <p:nvSpPr>
          <p:cNvPr id="6" name="Text 4"/>
          <p:cNvSpPr txBox="1"/>
          <p:nvPr/>
        </p:nvSpPr>
        <p:spPr>
          <a:xfrm>
            <a:off x="777240" y="1965960"/>
            <a:ext cx="51206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Évaluation sur 6 identités et une seule photo par personne</a:t>
            </a:r>
            <a:endParaRPr lang="en-US" sz="1400" dirty="0"/>
          </a:p>
        </p:txBody>
      </p:sp>
      <p:sp>
        <p:nvSpPr>
          <p:cNvPr id="7" name="limite-fleche-0"/>
          <p:cNvSpPr/>
          <p:nvPr/>
        </p:nvSpPr>
        <p:spPr>
          <a:xfrm>
            <a:off x="5715000" y="2176272"/>
            <a:ext cx="411480" cy="0"/>
          </a:xfrm>
          <a:prstGeom prst="line">
            <a:avLst/>
          </a:prstGeom>
          <a:noFill/>
          <a:ln w="19050">
            <a:solidFill>
              <a:schemeClr val="accent1"/>
            </a:solidFill>
            <a:prstDash val="solid"/>
            <a:tailEnd type="triangle"/>
          </a:ln>
        </p:spPr>
      </p:sp>
      <p:sp>
        <p:nvSpPr>
          <p:cNvPr id="8" name="Text 6"/>
          <p:cNvSpPr txBox="1"/>
          <p:nvPr/>
        </p:nvSpPr>
        <p:spPr>
          <a:xfrm>
            <a:off x="6263640" y="1965960"/>
            <a:ext cx="525780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Tester sur un panel volontaire, plusieurs jours, lunettes, coiffures</a:t>
            </a:r>
            <a:endParaRPr lang="en-US" sz="1400" dirty="0"/>
          </a:p>
        </p:txBody>
      </p:sp>
      <p:sp>
        <p:nvSpPr>
          <p:cNvPr id="9" name="limite-1"/>
          <p:cNvSpPr/>
          <p:nvPr/>
        </p:nvSpPr>
        <p:spPr>
          <a:xfrm>
            <a:off x="548640" y="2587752"/>
            <a:ext cx="11094415" cy="603504"/>
          </a:xfrm>
          <a:prstGeom prst="roundRect">
            <a:avLst>
              <a:gd name="adj" fmla="val 18182"/>
            </a:avLst>
          </a:prstGeom>
          <a:solidFill>
            <a:schemeClr val="bg2"/>
          </a:solidFill>
          <a:ln w="12700">
            <a:solidFill>
              <a:schemeClr val="bg2"/>
            </a:solidFill>
            <a:prstDash val="solid"/>
          </a:ln>
        </p:spPr>
      </p:sp>
      <p:sp>
        <p:nvSpPr>
          <p:cNvPr id="10" name="Text 8"/>
          <p:cNvSpPr txBox="1"/>
          <p:nvPr/>
        </p:nvSpPr>
        <p:spPr>
          <a:xfrm>
            <a:off x="777240" y="2679192"/>
            <a:ext cx="51206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Aucune détection de fraude (photo d'une photo)</a:t>
            </a:r>
            <a:endParaRPr lang="en-US" sz="1400" dirty="0"/>
          </a:p>
        </p:txBody>
      </p:sp>
      <p:sp>
        <p:nvSpPr>
          <p:cNvPr id="11" name="limite-fleche-1"/>
          <p:cNvSpPr/>
          <p:nvPr/>
        </p:nvSpPr>
        <p:spPr>
          <a:xfrm>
            <a:off x="5715000" y="2889504"/>
            <a:ext cx="411480" cy="0"/>
          </a:xfrm>
          <a:prstGeom prst="line">
            <a:avLst/>
          </a:prstGeom>
          <a:noFill/>
          <a:ln w="19050">
            <a:solidFill>
              <a:schemeClr val="accent1"/>
            </a:solidFill>
            <a:prstDash val="solid"/>
            <a:tailEnd type="triangle"/>
          </a:ln>
        </p:spPr>
      </p:sp>
      <p:sp>
        <p:nvSpPr>
          <p:cNvPr id="12" name="Text 10"/>
          <p:cNvSpPr txBox="1"/>
          <p:nvPr/>
        </p:nvSpPr>
        <p:spPr>
          <a:xfrm>
            <a:off x="6263640" y="2679192"/>
            <a:ext cx="525780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Ajouter une détection de vivacité (clignement, profondeur)</a:t>
            </a:r>
            <a:endParaRPr lang="en-US" sz="1400" dirty="0"/>
          </a:p>
        </p:txBody>
      </p:sp>
      <p:sp>
        <p:nvSpPr>
          <p:cNvPr id="13" name="limite-2"/>
          <p:cNvSpPr/>
          <p:nvPr/>
        </p:nvSpPr>
        <p:spPr>
          <a:xfrm>
            <a:off x="548640" y="3300984"/>
            <a:ext cx="11094415" cy="603504"/>
          </a:xfrm>
          <a:prstGeom prst="roundRect">
            <a:avLst>
              <a:gd name="adj" fmla="val 18182"/>
            </a:avLst>
          </a:prstGeom>
          <a:solidFill>
            <a:schemeClr val="bg2"/>
          </a:solidFill>
          <a:ln w="12700">
            <a:solidFill>
              <a:schemeClr val="bg2"/>
            </a:solidFill>
            <a:prstDash val="solid"/>
          </a:ln>
        </p:spPr>
      </p:sp>
      <p:sp>
        <p:nvSpPr>
          <p:cNvPr id="14" name="Text 12"/>
          <p:cNvSpPr txBox="1"/>
          <p:nvPr/>
        </p:nvSpPr>
        <p:spPr>
          <a:xfrm>
            <a:off x="777240" y="3392424"/>
            <a:ext cx="51206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Base stockée dans un seul navigateur</a:t>
            </a:r>
            <a:endParaRPr lang="en-US" sz="1400" dirty="0"/>
          </a:p>
        </p:txBody>
      </p:sp>
      <p:sp>
        <p:nvSpPr>
          <p:cNvPr id="15" name="limite-fleche-2"/>
          <p:cNvSpPr/>
          <p:nvPr/>
        </p:nvSpPr>
        <p:spPr>
          <a:xfrm>
            <a:off x="5715000" y="3602736"/>
            <a:ext cx="411480" cy="0"/>
          </a:xfrm>
          <a:prstGeom prst="line">
            <a:avLst/>
          </a:prstGeom>
          <a:noFill/>
          <a:ln w="19050">
            <a:solidFill>
              <a:schemeClr val="accent1"/>
            </a:solidFill>
            <a:prstDash val="solid"/>
            <a:tailEnd type="triangle"/>
          </a:ln>
        </p:spPr>
      </p:sp>
      <p:sp>
        <p:nvSpPr>
          <p:cNvPr id="16" name="Text 14"/>
          <p:cNvSpPr txBox="1"/>
          <p:nvPr/>
        </p:nvSpPr>
        <p:spPr>
          <a:xfrm>
            <a:off x="6263640" y="3392424"/>
            <a:ext cx="525780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Base partagée et chiffrée entre les postes de la boutique</a:t>
            </a:r>
            <a:endParaRPr lang="en-US" sz="1400" dirty="0"/>
          </a:p>
        </p:txBody>
      </p:sp>
      <p:sp>
        <p:nvSpPr>
          <p:cNvPr id="17" name="limite-3"/>
          <p:cNvSpPr/>
          <p:nvPr/>
        </p:nvSpPr>
        <p:spPr>
          <a:xfrm>
            <a:off x="548640" y="4014216"/>
            <a:ext cx="11094415" cy="603504"/>
          </a:xfrm>
          <a:prstGeom prst="roundRect">
            <a:avLst>
              <a:gd name="adj" fmla="val 18182"/>
            </a:avLst>
          </a:prstGeom>
          <a:solidFill>
            <a:schemeClr val="bg2"/>
          </a:solidFill>
          <a:ln w="12700">
            <a:solidFill>
              <a:schemeClr val="bg2"/>
            </a:solidFill>
            <a:prstDash val="solid"/>
          </a:ln>
        </p:spPr>
      </p:sp>
      <p:sp>
        <p:nvSpPr>
          <p:cNvPr id="18" name="Text 16"/>
          <p:cNvSpPr txBox="1"/>
          <p:nvPr/>
        </p:nvSpPr>
        <p:spPr>
          <a:xfrm>
            <a:off x="777240" y="4105656"/>
            <a:ext cx="51206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Poses guidées mais non vérifiées à l'enrôlement</a:t>
            </a:r>
            <a:endParaRPr lang="en-US" sz="1400" dirty="0"/>
          </a:p>
        </p:txBody>
      </p:sp>
      <p:sp>
        <p:nvSpPr>
          <p:cNvPr id="19" name="limite-fleche-3"/>
          <p:cNvSpPr/>
          <p:nvPr/>
        </p:nvSpPr>
        <p:spPr>
          <a:xfrm>
            <a:off x="5715000" y="4315968"/>
            <a:ext cx="411480" cy="0"/>
          </a:xfrm>
          <a:prstGeom prst="line">
            <a:avLst/>
          </a:prstGeom>
          <a:noFill/>
          <a:ln w="19050">
            <a:solidFill>
              <a:schemeClr val="accent1"/>
            </a:solidFill>
            <a:prstDash val="solid"/>
            <a:tailEnd type="triangle"/>
          </a:ln>
        </p:spPr>
      </p:sp>
      <p:sp>
        <p:nvSpPr>
          <p:cNvPr id="20" name="Text 18"/>
          <p:cNvSpPr txBox="1"/>
          <p:nvPr/>
        </p:nvSpPr>
        <p:spPr>
          <a:xfrm>
            <a:off x="6263640" y="4105656"/>
            <a:ext cx="525780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Contrôler l'angle de la tête à partir des points du visage</a:t>
            </a:r>
            <a:endParaRPr lang="en-US" sz="1400" dirty="0"/>
          </a:p>
        </p:txBody>
      </p:sp>
      <p:sp>
        <p:nvSpPr>
          <p:cNvPr id="21" name="limite-4"/>
          <p:cNvSpPr/>
          <p:nvPr/>
        </p:nvSpPr>
        <p:spPr>
          <a:xfrm>
            <a:off x="548640" y="4727448"/>
            <a:ext cx="11094415" cy="603504"/>
          </a:xfrm>
          <a:prstGeom prst="roundRect">
            <a:avLst>
              <a:gd name="adj" fmla="val 18182"/>
            </a:avLst>
          </a:prstGeom>
          <a:solidFill>
            <a:schemeClr val="bg2"/>
          </a:solidFill>
          <a:ln w="12700">
            <a:solidFill>
              <a:schemeClr val="bg2"/>
            </a:solidFill>
            <a:prstDash val="solid"/>
          </a:ln>
        </p:spPr>
      </p:sp>
      <p:sp>
        <p:nvSpPr>
          <p:cNvPr id="22" name="Text 20"/>
          <p:cNvSpPr txBox="1"/>
          <p:nvPr/>
        </p:nvSpPr>
        <p:spPr>
          <a:xfrm>
            <a:off x="777240" y="4818888"/>
            <a:ext cx="51206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132 ms par analyse, calcul sur un seul cœur</a:t>
            </a:r>
            <a:endParaRPr lang="en-US" sz="1400" dirty="0"/>
          </a:p>
        </p:txBody>
      </p:sp>
      <p:sp>
        <p:nvSpPr>
          <p:cNvPr id="23" name="limite-fleche-4"/>
          <p:cNvSpPr/>
          <p:nvPr/>
        </p:nvSpPr>
        <p:spPr>
          <a:xfrm>
            <a:off x="5715000" y="5029200"/>
            <a:ext cx="411480" cy="0"/>
          </a:xfrm>
          <a:prstGeom prst="line">
            <a:avLst/>
          </a:prstGeom>
          <a:noFill/>
          <a:ln w="19050">
            <a:solidFill>
              <a:schemeClr val="accent1"/>
            </a:solidFill>
            <a:prstDash val="solid"/>
            <a:tailEnd type="triangle"/>
          </a:ln>
        </p:spPr>
      </p:sp>
      <p:sp>
        <p:nvSpPr>
          <p:cNvPr id="24" name="Text 22"/>
          <p:cNvSpPr txBox="1"/>
          <p:nvPr/>
        </p:nvSpPr>
        <p:spPr>
          <a:xfrm>
            <a:off x="6263640" y="4818888"/>
            <a:ext cx="525780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Activer le multicœur (en-têtes du site) et un modèle optimisé</a:t>
            </a:r>
            <a:endParaRPr lang="en-US" sz="1400" dirty="0"/>
          </a:p>
        </p:txBody>
      </p:sp>
      <p:sp>
        <p:nvSpPr>
          <p:cNvPr id="25" name="limite-5"/>
          <p:cNvSpPr/>
          <p:nvPr/>
        </p:nvSpPr>
        <p:spPr>
          <a:xfrm>
            <a:off x="548640" y="5440680"/>
            <a:ext cx="11094415" cy="603504"/>
          </a:xfrm>
          <a:prstGeom prst="roundRect">
            <a:avLst>
              <a:gd name="adj" fmla="val 18182"/>
            </a:avLst>
          </a:prstGeom>
          <a:solidFill>
            <a:schemeClr val="bg2"/>
          </a:solidFill>
          <a:ln w="12700">
            <a:solidFill>
              <a:schemeClr val="bg2"/>
            </a:solidFill>
            <a:prstDash val="solid"/>
          </a:ln>
        </p:spPr>
      </p:sp>
      <p:sp>
        <p:nvSpPr>
          <p:cNvPr id="26" name="Text 24"/>
          <p:cNvSpPr txBox="1"/>
          <p:nvPr/>
        </p:nvSpPr>
        <p:spPr>
          <a:xfrm>
            <a:off x="777240" y="5532120"/>
            <a:ext cx="512064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Distance utile d'environ 2 m, sensible au flou</a:t>
            </a:r>
            <a:endParaRPr lang="en-US" sz="1400" dirty="0"/>
          </a:p>
        </p:txBody>
      </p:sp>
      <p:sp>
        <p:nvSpPr>
          <p:cNvPr id="27" name="limite-fleche-5"/>
          <p:cNvSpPr/>
          <p:nvPr/>
        </p:nvSpPr>
        <p:spPr>
          <a:xfrm>
            <a:off x="5715000" y="5742432"/>
            <a:ext cx="411480" cy="0"/>
          </a:xfrm>
          <a:prstGeom prst="line">
            <a:avLst/>
          </a:prstGeom>
          <a:noFill/>
          <a:ln w="19050">
            <a:solidFill>
              <a:schemeClr val="accent1"/>
            </a:solidFill>
            <a:prstDash val="solid"/>
            <a:tailEnd type="triangle"/>
          </a:ln>
        </p:spPr>
      </p:sp>
      <p:sp>
        <p:nvSpPr>
          <p:cNvPr id="28" name="Text 26"/>
          <p:cNvSpPr txBox="1"/>
          <p:nvPr/>
        </p:nvSpPr>
        <p:spPr>
          <a:xfrm>
            <a:off x="6263640" y="5532120"/>
            <a:ext cx="5257800" cy="4572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Caméra mieux placée, plus résolue, éclairage de face</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Côté légal, la biométrie est le vrai sujet</a:t>
            </a:r>
            <a:endParaRPr lang="en-US" sz="3000" dirty="0"/>
          </a:p>
        </p:txBody>
      </p:sp>
      <p:sp>
        <p:nvSpPr>
          <p:cNvPr id="3" name="legal-0"/>
          <p:cNvSpPr/>
          <p:nvPr/>
        </p:nvSpPr>
        <p:spPr>
          <a:xfrm>
            <a:off x="548640" y="1463040"/>
            <a:ext cx="5364328" cy="1828800"/>
          </a:xfrm>
          <a:prstGeom prst="roundRect">
            <a:avLst>
              <a:gd name="adj" fmla="val 6000"/>
            </a:avLst>
          </a:prstGeom>
          <a:solidFill>
            <a:schemeClr val="bg2"/>
          </a:solidFill>
          <a:ln w="12700">
            <a:solidFill>
              <a:schemeClr val="bg2"/>
            </a:solidFill>
            <a:prstDash val="solid"/>
          </a:ln>
        </p:spPr>
      </p:sp>
      <p:sp>
        <p:nvSpPr>
          <p:cNvPr id="4" name="legal-0-cercle"/>
          <p:cNvSpPr/>
          <p:nvPr/>
        </p:nvSpPr>
        <p:spPr>
          <a:xfrm>
            <a:off x="822960" y="1737360"/>
            <a:ext cx="640080" cy="640080"/>
          </a:xfrm>
          <a:prstGeom prst="ellipse">
            <a:avLst/>
          </a:prstGeom>
          <a:solidFill>
            <a:schemeClr val="bg1"/>
          </a:solidFill>
          <a:ln w="12700">
            <a:solidFill>
              <a:schemeClr val="bg1"/>
            </a:solidFill>
            <a:prstDash val="solid"/>
          </a:ln>
        </p:spPr>
      </p:sp>
      <p:pic>
        <p:nvPicPr>
          <p:cNvPr id="5" name="legal-0-icone" descr="preencoded.png">    </p:cNvPr>
          <p:cNvPicPr>
            <a:picLocks noChangeAspect="1"/>
          </p:cNvPicPr>
          <p:nvPr/>
        </p:nvPicPr>
        <p:blipFill>
          <a:blip r:embed="rId1"/>
          <a:stretch>
            <a:fillRect/>
          </a:stretch>
        </p:blipFill>
        <p:spPr>
          <a:xfrm>
            <a:off x="976579" y="1890979"/>
            <a:ext cx="332842" cy="332842"/>
          </a:xfrm>
          <a:prstGeom prst="rect">
            <a:avLst/>
          </a:prstGeom>
        </p:spPr>
      </p:pic>
      <p:sp>
        <p:nvSpPr>
          <p:cNvPr id="6" name="Text 3"/>
          <p:cNvSpPr txBox="1"/>
          <p:nvPr/>
        </p:nvSpPr>
        <p:spPr>
          <a:xfrm>
            <a:off x="1645920" y="1755648"/>
            <a:ext cx="403844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RGPD, article 9</a:t>
            </a:r>
            <a:endParaRPr lang="en-US" sz="1800" dirty="0"/>
          </a:p>
        </p:txBody>
      </p:sp>
      <p:sp>
        <p:nvSpPr>
          <p:cNvPr id="7" name="Text 4"/>
          <p:cNvSpPr txBox="1"/>
          <p:nvPr/>
        </p:nvSpPr>
        <p:spPr>
          <a:xfrm>
            <a:off x="1645920" y="2194560"/>
            <a:ext cx="4038448" cy="10515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Les données biométriques sont interdites par principe. Exception utilisable : un consentement explicite et libre, donc une alternative sans visage doit exister.</a:t>
            </a:r>
            <a:endParaRPr lang="en-US" sz="1300" dirty="0"/>
          </a:p>
        </p:txBody>
      </p:sp>
      <p:sp>
        <p:nvSpPr>
          <p:cNvPr id="8" name="legal-1"/>
          <p:cNvSpPr/>
          <p:nvPr/>
        </p:nvSpPr>
        <p:spPr>
          <a:xfrm>
            <a:off x="6278728" y="1463040"/>
            <a:ext cx="5364328" cy="1828800"/>
          </a:xfrm>
          <a:prstGeom prst="roundRect">
            <a:avLst>
              <a:gd name="adj" fmla="val 6000"/>
            </a:avLst>
          </a:prstGeom>
          <a:solidFill>
            <a:schemeClr val="bg2"/>
          </a:solidFill>
          <a:ln w="12700">
            <a:solidFill>
              <a:schemeClr val="bg2"/>
            </a:solidFill>
            <a:prstDash val="solid"/>
          </a:ln>
        </p:spPr>
      </p:sp>
      <p:sp>
        <p:nvSpPr>
          <p:cNvPr id="9" name="legal-1-cercle"/>
          <p:cNvSpPr/>
          <p:nvPr/>
        </p:nvSpPr>
        <p:spPr>
          <a:xfrm>
            <a:off x="6553048" y="1737360"/>
            <a:ext cx="640080" cy="640080"/>
          </a:xfrm>
          <a:prstGeom prst="ellipse">
            <a:avLst/>
          </a:prstGeom>
          <a:solidFill>
            <a:schemeClr val="bg1"/>
          </a:solidFill>
          <a:ln w="12700">
            <a:solidFill>
              <a:schemeClr val="bg1"/>
            </a:solidFill>
            <a:prstDash val="solid"/>
          </a:ln>
        </p:spPr>
      </p:sp>
      <p:pic>
        <p:nvPicPr>
          <p:cNvPr id="10" name="legal-1-icone" descr="preencoded.png">    </p:cNvPr>
          <p:cNvPicPr>
            <a:picLocks noChangeAspect="1"/>
          </p:cNvPicPr>
          <p:nvPr/>
        </p:nvPicPr>
        <p:blipFill>
          <a:blip r:embed="rId2"/>
          <a:stretch>
            <a:fillRect/>
          </a:stretch>
        </p:blipFill>
        <p:spPr>
          <a:xfrm>
            <a:off x="6706667" y="1890979"/>
            <a:ext cx="332842" cy="332842"/>
          </a:xfrm>
          <a:prstGeom prst="rect">
            <a:avLst/>
          </a:prstGeom>
        </p:spPr>
      </p:pic>
      <p:sp>
        <p:nvSpPr>
          <p:cNvPr id="11" name="Text 7"/>
          <p:cNvSpPr txBox="1"/>
          <p:nvPr/>
        </p:nvSpPr>
        <p:spPr>
          <a:xfrm>
            <a:off x="7376008" y="1755648"/>
            <a:ext cx="403844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AI Act européen</a:t>
            </a:r>
            <a:endParaRPr lang="en-US" sz="1800" dirty="0"/>
          </a:p>
        </p:txBody>
      </p:sp>
      <p:sp>
        <p:nvSpPr>
          <p:cNvPr id="12" name="Text 8"/>
          <p:cNvSpPr txBox="1"/>
          <p:nvPr/>
        </p:nvSpPr>
        <p:spPr>
          <a:xfrm>
            <a:off x="7376008" y="2194560"/>
            <a:ext cx="4038448" cy="10515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L'identification biométrique à distance est classée « haut risque » (annexe III). Obligations reportées au 2 décembre 2027 par l'accord Omnibus de juin 2026.</a:t>
            </a:r>
            <a:endParaRPr lang="en-US" sz="1300" dirty="0"/>
          </a:p>
        </p:txBody>
      </p:sp>
      <p:sp>
        <p:nvSpPr>
          <p:cNvPr id="13" name="legal-2"/>
          <p:cNvSpPr/>
          <p:nvPr/>
        </p:nvSpPr>
        <p:spPr>
          <a:xfrm>
            <a:off x="548640" y="3520440"/>
            <a:ext cx="5364328" cy="1828800"/>
          </a:xfrm>
          <a:prstGeom prst="roundRect">
            <a:avLst>
              <a:gd name="adj" fmla="val 6000"/>
            </a:avLst>
          </a:prstGeom>
          <a:solidFill>
            <a:schemeClr val="bg2"/>
          </a:solidFill>
          <a:ln w="12700">
            <a:solidFill>
              <a:schemeClr val="bg2"/>
            </a:solidFill>
            <a:prstDash val="solid"/>
          </a:ln>
        </p:spPr>
      </p:sp>
      <p:sp>
        <p:nvSpPr>
          <p:cNvPr id="14" name="legal-2-cercle"/>
          <p:cNvSpPr/>
          <p:nvPr/>
        </p:nvSpPr>
        <p:spPr>
          <a:xfrm>
            <a:off x="822960" y="3794760"/>
            <a:ext cx="640080" cy="640080"/>
          </a:xfrm>
          <a:prstGeom prst="ellipse">
            <a:avLst/>
          </a:prstGeom>
          <a:solidFill>
            <a:schemeClr val="bg1"/>
          </a:solidFill>
          <a:ln w="12700">
            <a:solidFill>
              <a:schemeClr val="bg1"/>
            </a:solidFill>
            <a:prstDash val="solid"/>
          </a:ln>
        </p:spPr>
      </p:sp>
      <p:pic>
        <p:nvPicPr>
          <p:cNvPr id="15" name="legal-2-icone" descr="preencoded.png">    </p:cNvPr>
          <p:cNvPicPr>
            <a:picLocks noChangeAspect="1"/>
          </p:cNvPicPr>
          <p:nvPr/>
        </p:nvPicPr>
        <p:blipFill>
          <a:blip r:embed="rId3"/>
          <a:stretch>
            <a:fillRect/>
          </a:stretch>
        </p:blipFill>
        <p:spPr>
          <a:xfrm>
            <a:off x="976579" y="3948379"/>
            <a:ext cx="332842" cy="332842"/>
          </a:xfrm>
          <a:prstGeom prst="rect">
            <a:avLst/>
          </a:prstGeom>
        </p:spPr>
      </p:pic>
      <p:sp>
        <p:nvSpPr>
          <p:cNvPr id="16" name="Text 11"/>
          <p:cNvSpPr txBox="1"/>
          <p:nvPr/>
        </p:nvSpPr>
        <p:spPr>
          <a:xfrm>
            <a:off x="1645920" y="3813048"/>
            <a:ext cx="403844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CNIL et analyse d'impact</a:t>
            </a:r>
            <a:endParaRPr lang="en-US" sz="1800" dirty="0"/>
          </a:p>
        </p:txBody>
      </p:sp>
      <p:sp>
        <p:nvSpPr>
          <p:cNvPr id="17" name="Text 12"/>
          <p:cNvSpPr txBox="1"/>
          <p:nvPr/>
        </p:nvSpPr>
        <p:spPr>
          <a:xfrm>
            <a:off x="1645920" y="4251960"/>
            <a:ext cx="4038448" cy="10515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Le consentement ne se présume pas en entrant en boutique. Une analyse d'impact (AIPD) est à mener avant tout déploiement.</a:t>
            </a:r>
            <a:endParaRPr lang="en-US" sz="1300" dirty="0"/>
          </a:p>
        </p:txBody>
      </p:sp>
      <p:sp>
        <p:nvSpPr>
          <p:cNvPr id="18" name="legal-3"/>
          <p:cNvSpPr/>
          <p:nvPr/>
        </p:nvSpPr>
        <p:spPr>
          <a:xfrm>
            <a:off x="6278728" y="3520440"/>
            <a:ext cx="5364328" cy="1828800"/>
          </a:xfrm>
          <a:prstGeom prst="roundRect">
            <a:avLst>
              <a:gd name="adj" fmla="val 6000"/>
            </a:avLst>
          </a:prstGeom>
          <a:solidFill>
            <a:schemeClr val="bg2"/>
          </a:solidFill>
          <a:ln w="12700">
            <a:solidFill>
              <a:schemeClr val="bg2"/>
            </a:solidFill>
            <a:prstDash val="solid"/>
          </a:ln>
        </p:spPr>
      </p:sp>
      <p:sp>
        <p:nvSpPr>
          <p:cNvPr id="19" name="legal-3-cercle"/>
          <p:cNvSpPr/>
          <p:nvPr/>
        </p:nvSpPr>
        <p:spPr>
          <a:xfrm>
            <a:off x="6553048" y="3794760"/>
            <a:ext cx="640080" cy="640080"/>
          </a:xfrm>
          <a:prstGeom prst="ellipse">
            <a:avLst/>
          </a:prstGeom>
          <a:solidFill>
            <a:schemeClr val="bg1"/>
          </a:solidFill>
          <a:ln w="12700">
            <a:solidFill>
              <a:schemeClr val="bg1"/>
            </a:solidFill>
            <a:prstDash val="solid"/>
          </a:ln>
        </p:spPr>
      </p:sp>
      <p:pic>
        <p:nvPicPr>
          <p:cNvPr id="20" name="legal-3-icone" descr="preencoded.png">    </p:cNvPr>
          <p:cNvPicPr>
            <a:picLocks noChangeAspect="1"/>
          </p:cNvPicPr>
          <p:nvPr/>
        </p:nvPicPr>
        <p:blipFill>
          <a:blip r:embed="rId4"/>
          <a:stretch>
            <a:fillRect/>
          </a:stretch>
        </p:blipFill>
        <p:spPr>
          <a:xfrm>
            <a:off x="6706667" y="3948379"/>
            <a:ext cx="332842" cy="332842"/>
          </a:xfrm>
          <a:prstGeom prst="rect">
            <a:avLst/>
          </a:prstGeom>
        </p:spPr>
      </p:pic>
      <p:sp>
        <p:nvSpPr>
          <p:cNvPr id="21" name="Text 15"/>
          <p:cNvSpPr txBox="1"/>
          <p:nvPr/>
        </p:nvSpPr>
        <p:spPr>
          <a:xfrm>
            <a:off x="7376008" y="3813048"/>
            <a:ext cx="403844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Licence des modèles</a:t>
            </a:r>
            <a:endParaRPr lang="en-US" sz="1800" dirty="0"/>
          </a:p>
        </p:txBody>
      </p:sp>
      <p:sp>
        <p:nvSpPr>
          <p:cNvPr id="22" name="Text 16"/>
          <p:cNvSpPr txBox="1"/>
          <p:nvPr/>
        </p:nvSpPr>
        <p:spPr>
          <a:xfrm>
            <a:off x="7376008" y="4251960"/>
            <a:ext cx="4038448" cy="10515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Les modèles InsightFace utilisés sont réservés à la recherche non commerciale. Un usage réel imposerait des modèles sous licence commerciale.</a:t>
            </a:r>
            <a:endParaRPr lang="en-US" sz="1300" dirty="0"/>
          </a:p>
        </p:txBody>
      </p:sp>
      <p:sp>
        <p:nvSpPr>
          <p:cNvPr id="23" name="Text 17"/>
          <p:cNvSpPr txBox="1"/>
          <p:nvPr/>
        </p:nvSpPr>
        <p:spPr>
          <a:xfrm>
            <a:off x="548640" y="5623560"/>
            <a:ext cx="11094415" cy="640080"/>
          </a:xfrm>
          <a:prstGeom prst="rect">
            <a:avLst/>
          </a:prstGeom>
          <a:noFill/>
          <a:ln/>
        </p:spPr>
        <p:txBody>
          <a:bodyPr wrap="square" lIns="0" tIns="0" rIns="0" bIns="0" rtlCol="0" anchor="t"/>
          <a:lstStyle/>
          <a:p>
            <a:pPr indent="0" marL="0">
              <a:buNone/>
            </a:pPr>
            <a:r>
              <a:rPr lang="en-US" sz="1200" i="1" dirty="0">
                <a:solidFill>
                  <a:schemeClr val="accent4"/>
                </a:solidFill>
                <a:latin typeface="Calibri" pitchFamily="34" charset="0"/>
                <a:ea typeface="Calibri" pitchFamily="34" charset="-122"/>
                <a:cs typeface="Calibri" pitchFamily="34" charset="-120"/>
              </a:rPr>
              <a:t>Ce que nous avons appliqué : consentement « J'ACCEPTE » daté avant toute capture, aucune photo conservée, visages inconnus jamais enregistrés, suppression à la demande. Analyse non exhaustive, à faire valider par un juriste.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Côté matériel, la caméra compte autant que le modèle</a:t>
            </a:r>
            <a:endParaRPr lang="en-US" sz="3000" dirty="0"/>
          </a:p>
        </p:txBody>
      </p:sp>
      <p:sp>
        <p:nvSpPr>
          <p:cNvPr id="3" name="materiel-0-cercle"/>
          <p:cNvSpPr/>
          <p:nvPr/>
        </p:nvSpPr>
        <p:spPr>
          <a:xfrm>
            <a:off x="548640" y="1463040"/>
            <a:ext cx="603504" cy="603504"/>
          </a:xfrm>
          <a:prstGeom prst="ellipse">
            <a:avLst/>
          </a:prstGeom>
          <a:solidFill>
            <a:schemeClr val="bg2"/>
          </a:solidFill>
          <a:ln w="12700">
            <a:solidFill>
              <a:schemeClr val="bg2"/>
            </a:solidFill>
            <a:prstDash val="solid"/>
          </a:ln>
        </p:spPr>
      </p:sp>
      <p:pic>
        <p:nvPicPr>
          <p:cNvPr id="4" name="materiel-0-icone" descr="preencoded.png">    </p:cNvPr>
          <p:cNvPicPr>
            <a:picLocks noChangeAspect="1"/>
          </p:cNvPicPr>
          <p:nvPr/>
        </p:nvPicPr>
        <p:blipFill>
          <a:blip r:embed="rId1"/>
          <a:stretch>
            <a:fillRect/>
          </a:stretch>
        </p:blipFill>
        <p:spPr>
          <a:xfrm>
            <a:off x="693481" y="1607881"/>
            <a:ext cx="313822" cy="313822"/>
          </a:xfrm>
          <a:prstGeom prst="rect">
            <a:avLst/>
          </a:prstGeom>
        </p:spPr>
      </p:pic>
      <p:sp>
        <p:nvSpPr>
          <p:cNvPr id="5" name="Text 2"/>
          <p:cNvSpPr txBox="1"/>
          <p:nvPr/>
        </p:nvSpPr>
        <p:spPr>
          <a:xfrm>
            <a:off x="1371600" y="1499616"/>
            <a:ext cx="2194560" cy="54864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Caméra</a:t>
            </a:r>
            <a:endParaRPr lang="en-US" sz="1700" dirty="0"/>
          </a:p>
        </p:txBody>
      </p:sp>
      <p:sp>
        <p:nvSpPr>
          <p:cNvPr id="6" name="Text 3"/>
          <p:cNvSpPr txBox="1"/>
          <p:nvPr/>
        </p:nvSpPr>
        <p:spPr>
          <a:xfrm>
            <a:off x="3611880" y="1499616"/>
            <a:ext cx="8001000" cy="54864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Webcam HD minimum. Au-delà de 2 m ou avec un flou de bougé, la reconnaissance chute.</a:t>
            </a:r>
            <a:endParaRPr lang="en-US" sz="1400" dirty="0"/>
          </a:p>
        </p:txBody>
      </p:sp>
      <p:sp>
        <p:nvSpPr>
          <p:cNvPr id="7" name="materiel-1-cercle"/>
          <p:cNvSpPr/>
          <p:nvPr/>
        </p:nvSpPr>
        <p:spPr>
          <a:xfrm>
            <a:off x="548640" y="2267712"/>
            <a:ext cx="603504" cy="603504"/>
          </a:xfrm>
          <a:prstGeom prst="ellipse">
            <a:avLst/>
          </a:prstGeom>
          <a:solidFill>
            <a:schemeClr val="bg2"/>
          </a:solidFill>
          <a:ln w="12700">
            <a:solidFill>
              <a:schemeClr val="bg2"/>
            </a:solidFill>
            <a:prstDash val="solid"/>
          </a:ln>
        </p:spPr>
      </p:sp>
      <p:pic>
        <p:nvPicPr>
          <p:cNvPr id="8" name="materiel-1-icone" descr="preencoded.png">    </p:cNvPr>
          <p:cNvPicPr>
            <a:picLocks noChangeAspect="1"/>
          </p:cNvPicPr>
          <p:nvPr/>
        </p:nvPicPr>
        <p:blipFill>
          <a:blip r:embed="rId2"/>
          <a:stretch>
            <a:fillRect/>
          </a:stretch>
        </p:blipFill>
        <p:spPr>
          <a:xfrm>
            <a:off x="693481" y="2412553"/>
            <a:ext cx="313822" cy="313822"/>
          </a:xfrm>
          <a:prstGeom prst="rect">
            <a:avLst/>
          </a:prstGeom>
        </p:spPr>
      </p:pic>
      <p:sp>
        <p:nvSpPr>
          <p:cNvPr id="9" name="Text 5"/>
          <p:cNvSpPr txBox="1"/>
          <p:nvPr/>
        </p:nvSpPr>
        <p:spPr>
          <a:xfrm>
            <a:off x="1371600" y="2304288"/>
            <a:ext cx="2194560" cy="54864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Éclairage</a:t>
            </a:r>
            <a:endParaRPr lang="en-US" sz="1700" dirty="0"/>
          </a:p>
        </p:txBody>
      </p:sp>
      <p:sp>
        <p:nvSpPr>
          <p:cNvPr id="10" name="Text 6"/>
          <p:cNvSpPr txBox="1"/>
          <p:nvPr/>
        </p:nvSpPr>
        <p:spPr>
          <a:xfrm>
            <a:off x="3611880" y="2304288"/>
            <a:ext cx="8001000" cy="54864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Le modèle tolère une lumière faible, mais un contre-jour ou un éclairage latéral fort dégradent le cadrage.</a:t>
            </a:r>
            <a:endParaRPr lang="en-US" sz="1400" dirty="0"/>
          </a:p>
        </p:txBody>
      </p:sp>
      <p:sp>
        <p:nvSpPr>
          <p:cNvPr id="11" name="materiel-2-cercle"/>
          <p:cNvSpPr/>
          <p:nvPr/>
        </p:nvSpPr>
        <p:spPr>
          <a:xfrm>
            <a:off x="548640" y="3072384"/>
            <a:ext cx="603504" cy="603504"/>
          </a:xfrm>
          <a:prstGeom prst="ellipse">
            <a:avLst/>
          </a:prstGeom>
          <a:solidFill>
            <a:schemeClr val="bg2"/>
          </a:solidFill>
          <a:ln w="12700">
            <a:solidFill>
              <a:schemeClr val="bg2"/>
            </a:solidFill>
            <a:prstDash val="solid"/>
          </a:ln>
        </p:spPr>
      </p:sp>
      <p:pic>
        <p:nvPicPr>
          <p:cNvPr id="12" name="materiel-2-icone" descr="preencoded.png">    </p:cNvPr>
          <p:cNvPicPr>
            <a:picLocks noChangeAspect="1"/>
          </p:cNvPicPr>
          <p:nvPr/>
        </p:nvPicPr>
        <p:blipFill>
          <a:blip r:embed="rId3"/>
          <a:stretch>
            <a:fillRect/>
          </a:stretch>
        </p:blipFill>
        <p:spPr>
          <a:xfrm>
            <a:off x="693481" y="3217225"/>
            <a:ext cx="313822" cy="313822"/>
          </a:xfrm>
          <a:prstGeom prst="rect">
            <a:avLst/>
          </a:prstGeom>
        </p:spPr>
      </p:pic>
      <p:sp>
        <p:nvSpPr>
          <p:cNvPr id="13" name="Text 8"/>
          <p:cNvSpPr txBox="1"/>
          <p:nvPr/>
        </p:nvSpPr>
        <p:spPr>
          <a:xfrm>
            <a:off x="1371600" y="3108960"/>
            <a:ext cx="2194560" cy="54864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Placement</a:t>
            </a:r>
            <a:endParaRPr lang="en-US" sz="1700" dirty="0"/>
          </a:p>
        </p:txBody>
      </p:sp>
      <p:sp>
        <p:nvSpPr>
          <p:cNvPr id="14" name="Text 9"/>
          <p:cNvSpPr txBox="1"/>
          <p:nvPr/>
        </p:nvSpPr>
        <p:spPr>
          <a:xfrm>
            <a:off x="3611880" y="3108960"/>
            <a:ext cx="8001000" cy="54864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À l'entrée, à hauteur de visage, face au flux. Plusieurs personnes à la fois : une seule fiche affichée.</a:t>
            </a:r>
            <a:endParaRPr lang="en-US" sz="1400" dirty="0"/>
          </a:p>
        </p:txBody>
      </p:sp>
      <p:sp>
        <p:nvSpPr>
          <p:cNvPr id="15" name="materiel-3-cercle"/>
          <p:cNvSpPr/>
          <p:nvPr/>
        </p:nvSpPr>
        <p:spPr>
          <a:xfrm>
            <a:off x="548640" y="3877056"/>
            <a:ext cx="603504" cy="603504"/>
          </a:xfrm>
          <a:prstGeom prst="ellipse">
            <a:avLst/>
          </a:prstGeom>
          <a:solidFill>
            <a:schemeClr val="bg2"/>
          </a:solidFill>
          <a:ln w="12700">
            <a:solidFill>
              <a:schemeClr val="bg2"/>
            </a:solidFill>
            <a:prstDash val="solid"/>
          </a:ln>
        </p:spPr>
      </p:sp>
      <p:pic>
        <p:nvPicPr>
          <p:cNvPr id="16" name="materiel-3-icone" descr="preencoded.png">    </p:cNvPr>
          <p:cNvPicPr>
            <a:picLocks noChangeAspect="1"/>
          </p:cNvPicPr>
          <p:nvPr/>
        </p:nvPicPr>
        <p:blipFill>
          <a:blip r:embed="rId4"/>
          <a:stretch>
            <a:fillRect/>
          </a:stretch>
        </p:blipFill>
        <p:spPr>
          <a:xfrm>
            <a:off x="693481" y="4021897"/>
            <a:ext cx="313822" cy="313822"/>
          </a:xfrm>
          <a:prstGeom prst="rect">
            <a:avLst/>
          </a:prstGeom>
        </p:spPr>
      </p:pic>
      <p:sp>
        <p:nvSpPr>
          <p:cNvPr id="17" name="Text 11"/>
          <p:cNvSpPr txBox="1"/>
          <p:nvPr/>
        </p:nvSpPr>
        <p:spPr>
          <a:xfrm>
            <a:off x="1371600" y="3913632"/>
            <a:ext cx="2194560" cy="54864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Poste de calcul</a:t>
            </a:r>
            <a:endParaRPr lang="en-US" sz="1700" dirty="0"/>
          </a:p>
        </p:txBody>
      </p:sp>
      <p:sp>
        <p:nvSpPr>
          <p:cNvPr id="18" name="Text 12"/>
          <p:cNvSpPr txBox="1"/>
          <p:nvPr/>
        </p:nvSpPr>
        <p:spPr>
          <a:xfrm>
            <a:off x="3611880" y="3913632"/>
            <a:ext cx="8001000" cy="54864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PC récent : 132 ms par analyse sur un Ryzen 7 5800H. Un poste plus ancien ou une tablette seront plus lents.</a:t>
            </a:r>
            <a:endParaRPr lang="en-US" sz="1400" dirty="0"/>
          </a:p>
        </p:txBody>
      </p:sp>
      <p:sp>
        <p:nvSpPr>
          <p:cNvPr id="19" name="materiel-4-cercle"/>
          <p:cNvSpPr/>
          <p:nvPr/>
        </p:nvSpPr>
        <p:spPr>
          <a:xfrm>
            <a:off x="548640" y="4681728"/>
            <a:ext cx="603504" cy="603504"/>
          </a:xfrm>
          <a:prstGeom prst="ellipse">
            <a:avLst/>
          </a:prstGeom>
          <a:solidFill>
            <a:schemeClr val="bg2"/>
          </a:solidFill>
          <a:ln w="12700">
            <a:solidFill>
              <a:schemeClr val="bg2"/>
            </a:solidFill>
            <a:prstDash val="solid"/>
          </a:ln>
        </p:spPr>
      </p:sp>
      <p:pic>
        <p:nvPicPr>
          <p:cNvPr id="20" name="materiel-4-icone" descr="preencoded.png">    </p:cNvPr>
          <p:cNvPicPr>
            <a:picLocks noChangeAspect="1"/>
          </p:cNvPicPr>
          <p:nvPr/>
        </p:nvPicPr>
        <p:blipFill>
          <a:blip r:embed="rId5"/>
          <a:stretch>
            <a:fillRect/>
          </a:stretch>
        </p:blipFill>
        <p:spPr>
          <a:xfrm>
            <a:off x="693481" y="4826569"/>
            <a:ext cx="313822" cy="313822"/>
          </a:xfrm>
          <a:prstGeom prst="rect">
            <a:avLst/>
          </a:prstGeom>
        </p:spPr>
      </p:pic>
      <p:sp>
        <p:nvSpPr>
          <p:cNvPr id="21" name="Text 14"/>
          <p:cNvSpPr txBox="1"/>
          <p:nvPr/>
        </p:nvSpPr>
        <p:spPr>
          <a:xfrm>
            <a:off x="1371600" y="4718304"/>
            <a:ext cx="2194560" cy="54864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Navigateur et réseau</a:t>
            </a:r>
            <a:endParaRPr lang="en-US" sz="1700" dirty="0"/>
          </a:p>
        </p:txBody>
      </p:sp>
      <p:sp>
        <p:nvSpPr>
          <p:cNvPr id="22" name="Text 15"/>
          <p:cNvSpPr txBox="1"/>
          <p:nvPr/>
        </p:nvSpPr>
        <p:spPr>
          <a:xfrm>
            <a:off x="3611880" y="4718304"/>
            <a:ext cx="8001000" cy="54864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Chrome ou Edge récents conseillés. 15 Mo à télécharger au premier lancement, ensuite tout fonctionne sur place.</a:t>
            </a:r>
            <a:endParaRPr lang="en-US" sz="1400" dirty="0"/>
          </a:p>
        </p:txBody>
      </p:sp>
      <p:sp>
        <p:nvSpPr>
          <p:cNvPr id="23" name="cout-materiel"/>
          <p:cNvSpPr/>
          <p:nvPr/>
        </p:nvSpPr>
        <p:spPr>
          <a:xfrm>
            <a:off x="548640" y="5669280"/>
            <a:ext cx="11094415" cy="566928"/>
          </a:xfrm>
          <a:prstGeom prst="roundRect">
            <a:avLst>
              <a:gd name="adj" fmla="val 19355"/>
            </a:avLst>
          </a:prstGeom>
          <a:solidFill>
            <a:schemeClr val="bg2"/>
          </a:solidFill>
          <a:ln w="12700">
            <a:solidFill>
              <a:schemeClr val="bg2"/>
            </a:solidFill>
            <a:prstDash val="solid"/>
          </a:ln>
        </p:spPr>
      </p:sp>
      <p:sp>
        <p:nvSpPr>
          <p:cNvPr id="24" name="Text 17"/>
          <p:cNvSpPr txBox="1"/>
          <p:nvPr/>
        </p:nvSpPr>
        <p:spPr>
          <a:xfrm>
            <a:off x="777240" y="5733288"/>
            <a:ext cx="10637215" cy="45720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Ordre de grandeur par point d'accueil : une webcam (50 à 150 €) et un PC existant suffisent pour le POC, sans serveur ni abonnement.</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Côté vente, le frein principal n'est pas la technologie</a:t>
            </a:r>
            <a:endParaRPr lang="en-US" sz="3000" dirty="0"/>
          </a:p>
        </p:txBody>
      </p:sp>
      <p:sp>
        <p:nvSpPr>
          <p:cNvPr id="3" name="frein-0-cercle"/>
          <p:cNvSpPr/>
          <p:nvPr/>
        </p:nvSpPr>
        <p:spPr>
          <a:xfrm>
            <a:off x="548640" y="1508760"/>
            <a:ext cx="548640" cy="548640"/>
          </a:xfrm>
          <a:prstGeom prst="ellipse">
            <a:avLst/>
          </a:prstGeom>
          <a:solidFill>
            <a:schemeClr val="bg2"/>
          </a:solidFill>
          <a:ln w="12700">
            <a:solidFill>
              <a:schemeClr val="bg2"/>
            </a:solidFill>
            <a:prstDash val="solid"/>
          </a:ln>
        </p:spPr>
      </p:sp>
      <p:pic>
        <p:nvPicPr>
          <p:cNvPr id="4" name="frein-0-icone" descr="preencoded.png">    </p:cNvPr>
          <p:cNvPicPr>
            <a:picLocks noChangeAspect="1"/>
          </p:cNvPicPr>
          <p:nvPr/>
        </p:nvPicPr>
        <p:blipFill>
          <a:blip r:embed="rId1"/>
          <a:stretch>
            <a:fillRect/>
          </a:stretch>
        </p:blipFill>
        <p:spPr>
          <a:xfrm>
            <a:off x="680314" y="1640434"/>
            <a:ext cx="285293" cy="285293"/>
          </a:xfrm>
          <a:prstGeom prst="rect">
            <a:avLst/>
          </a:prstGeom>
        </p:spPr>
      </p:pic>
      <p:sp>
        <p:nvSpPr>
          <p:cNvPr id="5" name="Text 2"/>
          <p:cNvSpPr txBox="1"/>
          <p:nvPr/>
        </p:nvSpPr>
        <p:spPr>
          <a:xfrm>
            <a:off x="1325880" y="1463040"/>
            <a:ext cx="475488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Acceptabilité</a:t>
            </a:r>
            <a:endParaRPr lang="en-US" sz="1700" dirty="0"/>
          </a:p>
        </p:txBody>
      </p:sp>
      <p:sp>
        <p:nvSpPr>
          <p:cNvPr id="6" name="Text 3"/>
          <p:cNvSpPr txBox="1"/>
          <p:nvPr/>
        </p:nvSpPr>
        <p:spPr>
          <a:xfrm>
            <a:off x="1325880" y="1828800"/>
            <a:ext cx="4754880" cy="6858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Dans le luxe, la discrétion prime : être reconnu sans l'avoir demandé peut être vécu comme de la surveillance.</a:t>
            </a:r>
            <a:endParaRPr lang="en-US" sz="1300" dirty="0"/>
          </a:p>
        </p:txBody>
      </p:sp>
      <p:sp>
        <p:nvSpPr>
          <p:cNvPr id="7" name="frein-1-cercle"/>
          <p:cNvSpPr/>
          <p:nvPr/>
        </p:nvSpPr>
        <p:spPr>
          <a:xfrm>
            <a:off x="548640" y="2587752"/>
            <a:ext cx="548640" cy="548640"/>
          </a:xfrm>
          <a:prstGeom prst="ellipse">
            <a:avLst/>
          </a:prstGeom>
          <a:solidFill>
            <a:schemeClr val="bg2"/>
          </a:solidFill>
          <a:ln w="12700">
            <a:solidFill>
              <a:schemeClr val="bg2"/>
            </a:solidFill>
            <a:prstDash val="solid"/>
          </a:ln>
        </p:spPr>
      </p:sp>
      <p:pic>
        <p:nvPicPr>
          <p:cNvPr id="8" name="frein-1-icone" descr="preencoded.png">    </p:cNvPr>
          <p:cNvPicPr>
            <a:picLocks noChangeAspect="1"/>
          </p:cNvPicPr>
          <p:nvPr/>
        </p:nvPicPr>
        <p:blipFill>
          <a:blip r:embed="rId2"/>
          <a:stretch>
            <a:fillRect/>
          </a:stretch>
        </p:blipFill>
        <p:spPr>
          <a:xfrm>
            <a:off x="680314" y="2719426"/>
            <a:ext cx="285293" cy="285293"/>
          </a:xfrm>
          <a:prstGeom prst="rect">
            <a:avLst/>
          </a:prstGeom>
        </p:spPr>
      </p:pic>
      <p:sp>
        <p:nvSpPr>
          <p:cNvPr id="9" name="Text 5"/>
          <p:cNvSpPr txBox="1"/>
          <p:nvPr/>
        </p:nvSpPr>
        <p:spPr>
          <a:xfrm>
            <a:off x="1325880" y="2542032"/>
            <a:ext cx="475488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Consentement réel</a:t>
            </a:r>
            <a:endParaRPr lang="en-US" sz="1700" dirty="0"/>
          </a:p>
        </p:txBody>
      </p:sp>
      <p:sp>
        <p:nvSpPr>
          <p:cNvPr id="10" name="Text 6"/>
          <p:cNvSpPr txBox="1"/>
          <p:nvPr/>
        </p:nvSpPr>
        <p:spPr>
          <a:xfrm>
            <a:off x="1325880" y="2907792"/>
            <a:ext cx="4754880" cy="6858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Le service doit rester aussi bon sans reconnaissance faciale, sinon le consentement n'est pas libre.</a:t>
            </a:r>
            <a:endParaRPr lang="en-US" sz="1300" dirty="0"/>
          </a:p>
        </p:txBody>
      </p:sp>
      <p:sp>
        <p:nvSpPr>
          <p:cNvPr id="11" name="frein-2-cercle"/>
          <p:cNvSpPr/>
          <p:nvPr/>
        </p:nvSpPr>
        <p:spPr>
          <a:xfrm>
            <a:off x="548640" y="3666744"/>
            <a:ext cx="548640" cy="548640"/>
          </a:xfrm>
          <a:prstGeom prst="ellipse">
            <a:avLst/>
          </a:prstGeom>
          <a:solidFill>
            <a:schemeClr val="bg2"/>
          </a:solidFill>
          <a:ln w="12700">
            <a:solidFill>
              <a:schemeClr val="bg2"/>
            </a:solidFill>
            <a:prstDash val="solid"/>
          </a:ln>
        </p:spPr>
      </p:sp>
      <p:pic>
        <p:nvPicPr>
          <p:cNvPr id="12" name="frein-2-icone" descr="preencoded.png">    </p:cNvPr>
          <p:cNvPicPr>
            <a:picLocks noChangeAspect="1"/>
          </p:cNvPicPr>
          <p:nvPr/>
        </p:nvPicPr>
        <p:blipFill>
          <a:blip r:embed="rId3"/>
          <a:stretch>
            <a:fillRect/>
          </a:stretch>
        </p:blipFill>
        <p:spPr>
          <a:xfrm>
            <a:off x="680314" y="3798418"/>
            <a:ext cx="285293" cy="285293"/>
          </a:xfrm>
          <a:prstGeom prst="rect">
            <a:avLst/>
          </a:prstGeom>
        </p:spPr>
      </p:pic>
      <p:sp>
        <p:nvSpPr>
          <p:cNvPr id="13" name="Text 8"/>
          <p:cNvSpPr txBox="1"/>
          <p:nvPr/>
        </p:nvSpPr>
        <p:spPr>
          <a:xfrm>
            <a:off x="1325880" y="3621024"/>
            <a:ext cx="475488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Erreur coûteuse</a:t>
            </a:r>
            <a:endParaRPr lang="en-US" sz="1700" dirty="0"/>
          </a:p>
        </p:txBody>
      </p:sp>
      <p:sp>
        <p:nvSpPr>
          <p:cNvPr id="14" name="Text 9"/>
          <p:cNvSpPr txBox="1"/>
          <p:nvPr/>
        </p:nvSpPr>
        <p:spPr>
          <a:xfrm>
            <a:off x="1325880" y="3986784"/>
            <a:ext cx="4754880" cy="6858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Afficher la fiche d'un autre client expose ses achats et ses notes : une erreur rare mais grave.</a:t>
            </a:r>
            <a:endParaRPr lang="en-US" sz="1300" dirty="0"/>
          </a:p>
        </p:txBody>
      </p:sp>
      <p:sp>
        <p:nvSpPr>
          <p:cNvPr id="15" name="frein-3-cercle"/>
          <p:cNvSpPr/>
          <p:nvPr/>
        </p:nvSpPr>
        <p:spPr>
          <a:xfrm>
            <a:off x="548640" y="4745736"/>
            <a:ext cx="548640" cy="548640"/>
          </a:xfrm>
          <a:prstGeom prst="ellipse">
            <a:avLst/>
          </a:prstGeom>
          <a:solidFill>
            <a:schemeClr val="bg2"/>
          </a:solidFill>
          <a:ln w="12700">
            <a:solidFill>
              <a:schemeClr val="bg2"/>
            </a:solidFill>
            <a:prstDash val="solid"/>
          </a:ln>
        </p:spPr>
      </p:sp>
      <p:pic>
        <p:nvPicPr>
          <p:cNvPr id="16" name="frein-3-icone" descr="preencoded.png">    </p:cNvPr>
          <p:cNvPicPr>
            <a:picLocks noChangeAspect="1"/>
          </p:cNvPicPr>
          <p:nvPr/>
        </p:nvPicPr>
        <p:blipFill>
          <a:blip r:embed="rId4"/>
          <a:stretch>
            <a:fillRect/>
          </a:stretch>
        </p:blipFill>
        <p:spPr>
          <a:xfrm>
            <a:off x="680314" y="4877410"/>
            <a:ext cx="285293" cy="285293"/>
          </a:xfrm>
          <a:prstGeom prst="rect">
            <a:avLst/>
          </a:prstGeom>
        </p:spPr>
      </p:pic>
      <p:sp>
        <p:nvSpPr>
          <p:cNvPr id="17" name="Text 11"/>
          <p:cNvSpPr txBox="1"/>
          <p:nvPr/>
        </p:nvSpPr>
        <p:spPr>
          <a:xfrm>
            <a:off x="1325880" y="4700016"/>
            <a:ext cx="475488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Intégration</a:t>
            </a:r>
            <a:endParaRPr lang="en-US" sz="1700" dirty="0"/>
          </a:p>
        </p:txBody>
      </p:sp>
      <p:sp>
        <p:nvSpPr>
          <p:cNvPr id="18" name="Text 12"/>
          <p:cNvSpPr txBox="1"/>
          <p:nvPr/>
        </p:nvSpPr>
        <p:spPr>
          <a:xfrm>
            <a:off x="1325880" y="5065776"/>
            <a:ext cx="4754880" cy="6858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La valeur vient de la fiche : il faut se brancher sur l'outil de relation client existant.</a:t>
            </a:r>
            <a:endParaRPr lang="en-US" sz="1300" dirty="0"/>
          </a:p>
        </p:txBody>
      </p:sp>
      <p:sp>
        <p:nvSpPr>
          <p:cNvPr id="19" name="positionnement"/>
          <p:cNvSpPr/>
          <p:nvPr/>
        </p:nvSpPr>
        <p:spPr>
          <a:xfrm>
            <a:off x="6400800" y="1417320"/>
            <a:ext cx="5257800" cy="4343400"/>
          </a:xfrm>
          <a:prstGeom prst="roundRect">
            <a:avLst>
              <a:gd name="adj" fmla="val 2526"/>
            </a:avLst>
          </a:prstGeom>
          <a:solidFill>
            <a:schemeClr val="bg2"/>
          </a:solidFill>
          <a:ln w="12700">
            <a:solidFill>
              <a:schemeClr val="bg2"/>
            </a:solidFill>
            <a:prstDash val="solid"/>
          </a:ln>
        </p:spPr>
      </p:sp>
      <p:sp>
        <p:nvSpPr>
          <p:cNvPr id="20" name="Text 14"/>
          <p:cNvSpPr txBox="1"/>
          <p:nvPr/>
        </p:nvSpPr>
        <p:spPr>
          <a:xfrm>
            <a:off x="6675120" y="1645920"/>
            <a:ext cx="4709160" cy="41148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Un positionnement réaliste</a:t>
            </a:r>
            <a:endParaRPr lang="en-US" sz="1800" dirty="0"/>
          </a:p>
        </p:txBody>
      </p:sp>
      <p:sp>
        <p:nvSpPr>
          <p:cNvPr id="21" name="Text 15"/>
          <p:cNvSpPr txBox="1"/>
          <p:nvPr/>
        </p:nvSpPr>
        <p:spPr>
          <a:xfrm>
            <a:off x="6675120" y="2148840"/>
            <a:ext cx="470916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Programme réservé aux clients fidèles qui le demandent, jamais par défaut.</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Le conseiller garde la main : bouton Masquer la fiche, aucune action automatique.</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Alternative sans visage proposée : carte de fidélité ou application.</a:t>
            </a:r>
            <a:endParaRPr lang="en-US" sz="1500" dirty="0"/>
          </a:p>
          <a:p>
            <a:pPr marL="342900" indent="-342900">
              <a:buSzPct val="100000"/>
              <a:buChar char="•"/>
            </a:pPr>
            <a:r>
              <a:rPr lang="en-US" sz="1500" dirty="0">
                <a:solidFill>
                  <a:schemeClr val="tx1"/>
                </a:solidFill>
                <a:latin typeface="Calibri" pitchFamily="34" charset="0"/>
                <a:ea typeface="Calibri" pitchFamily="34" charset="-122"/>
                <a:cs typeface="Calibri" pitchFamily="34" charset="-120"/>
              </a:rPr>
              <a:t>Indicateur de succès à suivre : part des clients invités qui acceptent, et leur satisfaction.</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000" dirty="0">
                <a:solidFill>
                  <a:schemeClr val="tx1"/>
                </a:solidFill>
                <a:latin typeface="Cambria" pitchFamily="34" charset="0"/>
                <a:ea typeface="Cambria" pitchFamily="34" charset="-122"/>
                <a:cs typeface="Cambria" pitchFamily="34" charset="-120"/>
              </a:rPr>
              <a:t>Ce que ce projet dit de l'IA aujourd'hui</a:t>
            </a:r>
            <a:endParaRPr lang="en-US" sz="3000" dirty="0"/>
          </a:p>
        </p:txBody>
      </p:sp>
      <p:sp>
        <p:nvSpPr>
          <p:cNvPr id="3" name="colonne-0"/>
          <p:cNvSpPr/>
          <p:nvPr/>
        </p:nvSpPr>
        <p:spPr>
          <a:xfrm>
            <a:off x="548640" y="1463040"/>
            <a:ext cx="5394960" cy="3246120"/>
          </a:xfrm>
          <a:prstGeom prst="roundRect">
            <a:avLst>
              <a:gd name="adj" fmla="val 3380"/>
            </a:avLst>
          </a:prstGeom>
          <a:solidFill>
            <a:schemeClr val="bg2"/>
          </a:solidFill>
          <a:ln w="12700">
            <a:solidFill>
              <a:schemeClr val="bg2"/>
            </a:solidFill>
            <a:prstDash val="solid"/>
          </a:ln>
        </p:spPr>
      </p:sp>
      <p:sp>
        <p:nvSpPr>
          <p:cNvPr id="4" name="colonne-0-cercle"/>
          <p:cNvSpPr/>
          <p:nvPr/>
        </p:nvSpPr>
        <p:spPr>
          <a:xfrm>
            <a:off x="822960" y="1691640"/>
            <a:ext cx="548640" cy="548640"/>
          </a:xfrm>
          <a:prstGeom prst="ellipse">
            <a:avLst/>
          </a:prstGeom>
          <a:solidFill>
            <a:schemeClr val="bg1"/>
          </a:solidFill>
          <a:ln w="12700">
            <a:solidFill>
              <a:schemeClr val="bg1"/>
            </a:solidFill>
            <a:prstDash val="solid"/>
          </a:ln>
        </p:spPr>
      </p:sp>
      <p:pic>
        <p:nvPicPr>
          <p:cNvPr id="5" name="colonne-0-icone" descr="preencoded.png">    </p:cNvPr>
          <p:cNvPicPr>
            <a:picLocks noChangeAspect="1"/>
          </p:cNvPicPr>
          <p:nvPr/>
        </p:nvPicPr>
        <p:blipFill>
          <a:blip r:embed="rId1"/>
          <a:stretch>
            <a:fillRect/>
          </a:stretch>
        </p:blipFill>
        <p:spPr>
          <a:xfrm>
            <a:off x="954634" y="1823314"/>
            <a:ext cx="285293" cy="285293"/>
          </a:xfrm>
          <a:prstGeom prst="rect">
            <a:avLst/>
          </a:prstGeom>
        </p:spPr>
      </p:pic>
      <p:sp>
        <p:nvSpPr>
          <p:cNvPr id="6" name="Text 3"/>
          <p:cNvSpPr txBox="1"/>
          <p:nvPr/>
        </p:nvSpPr>
        <p:spPr>
          <a:xfrm>
            <a:off x="1554480" y="1737360"/>
            <a:ext cx="4206240" cy="457200"/>
          </a:xfrm>
          <a:prstGeom prst="rect">
            <a:avLst/>
          </a:prstGeom>
          <a:noFill/>
          <a:ln/>
        </p:spPr>
        <p:txBody>
          <a:bodyPr wrap="square" lIns="0" tIns="0" rIns="0" bIns="0" rtlCol="0" anchor="ctr"/>
          <a:lstStyle/>
          <a:p>
            <a:pPr indent="0" marL="0">
              <a:buNone/>
            </a:pPr>
            <a:r>
              <a:rPr lang="en-US" sz="1800" b="1" dirty="0">
                <a:solidFill>
                  <a:schemeClr val="accent6"/>
                </a:solidFill>
                <a:latin typeface="Calibri" pitchFamily="34" charset="0"/>
                <a:ea typeface="Calibri" pitchFamily="34" charset="-122"/>
                <a:cs typeface="Calibri" pitchFamily="34" charset="-120"/>
              </a:rPr>
              <a:t>Ce qu'elle fait déjà bien</a:t>
            </a:r>
            <a:endParaRPr lang="en-US" sz="1800" dirty="0"/>
          </a:p>
        </p:txBody>
      </p:sp>
      <p:sp>
        <p:nvSpPr>
          <p:cNvPr id="7" name="Text 4"/>
          <p:cNvSpPr txBox="1"/>
          <p:nvPr/>
        </p:nvSpPr>
        <p:spPr>
          <a:xfrm>
            <a:off x="868680" y="2423160"/>
            <a:ext cx="4800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Reconnaître un visage connu en une fraction de seconde, sur un PC ordinaire.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Tourner sans serveur, dans un simple navigateur, avec 15 Mo de modèles.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Rester stable malgré une lumière faible ou une image compressée.</a:t>
            </a:r>
            <a:endParaRPr lang="en-US" sz="1400" dirty="0"/>
          </a:p>
        </p:txBody>
      </p:sp>
      <p:sp>
        <p:nvSpPr>
          <p:cNvPr id="8" name="colonne-1"/>
          <p:cNvSpPr/>
          <p:nvPr/>
        </p:nvSpPr>
        <p:spPr>
          <a:xfrm>
            <a:off x="6217920" y="1463040"/>
            <a:ext cx="5394960" cy="3246120"/>
          </a:xfrm>
          <a:prstGeom prst="roundRect">
            <a:avLst>
              <a:gd name="adj" fmla="val 3380"/>
            </a:avLst>
          </a:prstGeom>
          <a:solidFill>
            <a:schemeClr val="bg2"/>
          </a:solidFill>
          <a:ln w="12700">
            <a:solidFill>
              <a:schemeClr val="bg2"/>
            </a:solidFill>
            <a:prstDash val="solid"/>
          </a:ln>
        </p:spPr>
      </p:sp>
      <p:sp>
        <p:nvSpPr>
          <p:cNvPr id="9" name="colonne-1-cercle"/>
          <p:cNvSpPr/>
          <p:nvPr/>
        </p:nvSpPr>
        <p:spPr>
          <a:xfrm>
            <a:off x="6492240" y="1691640"/>
            <a:ext cx="548640" cy="548640"/>
          </a:xfrm>
          <a:prstGeom prst="ellipse">
            <a:avLst/>
          </a:prstGeom>
          <a:solidFill>
            <a:schemeClr val="bg1"/>
          </a:solidFill>
          <a:ln w="12700">
            <a:solidFill>
              <a:schemeClr val="bg1"/>
            </a:solidFill>
            <a:prstDash val="solid"/>
          </a:ln>
        </p:spPr>
      </p:sp>
      <p:pic>
        <p:nvPicPr>
          <p:cNvPr id="10" name="colonne-1-icone" descr="preencoded.png">    </p:cNvPr>
          <p:cNvPicPr>
            <a:picLocks noChangeAspect="1"/>
          </p:cNvPicPr>
          <p:nvPr/>
        </p:nvPicPr>
        <p:blipFill>
          <a:blip r:embed="rId2"/>
          <a:stretch>
            <a:fillRect/>
          </a:stretch>
        </p:blipFill>
        <p:spPr>
          <a:xfrm>
            <a:off x="6623914" y="1823314"/>
            <a:ext cx="285293" cy="285293"/>
          </a:xfrm>
          <a:prstGeom prst="rect">
            <a:avLst/>
          </a:prstGeom>
        </p:spPr>
      </p:pic>
      <p:sp>
        <p:nvSpPr>
          <p:cNvPr id="11" name="Text 7"/>
          <p:cNvSpPr txBox="1"/>
          <p:nvPr/>
        </p:nvSpPr>
        <p:spPr>
          <a:xfrm>
            <a:off x="7223760" y="1737360"/>
            <a:ext cx="4206240" cy="457200"/>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Ce qui reste difficile</a:t>
            </a:r>
            <a:endParaRPr lang="en-US" sz="1800" dirty="0"/>
          </a:p>
        </p:txBody>
      </p:sp>
      <p:sp>
        <p:nvSpPr>
          <p:cNvPr id="12" name="Text 8"/>
          <p:cNvSpPr txBox="1"/>
          <p:nvPr/>
        </p:nvSpPr>
        <p:spPr>
          <a:xfrm>
            <a:off x="6537960" y="2423160"/>
            <a:ext cx="4800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Les conditions réelles : distance, flou, visages masqués ou de profil.</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La fraude, l'équité entre profils et l'évaluation à grande échelle.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Le cadre : consentement, droit de la biométrie, acceptation par les clients.</a:t>
            </a:r>
            <a:endParaRPr lang="en-US" sz="1400" dirty="0"/>
          </a:p>
        </p:txBody>
      </p:sp>
      <p:sp>
        <p:nvSpPr>
          <p:cNvPr id="13" name="Text 9"/>
          <p:cNvSpPr txBox="1"/>
          <p:nvPr/>
        </p:nvSpPr>
        <p:spPr>
          <a:xfrm>
            <a:off x="548640" y="4937760"/>
            <a:ext cx="365760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Compétences mobilisées</a:t>
            </a:r>
            <a:endParaRPr lang="en-US" sz="1500" dirty="0"/>
          </a:p>
        </p:txBody>
      </p:sp>
      <p:sp>
        <p:nvSpPr>
          <p:cNvPr id="14" name="competence-0"/>
          <p:cNvSpPr/>
          <p:nvPr/>
        </p:nvSpPr>
        <p:spPr>
          <a:xfrm>
            <a:off x="548640" y="5394960"/>
            <a:ext cx="2036003" cy="548640"/>
          </a:xfrm>
          <a:prstGeom prst="roundRect">
            <a:avLst>
              <a:gd name="adj" fmla="val 50000"/>
            </a:avLst>
          </a:prstGeom>
          <a:solidFill>
            <a:schemeClr val="bg1"/>
          </a:solidFill>
          <a:ln w="12700">
            <a:solidFill>
              <a:schemeClr val="accent1"/>
            </a:solidFill>
            <a:prstDash val="solid"/>
          </a:ln>
        </p:spPr>
      </p:sp>
      <p:sp>
        <p:nvSpPr>
          <p:cNvPr id="15" name="Text 11"/>
          <p:cNvSpPr txBox="1"/>
          <p:nvPr/>
        </p:nvSpPr>
        <p:spPr>
          <a:xfrm>
            <a:off x="548640" y="5394960"/>
            <a:ext cx="2036003" cy="54864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Cadrage produit</a:t>
            </a:r>
            <a:endParaRPr lang="en-US" sz="1400" dirty="0"/>
          </a:p>
        </p:txBody>
      </p:sp>
      <p:sp>
        <p:nvSpPr>
          <p:cNvPr id="16" name="competence-1"/>
          <p:cNvSpPr/>
          <p:nvPr/>
        </p:nvSpPr>
        <p:spPr>
          <a:xfrm>
            <a:off x="2813243" y="5394960"/>
            <a:ext cx="2036003" cy="548640"/>
          </a:xfrm>
          <a:prstGeom prst="roundRect">
            <a:avLst>
              <a:gd name="adj" fmla="val 50000"/>
            </a:avLst>
          </a:prstGeom>
          <a:solidFill>
            <a:schemeClr val="bg1"/>
          </a:solidFill>
          <a:ln w="12700">
            <a:solidFill>
              <a:schemeClr val="accent1"/>
            </a:solidFill>
            <a:prstDash val="solid"/>
          </a:ln>
        </p:spPr>
      </p:sp>
      <p:sp>
        <p:nvSpPr>
          <p:cNvPr id="17" name="Text 13"/>
          <p:cNvSpPr txBox="1"/>
          <p:nvPr/>
        </p:nvSpPr>
        <p:spPr>
          <a:xfrm>
            <a:off x="2813243" y="5394960"/>
            <a:ext cx="2036003" cy="54864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IA embarquée</a:t>
            </a:r>
            <a:endParaRPr lang="en-US" sz="1400" dirty="0"/>
          </a:p>
        </p:txBody>
      </p:sp>
      <p:sp>
        <p:nvSpPr>
          <p:cNvPr id="18" name="competence-2"/>
          <p:cNvSpPr/>
          <p:nvPr/>
        </p:nvSpPr>
        <p:spPr>
          <a:xfrm>
            <a:off x="5077846" y="5394960"/>
            <a:ext cx="2036003" cy="548640"/>
          </a:xfrm>
          <a:prstGeom prst="roundRect">
            <a:avLst>
              <a:gd name="adj" fmla="val 50000"/>
            </a:avLst>
          </a:prstGeom>
          <a:solidFill>
            <a:schemeClr val="bg1"/>
          </a:solidFill>
          <a:ln w="12700">
            <a:solidFill>
              <a:schemeClr val="accent1"/>
            </a:solidFill>
            <a:prstDash val="solid"/>
          </a:ln>
        </p:spPr>
      </p:sp>
      <p:sp>
        <p:nvSpPr>
          <p:cNvPr id="19" name="Text 15"/>
          <p:cNvSpPr txBox="1"/>
          <p:nvPr/>
        </p:nvSpPr>
        <p:spPr>
          <a:xfrm>
            <a:off x="5077846" y="5394960"/>
            <a:ext cx="2036003" cy="54864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Mesure et KPI</a:t>
            </a:r>
            <a:endParaRPr lang="en-US" sz="1400" dirty="0"/>
          </a:p>
        </p:txBody>
      </p:sp>
      <p:sp>
        <p:nvSpPr>
          <p:cNvPr id="20" name="competence-3"/>
          <p:cNvSpPr/>
          <p:nvPr/>
        </p:nvSpPr>
        <p:spPr>
          <a:xfrm>
            <a:off x="7342449" y="5394960"/>
            <a:ext cx="2036003" cy="548640"/>
          </a:xfrm>
          <a:prstGeom prst="roundRect">
            <a:avLst>
              <a:gd name="adj" fmla="val 50000"/>
            </a:avLst>
          </a:prstGeom>
          <a:solidFill>
            <a:schemeClr val="bg1"/>
          </a:solidFill>
          <a:ln w="12700">
            <a:solidFill>
              <a:schemeClr val="accent1"/>
            </a:solidFill>
            <a:prstDash val="solid"/>
          </a:ln>
        </p:spPr>
      </p:sp>
      <p:sp>
        <p:nvSpPr>
          <p:cNvPr id="21" name="Text 17"/>
          <p:cNvSpPr txBox="1"/>
          <p:nvPr/>
        </p:nvSpPr>
        <p:spPr>
          <a:xfrm>
            <a:off x="7342449" y="5394960"/>
            <a:ext cx="2036003" cy="54864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Droit du numérique</a:t>
            </a:r>
            <a:endParaRPr lang="en-US" sz="1400" dirty="0"/>
          </a:p>
        </p:txBody>
      </p:sp>
      <p:sp>
        <p:nvSpPr>
          <p:cNvPr id="22" name="competence-4"/>
          <p:cNvSpPr/>
          <p:nvPr/>
        </p:nvSpPr>
        <p:spPr>
          <a:xfrm>
            <a:off x="9607052" y="5394960"/>
            <a:ext cx="2036003" cy="548640"/>
          </a:xfrm>
          <a:prstGeom prst="roundRect">
            <a:avLst>
              <a:gd name="adj" fmla="val 50000"/>
            </a:avLst>
          </a:prstGeom>
          <a:solidFill>
            <a:schemeClr val="bg1"/>
          </a:solidFill>
          <a:ln w="12700">
            <a:solidFill>
              <a:schemeClr val="accent1"/>
            </a:solidFill>
            <a:prstDash val="solid"/>
          </a:ln>
        </p:spPr>
      </p:sp>
      <p:sp>
        <p:nvSpPr>
          <p:cNvPr id="23" name="Text 19"/>
          <p:cNvSpPr txBox="1"/>
          <p:nvPr/>
        </p:nvSpPr>
        <p:spPr>
          <a:xfrm>
            <a:off x="9607052" y="5394960"/>
            <a:ext cx="2036003" cy="54864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Qualité logicielle</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5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9144000" cy="365760"/>
          </a:xfrm>
          <a:prstGeom prst="rect">
            <a:avLst/>
          </a:prstGeom>
          <a:noFill/>
          <a:ln/>
        </p:spPr>
        <p:txBody>
          <a:bodyPr wrap="square" lIns="0" tIns="0" rIns="0" bIns="0" rtlCol="0"/>
          <a:lstStyle/>
          <a:p>
            <a:pPr indent="0" marL="0">
              <a:buNone/>
            </a:pPr>
            <a:r>
              <a:rPr lang="en-US" sz="1400" b="1" spc="200" kern="0" dirty="0">
                <a:solidFill>
                  <a:schemeClr val="accent1"/>
                </a:solidFill>
                <a:latin typeface="Calibri" pitchFamily="34" charset="0"/>
                <a:ea typeface="Calibri" pitchFamily="34" charset="-122"/>
                <a:cs typeface="Calibri" pitchFamily="34" charset="-120"/>
              </a:rPr>
              <a:t>PROCHAINES ÉTAPES</a:t>
            </a:r>
            <a:endParaRPr lang="en-US" sz="1400" dirty="0"/>
          </a:p>
        </p:txBody>
      </p:sp>
      <p:sp>
        <p:nvSpPr>
          <p:cNvPr id="3" name="Text 0"/>
          <p:cNvSpPr/>
          <p:nvPr>
            <p:ph idx="101" type="title" hasCustomPrompt="1"/>
          </p:nvPr>
        </p:nvSpPr>
        <p:spPr>
          <a:xfrm>
            <a:off x="548640" y="1645920"/>
            <a:ext cx="10515600" cy="1737360"/>
          </a:xfrm>
          <a:prstGeom prst="rect">
            <a:avLst/>
          </a:prstGeom>
          <a:noFill/>
          <a:ln/>
        </p:spPr>
        <p:txBody>
          <a:bodyPr wrap="square" lIns="0" tIns="0" rIns="0" bIns="0" rtlCol="0" anchor="t"/>
          <a:lstStyle/>
          <a:p>
            <a:pPr algn="l" indent="0" marL="0">
              <a:buNone/>
            </a:pPr>
            <a:r>
              <a:rPr lang="en-US" sz="4400" dirty="0">
                <a:solidFill>
                  <a:schemeClr val="bg1"/>
                </a:solidFill>
                <a:latin typeface="Cambria" pitchFamily="34" charset="0"/>
                <a:ea typeface="Cambria" pitchFamily="34" charset="-122"/>
                <a:cs typeface="Cambria" pitchFamily="34" charset="-120"/>
              </a:rPr>
              <a:t>Un concept faisable, à encadrer avant d'être déployé</a:t>
            </a:r>
            <a:endParaRPr lang="en-US" sz="4400" dirty="0"/>
          </a:p>
        </p:txBody>
      </p:sp>
      <p:sp>
        <p:nvSpPr>
          <p:cNvPr id="4" name="suite-0"/>
          <p:cNvSpPr/>
          <p:nvPr/>
        </p:nvSpPr>
        <p:spPr>
          <a:xfrm>
            <a:off x="548640" y="3666744"/>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548640" y="3666744"/>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97280" y="3611880"/>
            <a:ext cx="8686800" cy="457200"/>
          </a:xfrm>
          <a:prstGeom prst="rect">
            <a:avLst/>
          </a:prstGeom>
          <a:noFill/>
          <a:ln/>
        </p:spPr>
        <p:txBody>
          <a:bodyPr wrap="square" lIns="0" tIns="0" rIns="0" bIns="0" rtlCol="0" anchor="ctr"/>
          <a:lstStyle/>
          <a:p>
            <a:pPr indent="0" marL="0">
              <a:buNone/>
            </a:pPr>
            <a:r>
              <a:rPr lang="en-US" sz="1700" dirty="0">
                <a:solidFill>
                  <a:srgbClr val="E9E4DA"/>
                </a:solidFill>
                <a:latin typeface="Calibri" pitchFamily="34" charset="0"/>
                <a:ea typeface="Calibri" pitchFamily="34" charset="-122"/>
                <a:cs typeface="Calibri" pitchFamily="34" charset="-120"/>
              </a:rPr>
              <a:t>Tester avec un panel volontaire, en vraie boutique et sur plusieurs jours.</a:t>
            </a:r>
            <a:endParaRPr lang="en-US" sz="1700" dirty="0"/>
          </a:p>
        </p:txBody>
      </p:sp>
      <p:sp>
        <p:nvSpPr>
          <p:cNvPr id="7" name="suite-1"/>
          <p:cNvSpPr/>
          <p:nvPr/>
        </p:nvSpPr>
        <p:spPr>
          <a:xfrm>
            <a:off x="548640" y="4233672"/>
            <a:ext cx="329184" cy="329184"/>
          </a:xfrm>
          <a:prstGeom prst="ellipse">
            <a:avLst/>
          </a:prstGeom>
          <a:solidFill>
            <a:schemeClr val="accent1"/>
          </a:solidFill>
          <a:ln w="12700">
            <a:solidFill>
              <a:schemeClr val="accent1"/>
            </a:solidFill>
            <a:prstDash val="solid"/>
          </a:ln>
        </p:spPr>
      </p:sp>
      <p:sp>
        <p:nvSpPr>
          <p:cNvPr id="8" name="Text 6"/>
          <p:cNvSpPr txBox="1"/>
          <p:nvPr/>
        </p:nvSpPr>
        <p:spPr>
          <a:xfrm>
            <a:off x="548640" y="4233672"/>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97280" y="4178808"/>
            <a:ext cx="8686800" cy="457200"/>
          </a:xfrm>
          <a:prstGeom prst="rect">
            <a:avLst/>
          </a:prstGeom>
          <a:noFill/>
          <a:ln/>
        </p:spPr>
        <p:txBody>
          <a:bodyPr wrap="square" lIns="0" tIns="0" rIns="0" bIns="0" rtlCol="0" anchor="ctr"/>
          <a:lstStyle/>
          <a:p>
            <a:pPr indent="0" marL="0">
              <a:buNone/>
            </a:pPr>
            <a:r>
              <a:rPr lang="en-US" sz="1700" dirty="0">
                <a:solidFill>
                  <a:srgbClr val="E9E4DA"/>
                </a:solidFill>
                <a:latin typeface="Calibri" pitchFamily="34" charset="0"/>
                <a:ea typeface="Calibri" pitchFamily="34" charset="-122"/>
                <a:cs typeface="Calibri" pitchFamily="34" charset="-120"/>
              </a:rPr>
              <a:t>Ajouter la détection de fraude et passer à des modèles sous licence commerciale.</a:t>
            </a:r>
            <a:endParaRPr lang="en-US" sz="1700" dirty="0"/>
          </a:p>
        </p:txBody>
      </p:sp>
      <p:sp>
        <p:nvSpPr>
          <p:cNvPr id="10" name="suite-2"/>
          <p:cNvSpPr/>
          <p:nvPr/>
        </p:nvSpPr>
        <p:spPr>
          <a:xfrm>
            <a:off x="548640" y="4800600"/>
            <a:ext cx="329184" cy="329184"/>
          </a:xfrm>
          <a:prstGeom prst="ellipse">
            <a:avLst/>
          </a:prstGeom>
          <a:solidFill>
            <a:schemeClr val="accent1"/>
          </a:solidFill>
          <a:ln w="12700">
            <a:solidFill>
              <a:schemeClr val="accent1"/>
            </a:solidFill>
            <a:prstDash val="solid"/>
          </a:ln>
        </p:spPr>
      </p:sp>
      <p:sp>
        <p:nvSpPr>
          <p:cNvPr id="11" name="Text 9"/>
          <p:cNvSpPr txBox="1"/>
          <p:nvPr/>
        </p:nvSpPr>
        <p:spPr>
          <a:xfrm>
            <a:off x="548640" y="4800600"/>
            <a:ext cx="329184" cy="329184"/>
          </a:xfrm>
          <a:prstGeom prst="rect">
            <a:avLst/>
          </a:prstGeom>
          <a:noFill/>
          <a:ln/>
        </p:spPr>
        <p:txBody>
          <a:bodyPr wrap="square" lIns="0" tIns="0" rIns="0" bIns="0" rtlCol="0" anchor="ctr"/>
          <a:lstStyle/>
          <a:p>
            <a:pPr algn="ctr" indent="0" marL="0">
              <a:buNone/>
            </a:pPr>
            <a:r>
              <a:rPr lang="en-US" sz="1300" b="1" dirty="0">
                <a:solidFill>
                  <a:schemeClr val="tx2"/>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097280" y="4745736"/>
            <a:ext cx="8686800" cy="457200"/>
          </a:xfrm>
          <a:prstGeom prst="rect">
            <a:avLst/>
          </a:prstGeom>
          <a:noFill/>
          <a:ln/>
        </p:spPr>
        <p:txBody>
          <a:bodyPr wrap="square" lIns="0" tIns="0" rIns="0" bIns="0" rtlCol="0" anchor="ctr"/>
          <a:lstStyle/>
          <a:p>
            <a:pPr indent="0" marL="0">
              <a:buNone/>
            </a:pPr>
            <a:r>
              <a:rPr lang="en-US" sz="1700" dirty="0">
                <a:solidFill>
                  <a:srgbClr val="E9E4DA"/>
                </a:solidFill>
                <a:latin typeface="Calibri" pitchFamily="34" charset="0"/>
                <a:ea typeface="Calibri" pitchFamily="34" charset="-122"/>
                <a:cs typeface="Calibri" pitchFamily="34" charset="-120"/>
              </a:rPr>
              <a:t>Mener l'analyse d'impact et concevoir le parcours d'adhésion des clients.</a:t>
            </a:r>
            <a:endParaRPr lang="en-US" sz="1700" dirty="0"/>
          </a:p>
        </p:txBody>
      </p:sp>
      <p:sp>
        <p:nvSpPr>
          <p:cNvPr id="13" name="Text 11"/>
          <p:cNvSpPr txBox="1"/>
          <p:nvPr/>
        </p:nvSpPr>
        <p:spPr>
          <a:xfrm>
            <a:off x="548640" y="5806440"/>
            <a:ext cx="9144000" cy="365760"/>
          </a:xfrm>
          <a:prstGeom prst="rect">
            <a:avLst/>
          </a:prstGeom>
          <a:noFill/>
          <a:ln/>
        </p:spPr>
        <p:txBody>
          <a:bodyPr wrap="square" lIns="0" tIns="0" rIns="0" bIns="0" rtlCol="0" anchor="t"/>
          <a:lstStyle/>
          <a:p>
            <a:pPr indent="0" marL="0">
              <a:buNone/>
            </a:pPr>
            <a:r>
              <a:rPr lang="en-US" sz="1300" dirty="0">
                <a:solidFill>
                  <a:schemeClr val="accent1"/>
                </a:solidFill>
                <a:latin typeface="Calibri" pitchFamily="34" charset="0"/>
                <a:ea typeface="Calibri" pitchFamily="34" charset="-122"/>
                <a:cs typeface="Calibri" pitchFamily="34" charset="-120"/>
              </a:rPr>
              <a:t>Merci. Démo : mathos34.github.io/reconnaissance-equipe  ·  Code : github.com/Mathos34/reconnaissance-equipe</a:t>
            </a:r>
            <a:endParaRPr lang="en-US" sz="1300" dirty="0"/>
          </a:p>
        </p:txBody>
      </p:sp>
      <p:sp>
        <p:nvSpPr>
          <p:cNvPr id="14" name="qr-fond-fin"/>
          <p:cNvSpPr/>
          <p:nvPr/>
        </p:nvSpPr>
        <p:spPr>
          <a:xfrm>
            <a:off x="9921240" y="4526280"/>
            <a:ext cx="1737360" cy="1737360"/>
          </a:xfrm>
          <a:prstGeom prst="roundRect">
            <a:avLst>
              <a:gd name="adj" fmla="val 5263"/>
            </a:avLst>
          </a:prstGeom>
          <a:solidFill>
            <a:srgbClr val="FFFFFF"/>
          </a:solidFill>
          <a:ln w="12700">
            <a:solidFill>
              <a:srgbClr val="FFFFFF"/>
            </a:solidFill>
            <a:prstDash val="solid"/>
          </a:ln>
        </p:spPr>
      </p:sp>
      <p:pic>
        <p:nvPicPr>
          <p:cNvPr id="15" name="qr-fin" descr="QR code vers la démo en ligne">    </p:cNvPr>
          <p:cNvPicPr>
            <a:picLocks noChangeAspect="1"/>
          </p:cNvPicPr>
          <p:nvPr/>
        </p:nvPicPr>
        <p:blipFill>
          <a:blip r:embed="rId1"/>
          <a:stretch>
            <a:fillRect/>
          </a:stretch>
        </p:blipFill>
        <p:spPr>
          <a:xfrm>
            <a:off x="10012680" y="4617720"/>
            <a:ext cx="1554480" cy="1554480"/>
          </a:xfrm>
          <a:prstGeom prst="rect">
            <a:avLst/>
          </a:prstGeom>
        </p:spPr>
      </p:pic>
      <p:sp>
        <p:nvSpPr>
          <p:cNvPr id="17" name="Text 0"/>
          <p:cNvSpPr/>
          <p:nvPr>
            <p:ph idx="102" type="body" hasCustomPrompt="1"/>
          </p:nvPr>
        </p:nvSpPr>
        <p:spPr>
          <a:xfrm>
            <a:off x="548640" y="3520440"/>
            <a:ext cx="9601200" cy="91440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Maison Test">
  <a:themeElements>
    <a:clrScheme name="Maison Test">
      <a:dk1>
        <a:srgbClr val="1E1A17"/>
      </a:dk1>
      <a:lt1>
        <a:srgbClr val="FFFFFF"/>
      </a:lt1>
      <a:dk2>
        <a:srgbClr val="1F2433"/>
      </a:dk2>
      <a:lt2>
        <a:srgbClr val="F4F0E8"/>
      </a:lt2>
      <a:accent1>
        <a:srgbClr val="B07A27"/>
      </a:accent1>
      <a:accent2>
        <a:srgbClr val="2A78D6"/>
      </a:accent2>
      <a:accent3>
        <a:srgbClr val="1BAF7A"/>
      </a:accent3>
      <a:accent4>
        <a:srgbClr val="6E645B"/>
      </a:accent4>
      <a:accent5>
        <a:srgbClr val="A8412F"/>
      </a:accent5>
      <a:accent6>
        <a:srgbClr val="2F6E46"/>
      </a:accent6>
      <a:hlink>
        <a:srgbClr val="2A78D6"/>
      </a:hlink>
      <a:folHlink>
        <a:srgbClr val="6E645B"/>
      </a:folHlink>
    </a:clrScheme>
    <a:fontScheme name="Maison T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Maison Test : reconnaître un client en moins d'une seconde</dc:title>
  <dc:subject>POC de reconnaissance client dans le navigateur, projet de cours Audencia</dc:subject>
  <dc:creator>Équipe projet Maison Test</dc:creator>
  <cp:lastModifiedBy>Équipe projet Maison Test</cp:lastModifiedBy>
  <cp:revision>1</cp:revision>
  <dcterms:created xsi:type="dcterms:W3CDTF">2026-10-26T14:18:21Z</dcterms:created>
  <dcterms:modified xsi:type="dcterms:W3CDTF">2026-10-26T14:18:21Z</dcterms:modified>
</cp:coreProperties>
</file>