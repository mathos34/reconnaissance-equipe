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ject" id="{2f1ee4a0-c1d2-b8f4-0b31-1eaeaa844140}">
          <p14:sldIdLst>
            <p14:sldId id="256"/>
            <p14:sldId id="257"/>
            <p14:sldId id="258"/>
            <p14:sldId id="259"/>
          </p14:sldIdLst>
        </p14:section>
        <p14:section name="Results" id="{9912c477-59a0-3945-fdaf-225a86927f51}">
          <p14:sldIdLst>
            <p14:sldId id="260"/>
            <p14:sldId id="261"/>
            <p14:sldId id="262"/>
            <p14:sldId id="263"/>
            <p14:sldId id="264"/>
          </p14:sldIdLst>
        </p14:section>
        <p14:section name="Demo" id="{97674ee0-fac8-af53-ff00-52c8824b5867}">
          <p14:sldIdLst>
            <p14:sldId id="265"/>
            <p14:sldId id="266"/>
          </p14:sldIdLst>
        </p14:section>
        <p14:section name="Limits" id="{8e87e0a5-bbf9-24aa-853f-6232e37504e6}">
          <p14:sldIdLst>
            <p14:sldId id="267"/>
            <p14:sldId id="268"/>
            <p14:sldId id="269"/>
            <p14:sldId id="270"/>
          </p14:sldIdLst>
        </p14:section>
        <p14:section name="Takeaways" id="{91ec605a-6f1c-afa5-a5c3-8205cca12c0c}">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1C18"/>
                </a:solidFill>
                <a:latin typeface="+mn-lt"/>
              </a:defRPr>
            </a:pPr>
            <a:r>
              <a:rPr sz="1300" b="0" i="0" u="none" strike="noStrike">
                <a:solidFill>
                  <a:srgbClr val="221C18"/>
                </a:solidFill>
                <a:latin typeface="+mn-lt"/>
              </a:rPr>
              <a:t>Time per analysis, by stage (ms, median of 5 sessions)</a:t>
            </a:r>
          </a:p>
        </c:rich>
      </c:tx>
      <c:layout/>
      <c:overlay val="0"/>
    </c:title>
    <c:autoTitleDeleted val="0"/>
    <c:plotArea>
      <c:layout/>
      <c:barChart>
        <c:barDir val="bar"/>
        <c:grouping val="stacked"/>
        <c:varyColors val="0"/>
        <c:ser>
          <c:idx val="0"/>
          <c:order val="0"/>
          <c:tx>
            <c:strRef>
              <c:f>Sheet1!$B$1</c:f>
              <c:strCache>
                <c:ptCount val="1"/>
                <c:pt idx="0">
                  <c:v>Image preparation</c:v>
                </c:pt>
              </c:strCache>
            </c:strRef>
          </c:tx>
          <c:spPr>
            <a:solidFill>
              <a:srgbClr val="8F4A8C"/>
            </a:solidFill>
            <a:effectLst/>
          </c:spPr>
          <c:invertIfNegative val="0"/>
          <c:dLbls>
            <c:numFmt formatCode="#,##0" sourceLinked="0"/>
            <c:txPr>
              <a:bodyPr/>
              <a:lstStyle/>
              <a:p>
                <a:pPr>
                  <a:defRPr b="1"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CPU (WASM)</c:v>
                  </c:pt>
                  <c:pt idx="1">
                    <c:v>WebGPU, integrated GPU</c:v>
                  </c:pt>
                  <c:pt idx="2">
                    <c:v>Hybrid, integrated GPU</c:v>
                  </c:pt>
                  <c:pt idx="3">
                    <c:v>WebGPU, RTX 3060</c:v>
                  </c:pt>
                  <c:pt idx="4">
                    <c:v>Hybrid, RTX 3060</c:v>
                  </c:pt>
                </c:lvl>
              </c:multiLvlStrCache>
            </c:multiLvlStrRef>
          </c:cat>
          <c:val>
            <c:numRef>
              <c:f>Sheet1!$B$2:$B$6</c:f>
              <c:numCache>
                <c:formatCode>General</c:formatCode>
                <c:ptCount val="5"/>
                <c:pt idx="0">
                  <c:v>13</c:v>
                </c:pt>
                <c:pt idx="1">
                  <c:v>12</c:v>
                </c:pt>
                <c:pt idx="2">
                  <c:v>12</c:v>
                </c:pt>
                <c:pt idx="3">
                  <c:v>14</c:v>
                </c:pt>
                <c:pt idx="4">
                  <c:v>12</c:v>
                </c:pt>
              </c:numCache>
            </c:numRef>
          </c:val>
        </c:ser>
        <c:ser>
          <c:idx val="1"/>
          <c:order val="1"/>
          <c:tx>
            <c:strRef>
              <c:f>Sheet1!$C$1</c:f>
              <c:strCache>
                <c:ptCount val="1"/>
                <c:pt idx="0">
                  <c:v>Face detection</c:v>
                </c:pt>
              </c:strCache>
            </c:strRef>
          </c:tx>
          <c:spPr>
            <a:solidFill>
              <a:srgbClr val="A2761A"/>
            </a:solidFill>
            <a:effectLst/>
          </c:spPr>
          <c:invertIfNegative val="0"/>
          <c:dLbls>
            <c:numFmt formatCode="#,##0" sourceLinked="0"/>
            <c:txPr>
              <a:bodyPr/>
              <a:lstStyle/>
              <a:p>
                <a:pPr>
                  <a:defRPr b="1"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CPU (WASM)</c:v>
                  </c:pt>
                  <c:pt idx="1">
                    <c:v>WebGPU, integrated GPU</c:v>
                  </c:pt>
                  <c:pt idx="2">
                    <c:v>Hybrid, integrated GPU</c:v>
                  </c:pt>
                  <c:pt idx="3">
                    <c:v>WebGPU, RTX 3060</c:v>
                  </c:pt>
                  <c:pt idx="4">
                    <c:v>Hybrid, RTX 3060</c:v>
                  </c:pt>
                </c:lvl>
              </c:multiLvlStrCache>
            </c:multiLvlStrRef>
          </c:cat>
          <c:val>
            <c:numRef>
              <c:f>Sheet1!$C$2:$C$6</c:f>
              <c:numCache>
                <c:formatCode>General</c:formatCode>
                <c:ptCount val="5"/>
                <c:pt idx="0">
                  <c:v>77</c:v>
                </c:pt>
                <c:pt idx="1">
                  <c:v>79</c:v>
                </c:pt>
                <c:pt idx="2">
                  <c:v>101</c:v>
                </c:pt>
                <c:pt idx="3">
                  <c:v>61</c:v>
                </c:pt>
                <c:pt idx="4">
                  <c:v>57</c:v>
                </c:pt>
              </c:numCache>
            </c:numRef>
          </c:val>
        </c:ser>
        <c:ser>
          <c:idx val="2"/>
          <c:order val="2"/>
          <c:tx>
            <c:strRef>
              <c:f>Sheet1!$D$1</c:f>
              <c:strCache>
                <c:ptCount val="1"/>
                <c:pt idx="0">
                  <c:v>Recognition</c:v>
                </c:pt>
              </c:strCache>
            </c:strRef>
          </c:tx>
          <c:spPr>
            <a:solidFill>
              <a:srgbClr val="2A74A6"/>
            </a:solidFill>
            <a:effectLst/>
          </c:spPr>
          <c:invertIfNegative val="0"/>
          <c:dLbls>
            <c:numFmt formatCode="#,##0" sourceLinked="0"/>
            <c:txPr>
              <a:bodyPr/>
              <a:lstStyle/>
              <a:p>
                <a:pPr>
                  <a:defRPr b="1"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CPU (WASM)</c:v>
                  </c:pt>
                  <c:pt idx="1">
                    <c:v>WebGPU, integrated GPU</c:v>
                  </c:pt>
                  <c:pt idx="2">
                    <c:v>Hybrid, integrated GPU</c:v>
                  </c:pt>
                  <c:pt idx="3">
                    <c:v>WebGPU, RTX 3060</c:v>
                  </c:pt>
                  <c:pt idx="4">
                    <c:v>Hybrid, RTX 3060</c:v>
                  </c:pt>
                </c:lvl>
              </c:multiLvlStrCache>
            </c:multiLvlStrRef>
          </c:cat>
          <c:val>
            <c:numRef>
              <c:f>Sheet1!$D$2:$D$6</c:f>
              <c:numCache>
                <c:formatCode>General</c:formatCode>
                <c:ptCount val="5"/>
                <c:pt idx="0">
                  <c:v>41</c:v>
                </c:pt>
                <c:pt idx="1">
                  <c:v>149</c:v>
                </c:pt>
                <c:pt idx="2">
                  <c:v>42</c:v>
                </c:pt>
                <c:pt idx="3">
                  <c:v>161</c:v>
                </c:pt>
                <c:pt idx="4">
                  <c:v>41</c:v>
                </c:pt>
              </c:numCache>
            </c:numRef>
          </c:val>
        </c:ser>
        <c:dLbls>
          <c:numFmt formatCode="#,##0" sourceLinked="0"/>
          <c:txPr>
            <a:bodyPr/>
            <a:lstStyle/>
            <a:p>
              <a:pPr>
                <a:defRPr b="1"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FC3B0"/>
            </a:solidFill>
            <a:prstDash val="solid"/>
            <a:round/>
          </a:ln>
        </c:spPr>
        <c:txPr>
          <a:bodyPr/>
          <a:lstStyle/>
          <a:p>
            <a:pPr>
              <a:defRPr sz="1100" b="0" i="0" u="none" strike="noStrike">
                <a:solidFill>
                  <a:srgbClr val="6E645B"/>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4DACB"/>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6E645B"/>
                </a:solidFill>
                <a:latin typeface="+mn-lt"/>
              </a:defRPr>
            </a:pPr>
            <a:endParaRPr lang="en-US"/>
          </a:p>
        </c:txPr>
        <c:crossAx val="2094734554"/>
        <c:crosses val="autoZero"/>
        <c:crossBetween val="between"/>
      </c:valAx>
      <c:spPr>
        <a:solidFill>
          <a:srgbClr val="F5EFE6"/>
        </a:solidFill>
        <a:ln>
          <a:noFill/>
        </a:ln>
        <a:effectLst/>
      </c:spPr>
    </c:plotArea>
    <c:legend>
      <c:legendPos val="b"/>
      <c:overlay val="0"/>
      <c:txPr>
        <a:bodyPr/>
        <a:lstStyle/>
        <a:p>
          <a:pPr>
            <a:defRPr sz="1200">
              <a:solidFill>
                <a:srgbClr val="221C18"/>
              </a:solidFill>
              <a:latin typeface="+mn-lt"/>
              <a:cs typeface="+mn-lt"/>
            </a:defRPr>
          </a:pPr>
          <a:endParaRPr lang="en-US"/>
        </a:p>
      </c:txPr>
    </c:legend>
    <c:plotVisOnly val="1"/>
    <c:dispBlanksAs val="span"/>
  </c:chart>
  <c:spPr>
    <a:solidFill>
      <a:srgbClr val="F5EFE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1C18"/>
                </a:solidFill>
                <a:latin typeface="+mn-lt"/>
              </a:defRPr>
            </a:pPr>
            <a:r>
              <a:rPr sz="1300" b="0" i="0" u="none" strike="noStrike">
                <a:solidFill>
                  <a:srgbClr val="221C18"/>
                </a:solidFill>
                <a:latin typeface="+mn-lt"/>
              </a:rPr>
              <a:t>Clients correctly identified, by estimated distance to the camera</a:t>
            </a:r>
          </a:p>
        </c:rich>
      </c:tx>
      <c:layout/>
      <c:overlay val="0"/>
    </c:title>
    <c:autoTitleDeleted val="0"/>
    <c:plotArea>
      <c:layout/>
      <c:lineChart>
        <c:varyColors val="0"/>
        <c:ser>
          <c:idx val="0"/>
          <c:order val="0"/>
          <c:tx>
            <c:strRef>
              <c:f>Sheet1!$B$1</c:f>
              <c:strCache>
                <c:ptCount val="1"/>
                <c:pt idx="0">
                  <c:v>Correctly identified</c:v>
                </c:pt>
              </c:strCache>
            </c:strRef>
          </c:tx>
          <c:spPr>
            <a:solidFill>
              <a:srgbClr val="2A74A6"/>
            </a:solidFill>
            <a:ln w="31750" cap="flat">
              <a:solidFill>
                <a:srgbClr val="2A74A6"/>
              </a:solidFill>
              <a:prstDash val="solid"/>
              <a:round/>
            </a:ln>
            <a:effectLst/>
          </c:spPr>
          <c:invertIfNegative val="0"/>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marker>
            <c:symbol val="circle"/>
            <c:size val="8"/>
            <c:spPr>
              <a:solidFill>
                <a:srgbClr val="2A74A6"/>
              </a:solidFill>
              <a:ln w="9525" cap="flat">
                <a:solidFill>
                  <a:srgbClr val="2A74A6"/>
                </a:solidFill>
                <a:prstDash val="solid"/>
                <a:round/>
              </a:ln>
              <a:effectLst/>
            </c:spPr>
          </c:marker>
          <c:cat>
            <c:multiLvlStrRef>
              <c:f>Sheet1!$A$2:$A$10</c:f>
              <c:multiLvlStrCache>
                <c:ptCount val="9"/>
                <c:lvl>
                  <c:pt idx="0">
                    <c:v>0.6 m</c:v>
                  </c:pt>
                  <c:pt idx="1">
                    <c:v>0.8 m</c:v>
                  </c:pt>
                  <c:pt idx="2">
                    <c:v>1.0 m</c:v>
                  </c:pt>
                  <c:pt idx="3">
                    <c:v>1.4 m</c:v>
                  </c:pt>
                  <c:pt idx="4">
                    <c:v>2.0 m</c:v>
                  </c:pt>
                  <c:pt idx="5">
                    <c:v>2.7 m</c:v>
                  </c:pt>
                  <c:pt idx="6">
                    <c:v>3.9 m</c:v>
                  </c:pt>
                  <c:pt idx="7">
                    <c:v>5.5 m</c:v>
                  </c:pt>
                  <c:pt idx="8">
                    <c:v>7.6 m</c:v>
                  </c:pt>
                </c:lvl>
              </c:multiLvlStrCache>
            </c:multiLvlStrRef>
          </c:cat>
          <c:val>
            <c:numRef>
              <c:f>Sheet1!$B$2:$B$10</c:f>
              <c:numCache>
                <c:formatCode>General</c:formatCode>
                <c:ptCount val="9"/>
                <c:pt idx="0">
                  <c:v>100</c:v>
                </c:pt>
                <c:pt idx="1">
                  <c:v>100</c:v>
                </c:pt>
                <c:pt idx="2">
                  <c:v>100</c:v>
                </c:pt>
                <c:pt idx="3">
                  <c:v>100</c:v>
                </c:pt>
                <c:pt idx="4">
                  <c:v>100</c:v>
                </c:pt>
                <c:pt idx="5">
                  <c:v>83.3</c:v>
                </c:pt>
                <c:pt idx="6">
                  <c:v>83.3</c:v>
                </c:pt>
                <c:pt idx="7">
                  <c:v>33.3</c:v>
                </c:pt>
                <c:pt idx="8">
                  <c:v>0</c:v>
                </c:pt>
              </c:numCache>
            </c:numRef>
          </c:val>
          <c:smooth val="0"/>
        </c:ser>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FC3B0"/>
            </a:solidFill>
            <a:prstDash val="solid"/>
            <a:round/>
          </a:ln>
        </c:spPr>
        <c:txPr>
          <a:bodyPr/>
          <a:lstStyle/>
          <a:p>
            <a:pPr>
              <a:defRPr sz="1100" b="0" i="0" u="none" strike="noStrike">
                <a:solidFill>
                  <a:srgbClr val="6E645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4DACB"/>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6E645B"/>
                </a:solidFill>
                <a:latin typeface="+mn-lt"/>
              </a:defRPr>
            </a:pPr>
            <a:endParaRPr lang="en-US"/>
          </a:p>
        </c:txPr>
        <c:crossAx val="2094734554"/>
        <c:crosses val="autoZero"/>
        <c:crossBetween val="between"/>
        <c:majorUnit val="20"/>
      </c:valAx>
      <c:spPr>
        <a:solidFill>
          <a:srgbClr val="F5EFE6"/>
        </a:solidFill>
        <a:ln>
          <a:noFill/>
        </a:ln>
        <a:effectLst/>
      </c:spPr>
    </c:plotArea>
    <c:plotVisOnly val="1"/>
    <c:dispBlanksAs val="span"/>
  </c:chart>
  <c:spPr>
    <a:solidFill>
      <a:srgbClr val="F5EFE6"/>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1C18"/>
                </a:solidFill>
                <a:latin typeface="+mn-lt"/>
              </a:defRPr>
            </a:pPr>
            <a:r>
              <a:rPr sz="1300" b="0" i="0" u="none" strike="noStrike">
                <a:solidFill>
                  <a:srgbClr val="221C18"/>
                </a:solidFill>
                <a:latin typeface="+mn-lt"/>
              </a:rPr>
              <a:t>Exposure (×)</a:t>
            </a:r>
          </a:p>
        </c:rich>
      </c:tx>
      <c:layout/>
      <c:overlay val="0"/>
    </c:title>
    <c:autoTitleDeleted val="0"/>
    <c:plotArea>
      <c:layout/>
      <c:lineChart>
        <c:varyColors val="0"/>
        <c:ser>
          <c:idx val="0"/>
          <c:order val="0"/>
          <c:tx>
            <c:strRef>
              <c:f>Sheet1!$B$1</c:f>
              <c:strCache>
                <c:ptCount val="1"/>
                <c:pt idx="0">
                  <c:v>Correctly identified</c:v>
                </c:pt>
              </c:strCache>
            </c:strRef>
          </c:tx>
          <c:spPr>
            <a:solidFill>
              <a:srgbClr val="2A74A6"/>
            </a:solidFill>
            <a:ln w="25400" cap="flat">
              <a:solidFill>
                <a:srgbClr val="2A74A6"/>
              </a:solidFill>
              <a:prstDash val="solid"/>
              <a:round/>
            </a:ln>
            <a:effectLst/>
          </c:spPr>
          <c:invertIfNegative val="0"/>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marker>
            <c:symbol val="circle"/>
            <c:size val="6"/>
            <c:spPr>
              <a:solidFill>
                <a:srgbClr val="2A74A6"/>
              </a:solidFill>
              <a:ln w="9525" cap="flat">
                <a:solidFill>
                  <a:srgbClr val="2A74A6"/>
                </a:solidFill>
                <a:prstDash val="solid"/>
                <a:round/>
              </a:ln>
              <a:effectLst/>
            </c:spPr>
          </c:marker>
          <c:cat>
            <c:multiLvlStrRef>
              <c:f>Sheet1!$A$2:$A$12</c:f>
              <c:multiLvlStrCache>
                <c:ptCount val="11"/>
                <c:lvl>
                  <c:pt idx="0">
                    <c:v>0.04</c:v>
                  </c:pt>
                  <c:pt idx="1">
                    <c:v>0.07</c:v>
                  </c:pt>
                  <c:pt idx="2">
                    <c:v>0.1</c:v>
                  </c:pt>
                  <c:pt idx="3">
                    <c:v>0.15</c:v>
                  </c:pt>
                  <c:pt idx="4">
                    <c:v>0.25</c:v>
                  </c:pt>
                  <c:pt idx="5">
                    <c:v>0.5</c:v>
                  </c:pt>
                  <c:pt idx="6">
                    <c:v>1</c:v>
                  </c:pt>
                  <c:pt idx="7">
                    <c:v>1.8</c:v>
                  </c:pt>
                  <c:pt idx="8">
                    <c:v>2.4</c:v>
                  </c:pt>
                  <c:pt idx="9">
                    <c:v>3.5</c:v>
                  </c:pt>
                  <c:pt idx="10">
                    <c:v>5</c:v>
                  </c:pt>
                </c:lvl>
              </c:multiLvlStrCache>
            </c:multiLvlStrRef>
          </c:cat>
          <c:val>
            <c:numRef>
              <c:f>Sheet1!$B$2:$B$12</c:f>
              <c:numCache>
                <c:formatCode>General</c:formatCode>
                <c:ptCount val="11"/>
                <c:pt idx="0">
                  <c:v>66.7</c:v>
                </c:pt>
                <c:pt idx="1">
                  <c:v>100</c:v>
                </c:pt>
                <c:pt idx="2">
                  <c:v>100</c:v>
                </c:pt>
                <c:pt idx="3">
                  <c:v>100</c:v>
                </c:pt>
                <c:pt idx="4">
                  <c:v>100</c:v>
                </c:pt>
                <c:pt idx="5">
                  <c:v>100</c:v>
                </c:pt>
                <c:pt idx="6">
                  <c:v>100</c:v>
                </c:pt>
                <c:pt idx="7">
                  <c:v>100</c:v>
                </c:pt>
                <c:pt idx="8">
                  <c:v>100</c:v>
                </c:pt>
                <c:pt idx="9">
                  <c:v>50</c:v>
                </c:pt>
                <c:pt idx="10">
                  <c:v>16.7</c:v>
                </c:pt>
              </c:numCache>
            </c:numRef>
          </c:val>
          <c:smooth val="0"/>
        </c:ser>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FC3B0"/>
            </a:solidFill>
            <a:prstDash val="solid"/>
            <a:round/>
          </a:ln>
        </c:spPr>
        <c:txPr>
          <a:bodyPr/>
          <a:lstStyle/>
          <a:p>
            <a:pPr>
              <a:defRPr sz="900" b="0" i="0" u="none" strike="noStrike">
                <a:solidFill>
                  <a:srgbClr val="6E645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4DACB"/>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6E645B"/>
                </a:solidFill>
                <a:latin typeface="+mn-lt"/>
              </a:defRPr>
            </a:pPr>
            <a:endParaRPr lang="en-US"/>
          </a:p>
        </c:txPr>
        <c:crossAx val="2094734554"/>
        <c:crosses val="autoZero"/>
        <c:crossBetween val="between"/>
        <c:majorUnit val="50"/>
      </c:valAx>
      <c:spPr>
        <a:solidFill>
          <a:srgbClr val="F5EFE6"/>
        </a:solidFill>
        <a:ln>
          <a:noFill/>
        </a:ln>
        <a:effectLst/>
      </c:spPr>
    </c:plotArea>
    <c:plotVisOnly val="1"/>
    <c:dispBlanksAs val="span"/>
  </c:chart>
  <c:spPr>
    <a:solidFill>
      <a:srgbClr val="F5EFE6"/>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1C18"/>
                </a:solidFill>
                <a:latin typeface="+mn-lt"/>
              </a:defRPr>
            </a:pPr>
            <a:r>
              <a:rPr sz="1300" b="0" i="0" u="none" strike="noStrike">
                <a:solidFill>
                  <a:srgbClr val="221C18"/>
                </a:solidFill>
                <a:latin typeface="+mn-lt"/>
              </a:rPr>
              <a:t>Blur (px)</a:t>
            </a:r>
          </a:p>
        </c:rich>
      </c:tx>
      <c:layout/>
      <c:overlay val="0"/>
    </c:title>
    <c:autoTitleDeleted val="0"/>
    <c:plotArea>
      <c:layout/>
      <c:lineChart>
        <c:varyColors val="0"/>
        <c:ser>
          <c:idx val="0"/>
          <c:order val="0"/>
          <c:tx>
            <c:strRef>
              <c:f>Sheet1!$B$1</c:f>
              <c:strCache>
                <c:ptCount val="1"/>
                <c:pt idx="0">
                  <c:v>Correctly identified</c:v>
                </c:pt>
              </c:strCache>
            </c:strRef>
          </c:tx>
          <c:spPr>
            <a:solidFill>
              <a:srgbClr val="2A74A6"/>
            </a:solidFill>
            <a:ln w="25400" cap="flat">
              <a:solidFill>
                <a:srgbClr val="2A74A6"/>
              </a:solidFill>
              <a:prstDash val="solid"/>
              <a:round/>
            </a:ln>
            <a:effectLst/>
          </c:spPr>
          <c:invertIfNegative val="0"/>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marker>
            <c:symbol val="circle"/>
            <c:size val="6"/>
            <c:spPr>
              <a:solidFill>
                <a:srgbClr val="2A74A6"/>
              </a:solidFill>
              <a:ln w="9525" cap="flat">
                <a:solidFill>
                  <a:srgbClr val="2A74A6"/>
                </a:solidFill>
                <a:prstDash val="solid"/>
                <a:round/>
              </a:ln>
              <a:effectLst/>
            </c:spPr>
          </c:marker>
          <c:cat>
            <c:multiLvlStrRef>
              <c:f>Sheet1!$A$2:$A$9</c:f>
              <c:multiLvlStrCache>
                <c:ptCount val="8"/>
                <c:lvl>
                  <c:pt idx="0">
                    <c:v>0</c:v>
                  </c:pt>
                  <c:pt idx="1">
                    <c:v>2</c:v>
                  </c:pt>
                  <c:pt idx="2">
                    <c:v>4</c:v>
                  </c:pt>
                  <c:pt idx="3">
                    <c:v>6</c:v>
                  </c:pt>
                  <c:pt idx="4">
                    <c:v>8</c:v>
                  </c:pt>
                  <c:pt idx="5">
                    <c:v>11</c:v>
                  </c:pt>
                  <c:pt idx="6">
                    <c:v>14</c:v>
                  </c:pt>
                  <c:pt idx="7">
                    <c:v>18</c:v>
                  </c:pt>
                </c:lvl>
              </c:multiLvlStrCache>
            </c:multiLvlStrRef>
          </c:cat>
          <c:val>
            <c:numRef>
              <c:f>Sheet1!$B$2:$B$9</c:f>
              <c:numCache>
                <c:formatCode>General</c:formatCode>
                <c:ptCount val="8"/>
                <c:pt idx="0">
                  <c:v>100</c:v>
                </c:pt>
                <c:pt idx="1">
                  <c:v>100</c:v>
                </c:pt>
                <c:pt idx="2">
                  <c:v>100</c:v>
                </c:pt>
                <c:pt idx="3">
                  <c:v>100</c:v>
                </c:pt>
                <c:pt idx="4">
                  <c:v>100</c:v>
                </c:pt>
                <c:pt idx="5">
                  <c:v>16.7</c:v>
                </c:pt>
                <c:pt idx="6">
                  <c:v>0</c:v>
                </c:pt>
                <c:pt idx="7">
                  <c:v>0</c:v>
                </c:pt>
              </c:numCache>
            </c:numRef>
          </c:val>
          <c:smooth val="0"/>
        </c:ser>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FC3B0"/>
            </a:solidFill>
            <a:prstDash val="solid"/>
            <a:round/>
          </a:ln>
        </c:spPr>
        <c:txPr>
          <a:bodyPr/>
          <a:lstStyle/>
          <a:p>
            <a:pPr>
              <a:defRPr sz="1000" b="0" i="0" u="none" strike="noStrike">
                <a:solidFill>
                  <a:srgbClr val="6E645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4DACB"/>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6E645B"/>
                </a:solidFill>
                <a:latin typeface="+mn-lt"/>
              </a:defRPr>
            </a:pPr>
            <a:endParaRPr lang="en-US"/>
          </a:p>
        </c:txPr>
        <c:crossAx val="2094734554"/>
        <c:crosses val="autoZero"/>
        <c:crossBetween val="between"/>
        <c:majorUnit val="50"/>
      </c:valAx>
      <c:spPr>
        <a:solidFill>
          <a:srgbClr val="F5EFE6"/>
        </a:solidFill>
        <a:ln>
          <a:noFill/>
        </a:ln>
        <a:effectLst/>
      </c:spPr>
    </c:plotArea>
    <c:plotVisOnly val="1"/>
    <c:dispBlanksAs val="span"/>
  </c:chart>
  <c:spPr>
    <a:solidFill>
      <a:srgbClr val="F5EFE6"/>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1C18"/>
                </a:solidFill>
                <a:latin typeface="+mn-lt"/>
              </a:defRPr>
            </a:pPr>
            <a:r>
              <a:rPr sz="1300" b="0" i="0" u="none" strike="noStrike">
                <a:solidFill>
                  <a:srgbClr val="221C18"/>
                </a:solidFill>
                <a:latin typeface="+mn-lt"/>
              </a:rPr>
              <a:t>Head tilt (°)</a:t>
            </a:r>
          </a:p>
        </c:rich>
      </c:tx>
      <c:layout/>
      <c:overlay val="0"/>
    </c:title>
    <c:autoTitleDeleted val="0"/>
    <c:plotArea>
      <c:layout/>
      <c:lineChart>
        <c:varyColors val="0"/>
        <c:ser>
          <c:idx val="0"/>
          <c:order val="0"/>
          <c:tx>
            <c:strRef>
              <c:f>Sheet1!$B$1</c:f>
              <c:strCache>
                <c:ptCount val="1"/>
                <c:pt idx="0">
                  <c:v>Correctly identified</c:v>
                </c:pt>
              </c:strCache>
            </c:strRef>
          </c:tx>
          <c:spPr>
            <a:solidFill>
              <a:srgbClr val="2A74A6"/>
            </a:solidFill>
            <a:ln w="25400" cap="flat">
              <a:solidFill>
                <a:srgbClr val="2A74A6"/>
              </a:solidFill>
              <a:prstDash val="solid"/>
              <a:round/>
            </a:ln>
            <a:effectLst/>
          </c:spPr>
          <c:invertIfNegative val="0"/>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marker>
            <c:symbol val="circle"/>
            <c:size val="6"/>
            <c:spPr>
              <a:solidFill>
                <a:srgbClr val="2A74A6"/>
              </a:solidFill>
              <a:ln w="9525" cap="flat">
                <a:solidFill>
                  <a:srgbClr val="2A74A6"/>
                </a:solidFill>
                <a:prstDash val="solid"/>
                <a:round/>
              </a:ln>
              <a:effectLst/>
            </c:spPr>
          </c:marker>
          <c:cat>
            <c:multiLvlStrRef>
              <c:f>Sheet1!$A$2:$A$8</c:f>
              <c:multiLvlStrCache>
                <c:ptCount val="7"/>
                <c:lvl>
                  <c:pt idx="0">
                    <c:v>0</c:v>
                  </c:pt>
                  <c:pt idx="1">
                    <c:v>10</c:v>
                  </c:pt>
                  <c:pt idx="2">
                    <c:v>20</c:v>
                  </c:pt>
                  <c:pt idx="3">
                    <c:v>30</c:v>
                  </c:pt>
                  <c:pt idx="4">
                    <c:v>45</c:v>
                  </c:pt>
                  <c:pt idx="5">
                    <c:v>60</c:v>
                  </c:pt>
                  <c:pt idx="6">
                    <c:v>90</c:v>
                  </c:pt>
                </c:lvl>
              </c:multiLvlStrCache>
            </c:multiLvlStrRef>
          </c:cat>
          <c:val>
            <c:numRef>
              <c:f>Sheet1!$B$2:$B$8</c:f>
              <c:numCache>
                <c:formatCode>General</c:formatCode>
                <c:ptCount val="7"/>
                <c:pt idx="0">
                  <c:v>100</c:v>
                </c:pt>
                <c:pt idx="1">
                  <c:v>100</c:v>
                </c:pt>
                <c:pt idx="2">
                  <c:v>100</c:v>
                </c:pt>
                <c:pt idx="3">
                  <c:v>100</c:v>
                </c:pt>
                <c:pt idx="4">
                  <c:v>100</c:v>
                </c:pt>
                <c:pt idx="5">
                  <c:v>100</c:v>
                </c:pt>
                <c:pt idx="6">
                  <c:v>50</c:v>
                </c:pt>
              </c:numCache>
            </c:numRef>
          </c:val>
          <c:smooth val="0"/>
        </c:ser>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FC3B0"/>
            </a:solidFill>
            <a:prstDash val="solid"/>
            <a:round/>
          </a:ln>
        </c:spPr>
        <c:txPr>
          <a:bodyPr/>
          <a:lstStyle/>
          <a:p>
            <a:pPr>
              <a:defRPr sz="1000" b="0" i="0" u="none" strike="noStrike">
                <a:solidFill>
                  <a:srgbClr val="6E645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4DACB"/>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6E645B"/>
                </a:solidFill>
                <a:latin typeface="+mn-lt"/>
              </a:defRPr>
            </a:pPr>
            <a:endParaRPr lang="en-US"/>
          </a:p>
        </c:txPr>
        <c:crossAx val="2094734554"/>
        <c:crosses val="autoZero"/>
        <c:crossBetween val="between"/>
        <c:majorUnit val="50"/>
      </c:valAx>
      <c:spPr>
        <a:solidFill>
          <a:srgbClr val="F5EFE6"/>
        </a:solidFill>
        <a:ln>
          <a:noFill/>
        </a:ln>
        <a:effectLst/>
      </c:spPr>
    </c:plotArea>
    <c:plotVisOnly val="1"/>
    <c:dispBlanksAs val="span"/>
  </c:chart>
  <c:spPr>
    <a:solidFill>
      <a:srgbClr val="F5EFE6"/>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1C18"/>
                </a:solidFill>
                <a:latin typeface="+mn-lt"/>
              </a:defRPr>
            </a:pPr>
            <a:r>
              <a:rPr sz="1300" b="0" i="0" u="none" strike="noStrike">
                <a:solidFill>
                  <a:srgbClr val="221C18"/>
                </a:solidFill>
                <a:latin typeface="+mn-lt"/>
              </a:rPr>
              <a:t>Lower face covered (%)</a:t>
            </a:r>
          </a:p>
        </c:rich>
      </c:tx>
      <c:layout/>
      <c:overlay val="0"/>
    </c:title>
    <c:autoTitleDeleted val="0"/>
    <c:plotArea>
      <c:layout/>
      <c:lineChart>
        <c:varyColors val="0"/>
        <c:ser>
          <c:idx val="0"/>
          <c:order val="0"/>
          <c:tx>
            <c:strRef>
              <c:f>Sheet1!$B$1</c:f>
              <c:strCache>
                <c:ptCount val="1"/>
                <c:pt idx="0">
                  <c:v>Correctly identified</c:v>
                </c:pt>
              </c:strCache>
            </c:strRef>
          </c:tx>
          <c:spPr>
            <a:solidFill>
              <a:srgbClr val="2A74A6"/>
            </a:solidFill>
            <a:ln w="25400" cap="flat">
              <a:solidFill>
                <a:srgbClr val="2A74A6"/>
              </a:solidFill>
              <a:prstDash val="solid"/>
              <a:round/>
            </a:ln>
            <a:effectLst/>
          </c:spPr>
          <c:invertIfNegative val="0"/>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marker>
            <c:symbol val="circle"/>
            <c:size val="6"/>
            <c:spPr>
              <a:solidFill>
                <a:srgbClr val="2A74A6"/>
              </a:solidFill>
              <a:ln w="9525" cap="flat">
                <a:solidFill>
                  <a:srgbClr val="2A74A6"/>
                </a:solidFill>
                <a:prstDash val="solid"/>
                <a:round/>
              </a:ln>
              <a:effectLst/>
            </c:spPr>
          </c:marker>
          <c:cat>
            <c:multiLvlStrRef>
              <c:f>Sheet1!$A$2:$A$6</c:f>
              <c:multiLvlStrCache>
                <c:ptCount val="5"/>
                <c:lvl>
                  <c:pt idx="0">
                    <c:v>0</c:v>
                  </c:pt>
                  <c:pt idx="1">
                    <c:v>20</c:v>
                  </c:pt>
                  <c:pt idx="2">
                    <c:v>35</c:v>
                  </c:pt>
                  <c:pt idx="3">
                    <c:v>50</c:v>
                  </c:pt>
                  <c:pt idx="4">
                    <c:v>65</c:v>
                  </c:pt>
                </c:lvl>
              </c:multiLvlStrCache>
            </c:multiLvlStrRef>
          </c:cat>
          <c:val>
            <c:numRef>
              <c:f>Sheet1!$B$2:$B$6</c:f>
              <c:numCache>
                <c:formatCode>General</c:formatCode>
                <c:ptCount val="5"/>
                <c:pt idx="0">
                  <c:v>100</c:v>
                </c:pt>
                <c:pt idx="1">
                  <c:v>100</c:v>
                </c:pt>
                <c:pt idx="2">
                  <c:v>100</c:v>
                </c:pt>
                <c:pt idx="3">
                  <c:v>100</c:v>
                </c:pt>
                <c:pt idx="4">
                  <c:v>0</c:v>
                </c:pt>
              </c:numCache>
            </c:numRef>
          </c:val>
          <c:smooth val="0"/>
        </c:ser>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FC3B0"/>
            </a:solidFill>
            <a:prstDash val="solid"/>
            <a:round/>
          </a:ln>
        </c:spPr>
        <c:txPr>
          <a:bodyPr/>
          <a:lstStyle/>
          <a:p>
            <a:pPr>
              <a:defRPr sz="1000" b="0" i="0" u="none" strike="noStrike">
                <a:solidFill>
                  <a:srgbClr val="6E645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4DACB"/>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6E645B"/>
                </a:solidFill>
                <a:latin typeface="+mn-lt"/>
              </a:defRPr>
            </a:pPr>
            <a:endParaRPr lang="en-US"/>
          </a:p>
        </c:txPr>
        <c:crossAx val="2094734554"/>
        <c:crosses val="autoZero"/>
        <c:crossBetween val="between"/>
        <c:majorUnit val="50"/>
      </c:valAx>
      <c:spPr>
        <a:solidFill>
          <a:srgbClr val="F5EFE6"/>
        </a:solidFill>
        <a:ln>
          <a:noFill/>
        </a:ln>
        <a:effectLst/>
      </c:spPr>
    </c:plotArea>
    <c:plotVisOnly val="1"/>
    <c:dispBlanksAs val="span"/>
  </c:chart>
  <c:spPr>
    <a:solidFill>
      <a:srgbClr val="F5EFE6"/>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1C18"/>
                </a:solidFill>
                <a:latin typeface="+mn-lt"/>
              </a:defRPr>
            </a:pPr>
            <a:r>
              <a:rPr sz="1300" b="0" i="0" u="none" strike="noStrike">
                <a:solidFill>
                  <a:srgbClr val="221C18"/>
                </a:solidFill>
                <a:latin typeface="+mn-lt"/>
              </a:rPr>
              <a:t>Sensor noise</a:t>
            </a:r>
          </a:p>
        </c:rich>
      </c:tx>
      <c:layout/>
      <c:overlay val="0"/>
    </c:title>
    <c:autoTitleDeleted val="0"/>
    <c:plotArea>
      <c:layout/>
      <c:lineChart>
        <c:varyColors val="0"/>
        <c:ser>
          <c:idx val="0"/>
          <c:order val="0"/>
          <c:tx>
            <c:strRef>
              <c:f>Sheet1!$B$1</c:f>
              <c:strCache>
                <c:ptCount val="1"/>
                <c:pt idx="0">
                  <c:v>Correctly identified</c:v>
                </c:pt>
              </c:strCache>
            </c:strRef>
          </c:tx>
          <c:spPr>
            <a:solidFill>
              <a:srgbClr val="2A74A6"/>
            </a:solidFill>
            <a:ln w="25400" cap="flat">
              <a:solidFill>
                <a:srgbClr val="2A74A6"/>
              </a:solidFill>
              <a:prstDash val="solid"/>
              <a:round/>
            </a:ln>
            <a:effectLst/>
          </c:spPr>
          <c:invertIfNegative val="0"/>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marker>
            <c:symbol val="circle"/>
            <c:size val="6"/>
            <c:spPr>
              <a:solidFill>
                <a:srgbClr val="2A74A6"/>
              </a:solidFill>
              <a:ln w="9525" cap="flat">
                <a:solidFill>
                  <a:srgbClr val="2A74A6"/>
                </a:solidFill>
                <a:prstDash val="solid"/>
                <a:round/>
              </a:ln>
              <a:effectLst/>
            </c:spPr>
          </c:marker>
          <c:cat>
            <c:multiLvlStrRef>
              <c:f>Sheet1!$A$2:$A$8</c:f>
              <c:multiLvlStrCache>
                <c:ptCount val="7"/>
                <c:lvl>
                  <c:pt idx="0">
                    <c:v>0</c:v>
                  </c:pt>
                  <c:pt idx="1">
                    <c:v>20</c:v>
                  </c:pt>
                  <c:pt idx="2">
                    <c:v>35</c:v>
                  </c:pt>
                  <c:pt idx="3">
                    <c:v>50</c:v>
                  </c:pt>
                  <c:pt idx="4">
                    <c:v>70</c:v>
                  </c:pt>
                  <c:pt idx="5">
                    <c:v>90</c:v>
                  </c:pt>
                  <c:pt idx="6">
                    <c:v>120</c:v>
                  </c:pt>
                </c:lvl>
              </c:multiLvlStrCache>
            </c:multiLvlStrRef>
          </c:cat>
          <c:val>
            <c:numRef>
              <c:f>Sheet1!$B$2:$B$8</c:f>
              <c:numCache>
                <c:formatCode>General</c:formatCode>
                <c:ptCount val="7"/>
                <c:pt idx="0">
                  <c:v>100</c:v>
                </c:pt>
                <c:pt idx="1">
                  <c:v>100</c:v>
                </c:pt>
                <c:pt idx="2">
                  <c:v>100</c:v>
                </c:pt>
                <c:pt idx="3">
                  <c:v>100</c:v>
                </c:pt>
                <c:pt idx="4">
                  <c:v>83.3</c:v>
                </c:pt>
                <c:pt idx="5">
                  <c:v>16.7</c:v>
                </c:pt>
                <c:pt idx="6">
                  <c:v>0</c:v>
                </c:pt>
              </c:numCache>
            </c:numRef>
          </c:val>
          <c:smooth val="0"/>
        </c:ser>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FC3B0"/>
            </a:solidFill>
            <a:prstDash val="solid"/>
            <a:round/>
          </a:ln>
        </c:spPr>
        <c:txPr>
          <a:bodyPr/>
          <a:lstStyle/>
          <a:p>
            <a:pPr>
              <a:defRPr sz="1000" b="0" i="0" u="none" strike="noStrike">
                <a:solidFill>
                  <a:srgbClr val="6E645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4DACB"/>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6E645B"/>
                </a:solidFill>
                <a:latin typeface="+mn-lt"/>
              </a:defRPr>
            </a:pPr>
            <a:endParaRPr lang="en-US"/>
          </a:p>
        </c:txPr>
        <c:crossAx val="2094734554"/>
        <c:crosses val="autoZero"/>
        <c:crossBetween val="between"/>
        <c:majorUnit val="50"/>
      </c:valAx>
      <c:spPr>
        <a:solidFill>
          <a:srgbClr val="F5EFE6"/>
        </a:solidFill>
        <a:ln>
          <a:noFill/>
        </a:ln>
        <a:effectLst/>
      </c:spPr>
    </c:plotArea>
    <c:plotVisOnly val="1"/>
    <c:dispBlanksAs val="span"/>
  </c:chart>
  <c:spPr>
    <a:solidFill>
      <a:srgbClr val="F5EFE6"/>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1C18"/>
                </a:solidFill>
                <a:latin typeface="+mn-lt"/>
              </a:defRPr>
            </a:pPr>
            <a:r>
              <a:rPr sz="1300" b="0" i="0" u="none" strike="noStrike">
                <a:solidFill>
                  <a:srgbClr val="221C18"/>
                </a:solidFill>
                <a:latin typeface="+mn-lt"/>
              </a:rPr>
              <a:t>JPEG quality</a:t>
            </a:r>
          </a:p>
        </c:rich>
      </c:tx>
      <c:layout/>
      <c:overlay val="0"/>
    </c:title>
    <c:autoTitleDeleted val="0"/>
    <c:plotArea>
      <c:layout/>
      <c:lineChart>
        <c:varyColors val="0"/>
        <c:ser>
          <c:idx val="0"/>
          <c:order val="0"/>
          <c:tx>
            <c:strRef>
              <c:f>Sheet1!$B$1</c:f>
              <c:strCache>
                <c:ptCount val="1"/>
                <c:pt idx="0">
                  <c:v>Correctly identified</c:v>
                </c:pt>
              </c:strCache>
            </c:strRef>
          </c:tx>
          <c:spPr>
            <a:solidFill>
              <a:srgbClr val="2A74A6"/>
            </a:solidFill>
            <a:ln w="25400" cap="flat">
              <a:solidFill>
                <a:srgbClr val="2A74A6"/>
              </a:solidFill>
              <a:prstDash val="solid"/>
              <a:round/>
            </a:ln>
            <a:effectLst/>
          </c:spPr>
          <c:invertIfNegative val="0"/>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marker>
            <c:symbol val="circle"/>
            <c:size val="6"/>
            <c:spPr>
              <a:solidFill>
                <a:srgbClr val="2A74A6"/>
              </a:solidFill>
              <a:ln w="9525" cap="flat">
                <a:solidFill>
                  <a:srgbClr val="2A74A6"/>
                </a:solidFill>
                <a:prstDash val="solid"/>
                <a:round/>
              </a:ln>
              <a:effectLst/>
            </c:spPr>
          </c:marker>
          <c:cat>
            <c:multiLvlStrRef>
              <c:f>Sheet1!$A$2:$A$7</c:f>
              <c:multiLvlStrCache>
                <c:ptCount val="6"/>
                <c:lvl>
                  <c:pt idx="0">
                    <c:v>95</c:v>
                  </c:pt>
                  <c:pt idx="1">
                    <c:v>50</c:v>
                  </c:pt>
                  <c:pt idx="2">
                    <c:v>25</c:v>
                  </c:pt>
                  <c:pt idx="3">
                    <c:v>10</c:v>
                  </c:pt>
                  <c:pt idx="4">
                    <c:v>5</c:v>
                  </c:pt>
                  <c:pt idx="5">
                    <c:v>2</c:v>
                  </c:pt>
                </c:lvl>
              </c:multiLvlStrCache>
            </c:multiLvlStrRef>
          </c:cat>
          <c:val>
            <c:numRef>
              <c:f>Sheet1!$B$2:$B$7</c:f>
              <c:numCache>
                <c:formatCode>General</c:formatCode>
                <c:ptCount val="6"/>
                <c:pt idx="0">
                  <c:v>100</c:v>
                </c:pt>
                <c:pt idx="1">
                  <c:v>100</c:v>
                </c:pt>
                <c:pt idx="2">
                  <c:v>100</c:v>
                </c:pt>
                <c:pt idx="3">
                  <c:v>100</c:v>
                </c:pt>
                <c:pt idx="4">
                  <c:v>100</c:v>
                </c:pt>
                <c:pt idx="5">
                  <c:v>66.7</c:v>
                </c:pt>
              </c:numCache>
            </c:numRef>
          </c:val>
          <c:smooth val="0"/>
        </c:ser>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FC3B0"/>
            </a:solidFill>
            <a:prstDash val="solid"/>
            <a:round/>
          </a:ln>
        </c:spPr>
        <c:txPr>
          <a:bodyPr/>
          <a:lstStyle/>
          <a:p>
            <a:pPr>
              <a:defRPr sz="1000" b="0" i="0" u="none" strike="noStrike">
                <a:solidFill>
                  <a:srgbClr val="6E645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4DACB"/>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6E645B"/>
                </a:solidFill>
                <a:latin typeface="+mn-lt"/>
              </a:defRPr>
            </a:pPr>
            <a:endParaRPr lang="en-US"/>
          </a:p>
        </c:txPr>
        <c:crossAx val="2094734554"/>
        <c:crosses val="autoZero"/>
        <c:crossBetween val="between"/>
        <c:majorUnit val="50"/>
      </c:valAx>
      <c:spPr>
        <a:solidFill>
          <a:srgbClr val="F5EFE6"/>
        </a:solidFill>
        <a:ln>
          <a:noFill/>
        </a:ln>
        <a:effectLst/>
      </c:spPr>
    </c:plotArea>
    <c:plotVisOnly val="1"/>
    <c:dispBlanksAs val="span"/>
  </c:chart>
  <c:spPr>
    <a:solidFill>
      <a:srgbClr val="F5EFE6"/>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1C18"/>
                </a:solidFill>
                <a:latin typeface="+mn-lt"/>
              </a:defRPr>
            </a:pPr>
            <a:r>
              <a:rPr sz="1300" b="0" i="0" u="none" strike="noStrike">
                <a:solidFill>
                  <a:srgbClr val="221C18"/>
                </a:solidFill>
                <a:latin typeface="+mn-lt"/>
              </a:rPr>
              <a:t>Face-to-template similarity (share of comparisons)</a:t>
            </a:r>
          </a:p>
        </c:rich>
      </c:tx>
      <c:layout/>
      <c:overlay val="0"/>
    </c:title>
    <c:autoTitleDeleted val="0"/>
    <c:plotArea>
      <c:layout/>
      <c:barChart>
        <c:barDir val="col"/>
        <c:grouping val="clustered"/>
        <c:varyColors val="0"/>
        <c:ser>
          <c:idx val="0"/>
          <c:order val="0"/>
          <c:tx>
            <c:strRef>
              <c:f>Sheet1!$B$1</c:f>
              <c:strCache>
                <c:ptCount val="1"/>
                <c:pt idx="0">
                  <c:v>Same person</c:v>
                </c:pt>
              </c:strCache>
            </c:strRef>
          </c:tx>
          <c:spPr>
            <a:solidFill>
              <a:srgbClr val="2A74A6"/>
            </a:solidFill>
            <a:effectLst/>
          </c:spPr>
          <c:invertIfNegative val="0"/>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cat>
            <c:multiLvlStrRef>
              <c:f>Sheet1!$A$2:$A$13</c:f>
              <c:multiLvlStrCache>
                <c:ptCount val="12"/>
                <c:lvl>
                  <c:pt idx="0">
                    <c:v>-0.2</c:v>
                  </c:pt>
                  <c:pt idx="1">
                    <c:v>-0.1</c:v>
                  </c:pt>
                  <c:pt idx="2">
                    <c:v>0.0</c:v>
                  </c:pt>
                  <c:pt idx="3">
                    <c:v>0.1</c:v>
                  </c:pt>
                  <c:pt idx="4">
                    <c:v>0.2</c:v>
                  </c:pt>
                  <c:pt idx="5">
                    <c:v>0.3</c:v>
                  </c:pt>
                  <c:pt idx="6">
                    <c:v>0.4</c:v>
                  </c:pt>
                  <c:pt idx="7">
                    <c:v>0.5</c:v>
                  </c:pt>
                  <c:pt idx="8">
                    <c:v>0.6</c:v>
                  </c:pt>
                  <c:pt idx="9">
                    <c:v>0.7</c:v>
                  </c:pt>
                  <c:pt idx="10">
                    <c:v>0.8</c:v>
                  </c:pt>
                  <c:pt idx="11">
                    <c:v>0.9</c:v>
                  </c:pt>
                </c:lvl>
              </c:multiLvlStrCache>
            </c:multiLvlStrRef>
          </c:cat>
          <c:val>
            <c:numRef>
              <c:f>Sheet1!$B$2:$B$13</c:f>
              <c:numCache>
                <c:formatCode>General</c:formatCode>
                <c:ptCount val="12"/>
                <c:pt idx="0">
                  <c:v>0</c:v>
                </c:pt>
                <c:pt idx="1">
                  <c:v>0</c:v>
                </c:pt>
                <c:pt idx="2">
                  <c:v>2.8</c:v>
                </c:pt>
                <c:pt idx="3">
                  <c:v>3.8</c:v>
                </c:pt>
                <c:pt idx="4">
                  <c:v>2.8</c:v>
                </c:pt>
                <c:pt idx="5">
                  <c:v>4.5</c:v>
                </c:pt>
                <c:pt idx="6">
                  <c:v>4.1</c:v>
                </c:pt>
                <c:pt idx="7">
                  <c:v>6.2</c:v>
                </c:pt>
                <c:pt idx="8">
                  <c:v>7.6</c:v>
                </c:pt>
                <c:pt idx="9">
                  <c:v>10.7</c:v>
                </c:pt>
                <c:pt idx="10">
                  <c:v>13.4</c:v>
                </c:pt>
                <c:pt idx="11">
                  <c:v>44.1</c:v>
                </c:pt>
              </c:numCache>
            </c:numRef>
          </c:val>
        </c:ser>
        <c:ser>
          <c:idx val="1"/>
          <c:order val="1"/>
          <c:tx>
            <c:strRef>
              <c:f>Sheet1!$C$1</c:f>
              <c:strCache>
                <c:ptCount val="1"/>
                <c:pt idx="0">
                  <c:v>Someone else</c:v>
                </c:pt>
              </c:strCache>
            </c:strRef>
          </c:tx>
          <c:spPr>
            <a:solidFill>
              <a:srgbClr val="A2761A"/>
            </a:solidFill>
            <a:effectLst/>
          </c:spPr>
          <c:invertIfNegative val="0"/>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cat>
            <c:multiLvlStrRef>
              <c:f>Sheet1!$A$2:$A$13</c:f>
              <c:multiLvlStrCache>
                <c:ptCount val="12"/>
                <c:lvl>
                  <c:pt idx="0">
                    <c:v>-0.2</c:v>
                  </c:pt>
                  <c:pt idx="1">
                    <c:v>-0.1</c:v>
                  </c:pt>
                  <c:pt idx="2">
                    <c:v>0.0</c:v>
                  </c:pt>
                  <c:pt idx="3">
                    <c:v>0.1</c:v>
                  </c:pt>
                  <c:pt idx="4">
                    <c:v>0.2</c:v>
                  </c:pt>
                  <c:pt idx="5">
                    <c:v>0.3</c:v>
                  </c:pt>
                  <c:pt idx="6">
                    <c:v>0.4</c:v>
                  </c:pt>
                  <c:pt idx="7">
                    <c:v>0.5</c:v>
                  </c:pt>
                  <c:pt idx="8">
                    <c:v>0.6</c:v>
                  </c:pt>
                  <c:pt idx="9">
                    <c:v>0.7</c:v>
                  </c:pt>
                  <c:pt idx="10">
                    <c:v>0.8</c:v>
                  </c:pt>
                  <c:pt idx="11">
                    <c:v>0.9</c:v>
                  </c:pt>
                </c:lvl>
              </c:multiLvlStrCache>
            </c:multiLvlStrRef>
          </c:cat>
          <c:val>
            <c:numRef>
              <c:f>Sheet1!$C$2:$C$13</c:f>
              <c:numCache>
                <c:formatCode>General</c:formatCode>
                <c:ptCount val="12"/>
                <c:pt idx="0">
                  <c:v>0.4</c:v>
                </c:pt>
                <c:pt idx="1">
                  <c:v>27.7</c:v>
                </c:pt>
                <c:pt idx="2">
                  <c:v>53.5</c:v>
                </c:pt>
                <c:pt idx="3">
                  <c:v>16.7</c:v>
                </c:pt>
                <c:pt idx="4">
                  <c:v>1.7</c:v>
                </c:pt>
                <c:pt idx="5">
                  <c:v>0</c:v>
                </c:pt>
                <c:pt idx="6">
                  <c:v>0</c:v>
                </c:pt>
                <c:pt idx="7">
                  <c:v>0</c:v>
                </c:pt>
                <c:pt idx="8">
                  <c:v>0</c:v>
                </c:pt>
                <c:pt idx="9">
                  <c:v>0</c:v>
                </c:pt>
                <c:pt idx="10">
                  <c:v>0</c:v>
                </c:pt>
                <c:pt idx="11">
                  <c:v>0</c:v>
                </c:pt>
              </c:numCache>
            </c:numRef>
          </c:val>
        </c:ser>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FC3B0"/>
            </a:solidFill>
            <a:prstDash val="solid"/>
            <a:round/>
          </a:ln>
        </c:spPr>
        <c:txPr>
          <a:bodyPr/>
          <a:lstStyle/>
          <a:p>
            <a:pPr>
              <a:defRPr sz="1100" b="0" i="0" u="none" strike="noStrike">
                <a:solidFill>
                  <a:srgbClr val="6E645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4DACB"/>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6E645B"/>
                </a:solidFill>
                <a:latin typeface="+mn-lt"/>
              </a:defRPr>
            </a:pPr>
            <a:endParaRPr lang="en-US"/>
          </a:p>
        </c:txPr>
        <c:crossAx val="2094734554"/>
        <c:crosses val="autoZero"/>
        <c:crossBetween val="between"/>
      </c:valAx>
      <c:spPr>
        <a:solidFill>
          <a:srgbClr val="F5EFE6"/>
        </a:solidFill>
        <a:ln>
          <a:noFill/>
        </a:ln>
        <a:effectLst/>
      </c:spPr>
    </c:plotArea>
    <c:legend>
      <c:legendPos val="b"/>
      <c:overlay val="0"/>
      <c:txPr>
        <a:bodyPr/>
        <a:lstStyle/>
        <a:p>
          <a:pPr>
            <a:defRPr sz="1200">
              <a:solidFill>
                <a:srgbClr val="221C18"/>
              </a:solidFill>
              <a:latin typeface="+mn-lt"/>
              <a:cs typeface="+mn-lt"/>
            </a:defRPr>
          </a:pPr>
          <a:endParaRPr lang="en-US"/>
        </a:p>
      </c:txPr>
    </c:legend>
    <c:plotVisOnly val="1"/>
    <c:dispBlanksAs val="span"/>
  </c:chart>
  <c:spPr>
    <a:solidFill>
      <a:srgbClr val="F5EFE6"/>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1C18"/>
                </a:solidFill>
                <a:latin typeface="+mn-lt"/>
              </a:defRPr>
            </a:pPr>
            <a:r>
              <a:rPr sz="1300" b="0" i="0" u="none" strike="noStrike">
                <a:solidFill>
                  <a:srgbClr val="221C18"/>
                </a:solidFill>
                <a:latin typeface="+mn-lt"/>
              </a:rPr>
              <a:t>Error rates by threshold</a:t>
            </a:r>
          </a:p>
        </c:rich>
      </c:tx>
      <c:layout/>
      <c:overlay val="0"/>
    </c:title>
    <c:autoTitleDeleted val="0"/>
    <c:plotArea>
      <c:layout/>
      <c:lineChart>
        <c:varyColors val="0"/>
        <c:ser>
          <c:idx val="0"/>
          <c:order val="0"/>
          <c:tx>
            <c:strRef>
              <c:f>Sheet1!$B$1</c:f>
              <c:strCache>
                <c:ptCount val="1"/>
                <c:pt idx="0">
                  <c:v>False rejects (FRR)</c:v>
                </c:pt>
              </c:strCache>
            </c:strRef>
          </c:tx>
          <c:spPr>
            <a:solidFill>
              <a:srgbClr val="2A74A6"/>
            </a:solidFill>
            <a:ln w="25400" cap="flat">
              <a:solidFill>
                <a:srgbClr val="2A74A6"/>
              </a:solidFill>
              <a:prstDash val="solid"/>
              <a:round/>
            </a:ln>
            <a:effectLst/>
          </c:spPr>
          <c:invertIfNegative val="0"/>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marker>
            <c:symbol val="none"/>
            <c:size val="6"/>
            <c:spPr>
              <a:solidFill>
                <a:srgbClr val="2A74A6"/>
              </a:solidFill>
              <a:ln w="9525" cap="flat">
                <a:solidFill>
                  <a:srgbClr val="2A74A6"/>
                </a:solidFill>
                <a:prstDash val="solid"/>
                <a:round/>
              </a:ln>
              <a:effectLst/>
            </c:spPr>
          </c:marker>
          <c:cat>
            <c:multiLvlStrRef>
              <c:f>Sheet1!$A$2:$A$18</c:f>
              <c:multiLvlStrCache>
                <c:ptCount val="17"/>
                <c:lvl>
                  <c:pt idx="0">
                    <c:v>0.00</c:v>
                  </c:pt>
                  <c:pt idx="1">
                    <c:v>0.05</c:v>
                  </c:pt>
                  <c:pt idx="2">
                    <c:v>0.10</c:v>
                  </c:pt>
                  <c:pt idx="3">
                    <c:v>0.15</c:v>
                  </c:pt>
                  <c:pt idx="4">
                    <c:v>0.20</c:v>
                  </c:pt>
                  <c:pt idx="5">
                    <c:v>0.25</c:v>
                  </c:pt>
                  <c:pt idx="6">
                    <c:v>0.30</c:v>
                  </c:pt>
                  <c:pt idx="7">
                    <c:v>0.35</c:v>
                  </c:pt>
                  <c:pt idx="8">
                    <c:v>0.40</c:v>
                  </c:pt>
                  <c:pt idx="9">
                    <c:v>0.45</c:v>
                  </c:pt>
                  <c:pt idx="10">
                    <c:v>0.50</c:v>
                  </c:pt>
                  <c:pt idx="11">
                    <c:v>0.55</c:v>
                  </c:pt>
                  <c:pt idx="12">
                    <c:v>0.60</c:v>
                  </c:pt>
                  <c:pt idx="13">
                    <c:v>0.65</c:v>
                  </c:pt>
                  <c:pt idx="14">
                    <c:v>0.70</c:v>
                  </c:pt>
                  <c:pt idx="15">
                    <c:v>0.75</c:v>
                  </c:pt>
                  <c:pt idx="16">
                    <c:v>0.80</c:v>
                  </c:pt>
                </c:lvl>
              </c:multiLvlStrCache>
            </c:multiLvlStrRef>
          </c:cat>
          <c:val>
            <c:numRef>
              <c:f>Sheet1!$B$2:$B$18</c:f>
              <c:numCache>
                <c:formatCode>General</c:formatCode>
                <c:ptCount val="17"/>
                <c:pt idx="0">
                  <c:v>0</c:v>
                </c:pt>
                <c:pt idx="1">
                  <c:v>0.34</c:v>
                </c:pt>
                <c:pt idx="2">
                  <c:v>2.76</c:v>
                </c:pt>
                <c:pt idx="3">
                  <c:v>3.79</c:v>
                </c:pt>
                <c:pt idx="4">
                  <c:v>6.55</c:v>
                </c:pt>
                <c:pt idx="5">
                  <c:v>8.28</c:v>
                </c:pt>
                <c:pt idx="6">
                  <c:v>9.31</c:v>
                </c:pt>
                <c:pt idx="7">
                  <c:v>11.72</c:v>
                </c:pt>
                <c:pt idx="8">
                  <c:v>13.79</c:v>
                </c:pt>
                <c:pt idx="9">
                  <c:v>16.21</c:v>
                </c:pt>
                <c:pt idx="10">
                  <c:v>17.93</c:v>
                </c:pt>
                <c:pt idx="11">
                  <c:v>20.69</c:v>
                </c:pt>
                <c:pt idx="12">
                  <c:v>24.14</c:v>
                </c:pt>
                <c:pt idx="13">
                  <c:v>27.93</c:v>
                </c:pt>
                <c:pt idx="14">
                  <c:v>31.72</c:v>
                </c:pt>
                <c:pt idx="15">
                  <c:v>36.55</c:v>
                </c:pt>
                <c:pt idx="16">
                  <c:v>42.41</c:v>
                </c:pt>
              </c:numCache>
            </c:numRef>
          </c:val>
          <c:smooth val="0"/>
        </c:ser>
        <c:ser>
          <c:idx val="1"/>
          <c:order val="1"/>
          <c:tx>
            <c:strRef>
              <c:f>Sheet1!$C$1</c:f>
              <c:strCache>
                <c:ptCount val="1"/>
                <c:pt idx="0">
                  <c:v>False accepts (FAR)</c:v>
                </c:pt>
              </c:strCache>
            </c:strRef>
          </c:tx>
          <c:spPr>
            <a:solidFill>
              <a:srgbClr val="A2761A"/>
            </a:solidFill>
            <a:ln w="25400" cap="flat">
              <a:solidFill>
                <a:srgbClr val="A2761A"/>
              </a:solidFill>
              <a:prstDash val="solid"/>
              <a:round/>
            </a:ln>
            <a:effectLst/>
          </c:spPr>
          <c:invertIfNegative val="0"/>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marker>
            <c:symbol val="none"/>
            <c:size val="6"/>
            <c:spPr>
              <a:solidFill>
                <a:srgbClr val="A2761A"/>
              </a:solidFill>
              <a:ln w="9525" cap="flat">
                <a:solidFill>
                  <a:srgbClr val="A2761A"/>
                </a:solidFill>
                <a:prstDash val="solid"/>
                <a:round/>
              </a:ln>
              <a:effectLst/>
            </c:spPr>
          </c:marker>
          <c:cat>
            <c:multiLvlStrRef>
              <c:f>Sheet1!$A$2:$A$18</c:f>
              <c:multiLvlStrCache>
                <c:ptCount val="17"/>
                <c:lvl>
                  <c:pt idx="0">
                    <c:v>0.00</c:v>
                  </c:pt>
                  <c:pt idx="1">
                    <c:v>0.05</c:v>
                  </c:pt>
                  <c:pt idx="2">
                    <c:v>0.10</c:v>
                  </c:pt>
                  <c:pt idx="3">
                    <c:v>0.15</c:v>
                  </c:pt>
                  <c:pt idx="4">
                    <c:v>0.20</c:v>
                  </c:pt>
                  <c:pt idx="5">
                    <c:v>0.25</c:v>
                  </c:pt>
                  <c:pt idx="6">
                    <c:v>0.30</c:v>
                  </c:pt>
                  <c:pt idx="7">
                    <c:v>0.35</c:v>
                  </c:pt>
                  <c:pt idx="8">
                    <c:v>0.40</c:v>
                  </c:pt>
                  <c:pt idx="9">
                    <c:v>0.45</c:v>
                  </c:pt>
                  <c:pt idx="10">
                    <c:v>0.50</c:v>
                  </c:pt>
                  <c:pt idx="11">
                    <c:v>0.55</c:v>
                  </c:pt>
                  <c:pt idx="12">
                    <c:v>0.60</c:v>
                  </c:pt>
                  <c:pt idx="13">
                    <c:v>0.65</c:v>
                  </c:pt>
                  <c:pt idx="14">
                    <c:v>0.70</c:v>
                  </c:pt>
                  <c:pt idx="15">
                    <c:v>0.75</c:v>
                  </c:pt>
                  <c:pt idx="16">
                    <c:v>0.80</c:v>
                  </c:pt>
                </c:lvl>
              </c:multiLvlStrCache>
            </c:multiLvlStrRef>
          </c:cat>
          <c:val>
            <c:numRef>
              <c:f>Sheet1!$C$2:$C$18</c:f>
              <c:numCache>
                <c:formatCode>General</c:formatCode>
                <c:ptCount val="17"/>
                <c:pt idx="0">
                  <c:v>71.93</c:v>
                </c:pt>
                <c:pt idx="1">
                  <c:v>41.45</c:v>
                </c:pt>
                <c:pt idx="2">
                  <c:v>18.41</c:v>
                </c:pt>
                <c:pt idx="3">
                  <c:v>11.59</c:v>
                </c:pt>
                <c:pt idx="4">
                  <c:v>1.72</c:v>
                </c:pt>
                <c:pt idx="5">
                  <c:v>0</c:v>
                </c:pt>
                <c:pt idx="6">
                  <c:v>0</c:v>
                </c:pt>
                <c:pt idx="7">
                  <c:v>0</c:v>
                </c:pt>
                <c:pt idx="8">
                  <c:v>0</c:v>
                </c:pt>
                <c:pt idx="9">
                  <c:v>0</c:v>
                </c:pt>
                <c:pt idx="10">
                  <c:v>0</c:v>
                </c:pt>
                <c:pt idx="11">
                  <c:v>0</c:v>
                </c:pt>
                <c:pt idx="12">
                  <c:v>0</c:v>
                </c:pt>
                <c:pt idx="13">
                  <c:v>0</c:v>
                </c:pt>
                <c:pt idx="14">
                  <c:v>0</c:v>
                </c:pt>
                <c:pt idx="15">
                  <c:v>0</c:v>
                </c:pt>
                <c:pt idx="16">
                  <c:v>0</c:v>
                </c:pt>
              </c:numCache>
            </c:numRef>
          </c:val>
          <c:smooth val="0"/>
        </c:ser>
        <c:dLbls>
          <c:numFmt formatCode="#,##0" sourceLinked="0"/>
          <c:txPr>
            <a:bodyPr/>
            <a:lstStyle/>
            <a:p>
              <a:pPr>
                <a:defRPr b="0" i="0" strike="noStrike" sz="1100" u="none">
                  <a:solidFill>
                    <a:srgbClr val="221C18"/>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FC3B0"/>
            </a:solidFill>
            <a:prstDash val="solid"/>
            <a:round/>
          </a:ln>
        </c:spPr>
        <c:txPr>
          <a:bodyPr/>
          <a:lstStyle/>
          <a:p>
            <a:pPr>
              <a:defRPr sz="1100" b="0" i="0" u="none" strike="noStrike">
                <a:solidFill>
                  <a:srgbClr val="6E645B"/>
                </a:solidFill>
                <a:latin typeface="+mn-lt"/>
              </a:defRPr>
            </a:pPr>
            <a:endParaRPr lang="en-US"/>
          </a:p>
        </c:txPr>
        <c:crossAx val="2094734552"/>
        <c:crosses val="autoZero"/>
        <c:auto val="1"/>
        <c:lblAlgn val="ctr"/>
        <c:noMultiLvlLbl val="1"/>
        <c:tickLblSkip val="2"/>
      </c:catAx>
      <c:valAx>
        <c:axId val="2094734552"/>
        <c:scaling>
          <c:orientation val="minMax"/>
          <c:max val="100"/>
          <c:min val="0"/>
        </c:scaling>
        <c:delete val="0"/>
        <c:axPos val="l"/>
        <c:majorGridlines>
          <c:spPr>
            <a:ln w="9525" cap="flat">
              <a:solidFill>
                <a:srgbClr val="E4DACB"/>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6E645B"/>
                </a:solidFill>
                <a:latin typeface="+mn-lt"/>
              </a:defRPr>
            </a:pPr>
            <a:endParaRPr lang="en-US"/>
          </a:p>
        </c:txPr>
        <c:crossAx val="2094734554"/>
        <c:crosses val="autoZero"/>
        <c:crossBetween val="between"/>
      </c:valAx>
      <c:spPr>
        <a:solidFill>
          <a:srgbClr val="F5EFE6"/>
        </a:solidFill>
        <a:ln>
          <a:noFill/>
        </a:ln>
        <a:effectLst/>
      </c:spPr>
    </c:plotArea>
    <c:legend>
      <c:legendPos val="b"/>
      <c:overlay val="0"/>
      <c:txPr>
        <a:bodyPr/>
        <a:lstStyle/>
        <a:p>
          <a:pPr>
            <a:defRPr sz="1200">
              <a:solidFill>
                <a:srgbClr val="221C18"/>
              </a:solidFill>
              <a:latin typeface="+mn-lt"/>
              <a:cs typeface="+mn-lt"/>
            </a:defRPr>
          </a:pPr>
          <a:endParaRPr lang="en-US"/>
        </a:p>
      </c:txPr>
    </c:legend>
    <c:plotVisOnly val="1"/>
    <c:dispBlanksAs val="span"/>
  </c:chart>
  <c:spPr>
    <a:solidFill>
      <a:srgbClr val="F5EFE6"/>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in a luxury boutique, the welcome is decided in the first few seconds. We built a prototype that recognizes a registered client and shows their card to the advisor, with nothing but a webcam and a browser. The demo is live: anyone can try it from the link. Plan: the project, the numbers, a four-minute demo, then the limits, which are the most interesting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setting: a fictional boutique, Maison Test. The clients are team members with invented client cards. The goal is not to sell a product but to test a concept: is it feasible, how fast is it, and what gets in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pages: Recognition for the advisor, Clients for sign-up, Indicators for monitoring. The site is hosted on GitHub Pages: no server and nothing to install. Faces in the screenshots are pixelated; the frame and label are what the app draws.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technical point: nothing goes to a server. The browser downloads two models, 15 MB in total, and does all the computing. We first built a Python version, then ported the pipeline to JavaScript and checked that both give the same results to within a fraction of a pixel. The station colors are the ones used in the timing chart two slides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reproducible measurements (the evaluation folder of the repository): performance in Edge on a Ryzen 7 5800H with an RTX 3060, robustness with the same models. The delay, time per analysis and display rate are for the demo setting (hybrid mode, dedicated GPU); the public site uses the CPU by default. The delay includes smoothing: three matching decisions are needed before a name is shown, to avoid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analysis has three stages, each timed separately by the app. First surprise: the browser was using the processor's integrated GPU, not the RTX. Second surprise: even on the RTX, recognition is slower than on the CPU, probably because some of the model's operations are not supported by WebGPU. Hence a safe default (CPU) and a hybrid mode for the demo PC, once the dedicated card is enabled for Edge in the Windows graphics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simulated distance by shrinking the face inside an HD frame. Converting to meters is a geometric estimate. The message for a store: placement matters, and the useful range is about two 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kinds of degradation, from mild to severe. The model copes very well with dim or bright light and with compression. It breaks down with heavy blur, a head tilted 90 degrees, or more than half of the face covered. Caveat: enrollment and test start from the same photo, so real conditions will be less favorable.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threshold sets the trade-off: too low and we show someone else's card; too high and we stop recognizing clients. In luxury retail, showing the wrong name is worse than showing nothing, hence a cautious threshold. The 11.7% of false rejects come mostly from extreme conditions (heavy blur, covered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session: in Windows, Settings, Display, Graphics, set Microsoft Edge to High performance (RTX 3060); this is already done on the demo PC. Open the site once with ?moteur=hybride (the choice is remembered), allow the camera, check that the light falls on the person's face, and load the models once (15 MB) to avoid waiting. Keep a JSON export with an enrolled client. During the demo, also show the Hide card button, and bring in someone who is not registered to show “Inconnu”.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if the camera or the network fails, walk through the flow from these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rather be upfront: a proof of concept shows feasibility, not reliability in real conditions. The first limit matters most: our evaluation is small and optimistic. The second is a real risk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GDPR Article 9; AI Act, Annex III point 1(a); Omnibus agreement voted by Parliament on 16 June 2026 and approved by the Council on 29 June 2026, Official Journal publication to be checked; CNIL positions on smart cameras in stores as reported in the press. This is not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message: measured performance depends as much on the hardware and the installation as on the model. The price range is an order of magnitude, not a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shows the technology is within reach: a few hundred euros of hardware and a browser. The real business question is whether clients accept it, and a legal framework that requires a genuine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to remember: face recognition has become technically accessible, which makes the questions of framework all the more important. The project made us work on measurement, law and product as much as on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balance: technically feasible today, but a real deployment first needs a framework. Open the floor to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PIER">
    <p:bg>
      <p:bgPr>
        <a:solidFill>
          <a:srgbClr val="F5EFE6"/>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457200"/>
            <a:ext cx="8229600" cy="274320"/>
          </a:xfrm>
          <a:prstGeom prst="rect">
            <a:avLst/>
          </a:prstGeom>
          <a:noFill/>
          <a:ln/>
        </p:spPr>
        <p:txBody>
          <a:bodyPr wrap="square" rtlCol="0"/>
          <a:lstStyle>
            <a:lvl1pPr indent="0" marL="0">
              <a:buNone/>
              <a:defRPr lang="en-US" sz="1050" spc="300" kern="0" dirty="0">
                <a:solidFill>
                  <a:srgbClr val="82601A"/>
                </a:solidFill>
                <a:latin typeface="Segoe UI Semibold" pitchFamily="34" charset="0"/>
                <a:ea typeface="Segoe UI Semibold" pitchFamily="34" charset="-122"/>
                <a:cs typeface="Segoe UI Semibold" pitchFamily="34" charset="-120"/>
              </a:defRPr>
            </a:lvl1pPr>
          </a:lstStyle>
          <a:p>
            <a:pPr indent="0" marL="0">
              <a:buNone/>
            </a:pPr>
            <a:endParaRPr lang="en-US" sz="1050" dirty="0"/>
          </a:p>
        </p:txBody>
      </p:sp>
      <p:sp>
        <p:nvSpPr>
          <p:cNvPr id="3" name="Text 0"/>
          <p:cNvSpPr/>
          <p:nvPr>
            <p:ph idx="101" type="title" hasCustomPrompt="1"/>
          </p:nvPr>
        </p:nvSpPr>
        <p:spPr>
          <a:xfrm>
            <a:off x="731520" y="749808"/>
            <a:ext cx="10728655" cy="731520"/>
          </a:xfrm>
          <a:prstGeom prst="rect">
            <a:avLst/>
          </a:prstGeom>
          <a:noFill/>
          <a:ln/>
        </p:spPr>
        <p:txBody>
          <a:bodyPr wrap="square" rtlCol="0"/>
          <a:lstStyle>
            <a:lvl1pPr algn="l" indent="0" marL="0">
              <a:buNone/>
              <a:defRPr lang="en-US" sz="2800" dirty="0">
                <a:solidFill>
                  <a:schemeClr val="tx1"/>
                </a:solidFill>
                <a:latin typeface="Georgia" pitchFamily="34" charset="0"/>
                <a:ea typeface="Georgia" pitchFamily="34" charset="-122"/>
                <a:cs typeface="Georgia" pitchFamily="34" charset="-120"/>
              </a:defRPr>
            </a:lvl1pPr>
          </a:lstStyle>
          <a:p>
            <a:pPr algn="l" indent="0" marL="0">
              <a:buNone/>
            </a:pPr>
            <a:endParaRPr lang="en-US" sz="2800" dirty="0"/>
          </a:p>
        </p:txBody>
      </p:sp>
      <p:sp>
        <p:nvSpPr>
          <p:cNvPr id="4" name="Text 0"/>
          <p:cNvSpPr/>
          <p:nvPr/>
        </p:nvSpPr>
        <p:spPr>
          <a:xfrm>
            <a:off x="731520" y="6400800"/>
            <a:ext cx="2743200" cy="228600"/>
          </a:xfrm>
          <a:prstGeom prst="rect">
            <a:avLst/>
          </a:prstGeom>
          <a:noFill/>
          <a:ln/>
        </p:spPr>
        <p:txBody>
          <a:bodyPr wrap="square" lIns="0" tIns="0" rIns="0" bIns="0" rtlCol="0" anchor="ctr"/>
          <a:lstStyle/>
          <a:p>
            <a:pPr indent="0" marL="0">
              <a:buNone/>
            </a:pPr>
            <a:r>
              <a:rPr lang="en-US" sz="850" spc="300" kern="0" dirty="0">
                <a:solidFill>
                  <a:srgbClr val="6E645B"/>
                </a:solidFill>
                <a:latin typeface="Segoe UI Semibold" pitchFamily="34" charset="0"/>
                <a:ea typeface="Segoe UI Semibold" pitchFamily="34" charset="-122"/>
                <a:cs typeface="Segoe UI Semibold" pitchFamily="34" charset="-120"/>
              </a:rPr>
              <a:t>MAISON TEST</a:t>
            </a:r>
            <a:endParaRPr lang="en-US" sz="850" dirty="0"/>
          </a:p>
        </p:txBody>
      </p:sp>
      <p:sp>
        <p:nvSpPr>
          <p:cNvPr id="25" name="Slide Number Placeholder 0"/>
          <p:cNvSpPr>
            <a:spLocks noGrp="1"/>
          </p:cNvSpPr>
          <p:nvPr>
            <p:ph type="sldNum" sz="quarter" idx="4294967295"/>
          </p:nvPr>
        </p:nvSpPr>
        <p:spPr>
          <a:xfrm>
            <a:off x="10911535" y="6400800"/>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6E645B"/>
                </a:solidFill>
                <a:latin typeface="Segoe UI Semibold"/>
                <a:ea typeface="Segoe UI Semibold"/>
                <a:cs typeface="Segoe UI Semibold"/>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UIT">
    <p:bg>
      <p:bgPr>
        <a:solidFill>
          <a:srgbClr val="14110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457200"/>
            <a:ext cx="8229600" cy="274320"/>
          </a:xfrm>
          <a:prstGeom prst="rect">
            <a:avLst/>
          </a:prstGeom>
          <a:noFill/>
          <a:ln/>
        </p:spPr>
        <p:txBody>
          <a:bodyPr wrap="square" rtlCol="0"/>
          <a:lstStyle>
            <a:lvl1pPr indent="0" marL="0">
              <a:buNone/>
              <a:defRPr lang="en-US" sz="1050" spc="300" kern="0" dirty="0">
                <a:solidFill>
                  <a:srgbClr val="D2B57A"/>
                </a:solidFill>
                <a:latin typeface="Segoe UI Semibold" pitchFamily="34" charset="0"/>
                <a:ea typeface="Segoe UI Semibold" pitchFamily="34" charset="-122"/>
                <a:cs typeface="Segoe UI Semibold" pitchFamily="34" charset="-120"/>
              </a:defRPr>
            </a:lvl1pPr>
          </a:lstStyle>
          <a:p>
            <a:pPr indent="0" marL="0">
              <a:buNone/>
            </a:pPr>
            <a:endParaRPr lang="en-US" sz="1050" dirty="0"/>
          </a:p>
        </p:txBody>
      </p:sp>
      <p:sp>
        <p:nvSpPr>
          <p:cNvPr id="3" name="Text 0"/>
          <p:cNvSpPr/>
          <p:nvPr>
            <p:ph idx="101" type="title" hasCustomPrompt="1"/>
          </p:nvPr>
        </p:nvSpPr>
        <p:spPr>
          <a:xfrm>
            <a:off x="731520" y="749808"/>
            <a:ext cx="10728655" cy="731520"/>
          </a:xfrm>
          <a:prstGeom prst="rect">
            <a:avLst/>
          </a:prstGeom>
          <a:noFill/>
          <a:ln/>
        </p:spPr>
        <p:txBody>
          <a:bodyPr wrap="square" rtlCol="0"/>
          <a:lstStyle>
            <a:lvl1pPr algn="l" indent="0" marL="0">
              <a:buNone/>
              <a:defRPr lang="en-US" sz="2800" dirty="0">
                <a:solidFill>
                  <a:srgbClr val="F5EFE6"/>
                </a:solidFill>
                <a:latin typeface="Georgia" pitchFamily="34" charset="0"/>
                <a:ea typeface="Georgia" pitchFamily="34" charset="-122"/>
                <a:cs typeface="Georgia" pitchFamily="34" charset="-120"/>
              </a:defRPr>
            </a:lvl1pPr>
          </a:lstStyle>
          <a:p>
            <a:pPr algn="l" indent="0" marL="0">
              <a:buNone/>
            </a:pPr>
            <a:endParaRPr lang="en-US" sz="2800" dirty="0"/>
          </a:p>
        </p:txBody>
      </p:sp>
      <p:sp>
        <p:nvSpPr>
          <p:cNvPr id="4" name="Text 0"/>
          <p:cNvSpPr/>
          <p:nvPr/>
        </p:nvSpPr>
        <p:spPr>
          <a:xfrm>
            <a:off x="731520" y="6400800"/>
            <a:ext cx="2743200" cy="228600"/>
          </a:xfrm>
          <a:prstGeom prst="rect">
            <a:avLst/>
          </a:prstGeom>
          <a:noFill/>
          <a:ln/>
        </p:spPr>
        <p:txBody>
          <a:bodyPr wrap="square" lIns="0" tIns="0" rIns="0" bIns="0" rtlCol="0" anchor="ctr"/>
          <a:lstStyle/>
          <a:p>
            <a:pPr indent="0" marL="0">
              <a:buNone/>
            </a:pPr>
            <a:r>
              <a:rPr lang="en-US" sz="850" spc="300" kern="0" dirty="0">
                <a:solidFill>
                  <a:srgbClr val="B3A797"/>
                </a:solidFill>
                <a:latin typeface="Segoe UI Semibold" pitchFamily="34" charset="0"/>
                <a:ea typeface="Segoe UI Semibold" pitchFamily="34" charset="-122"/>
                <a:cs typeface="Segoe UI Semibold" pitchFamily="34" charset="-120"/>
              </a:rPr>
              <a:t>MAISON TEST</a:t>
            </a:r>
            <a:endParaRPr lang="en-US" sz="850" dirty="0"/>
          </a:p>
        </p:txBody>
      </p:sp>
      <p:sp>
        <p:nvSpPr>
          <p:cNvPr id="25" name="Slide Number Placeholder 0"/>
          <p:cNvSpPr>
            <a:spLocks noGrp="1"/>
          </p:cNvSpPr>
          <p:nvPr>
            <p:ph type="sldNum" sz="quarter" idx="4294967295"/>
          </p:nvPr>
        </p:nvSpPr>
        <p:spPr>
          <a:xfrm>
            <a:off x="10911535" y="6400800"/>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B3A797"/>
                </a:solidFill>
                <a:latin typeface="Segoe UI Semibold"/>
                <a:ea typeface="Segoe UI Semibold"/>
                <a:cs typeface="Segoe UI Semibold"/>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UVERTURE">
    <p:bg>
      <p:bgPr>
        <a:solidFill>
          <a:srgbClr val="14110F"/>
        </a:solidFill>
      </p:bgPr>
    </p:bg>
    <p:spTree>
      <p:nvGrpSpPr>
        <p:cNvPr id="1" name=""/>
        <p:cNvGrpSpPr/>
        <p:nvPr/>
      </p:nvGrpSpPr>
      <p:grpSpPr>
        <a:xfrm>
          <a:off x="0" y="0"/>
          <a:ext cx="0" cy="0"/>
          <a:chOff x="0" y="0"/>
          <a:chExt cx="0" cy="0"/>
        </a:xfrm>
      </p:grpSpPr>
      <p:sp>
        <p:nvSpPr>
          <p:cNvPr id="2" name="Text 0"/>
          <p:cNvSpPr/>
          <p:nvPr/>
        </p:nvSpPr>
        <p:spPr>
          <a:xfrm>
            <a:off x="731520" y="548640"/>
            <a:ext cx="3657600" cy="411480"/>
          </a:xfrm>
          <a:prstGeom prst="rect">
            <a:avLst/>
          </a:prstGeom>
          <a:noFill/>
          <a:ln/>
        </p:spPr>
        <p:txBody>
          <a:bodyPr wrap="square" lIns="0" tIns="0" rIns="0" bIns="0" rtlCol="0" anchor="ctr"/>
          <a:lstStyle/>
          <a:p>
            <a:pPr indent="0" marL="0">
              <a:buNone/>
            </a:pPr>
            <a:r>
              <a:rPr lang="en-US" sz="2000" spc="150" kern="0" dirty="0">
                <a:solidFill>
                  <a:srgbClr val="F5EFE6"/>
                </a:solidFill>
                <a:latin typeface="Georgia" pitchFamily="34" charset="0"/>
                <a:ea typeface="Georgia" pitchFamily="34" charset="-122"/>
                <a:cs typeface="Georgia" pitchFamily="34" charset="-120"/>
              </a:rPr>
              <a:t>Maison Test</a:t>
            </a:r>
            <a:endParaRPr lang="en-US" sz="2000" dirty="0"/>
          </a:p>
        </p:txBody>
      </p:sp>
      <p:sp>
        <p:nvSpPr>
          <p:cNvPr id="3" name="Text 1"/>
          <p:cNvSpPr/>
          <p:nvPr>
            <p:ph idx="101" type="body" hasCustomPrompt="1"/>
          </p:nvPr>
        </p:nvSpPr>
        <p:spPr>
          <a:xfrm>
            <a:off x="731520" y="1554480"/>
            <a:ext cx="8229600" cy="274320"/>
          </a:xfrm>
          <a:prstGeom prst="rect">
            <a:avLst/>
          </a:prstGeom>
          <a:noFill/>
          <a:ln/>
        </p:spPr>
        <p:txBody>
          <a:bodyPr wrap="square" rtlCol="0"/>
          <a:lstStyle>
            <a:lvl1pPr indent="0" marL="0">
              <a:buNone/>
              <a:defRPr lang="en-US" sz="1050" spc="300" kern="0" dirty="0">
                <a:solidFill>
                  <a:srgbClr val="D2B57A"/>
                </a:solidFill>
                <a:latin typeface="Segoe UI Semibold" pitchFamily="34" charset="0"/>
                <a:ea typeface="Segoe UI Semibold" pitchFamily="34" charset="-122"/>
                <a:cs typeface="Segoe UI Semibold" pitchFamily="34" charset="-120"/>
              </a:defRPr>
            </a:lvl1pPr>
          </a:lstStyle>
          <a:p>
            <a:pPr indent="0" marL="0">
              <a:buNone/>
            </a:pPr>
            <a:endParaRPr lang="en-US" sz="1050" dirty="0"/>
          </a:p>
        </p:txBody>
      </p:sp>
      <p:sp>
        <p:nvSpPr>
          <p:cNvPr id="4" name="Text 1"/>
          <p:cNvSpPr/>
          <p:nvPr>
            <p:ph idx="102" type="title" hasCustomPrompt="1"/>
          </p:nvPr>
        </p:nvSpPr>
        <p:spPr>
          <a:xfrm>
            <a:off x="731520" y="1874520"/>
            <a:ext cx="6126480" cy="1828800"/>
          </a:xfrm>
          <a:prstGeom prst="rect">
            <a:avLst/>
          </a:prstGeom>
          <a:noFill/>
          <a:ln/>
        </p:spPr>
        <p:txBody>
          <a:bodyPr wrap="square" rtlCol="0"/>
          <a:lstStyle>
            <a:lvl1pPr algn="l" indent="0" marL="0">
              <a:buNone/>
              <a:defRPr lang="en-US" sz="4400" dirty="0">
                <a:solidFill>
                  <a:srgbClr val="F5EFE6"/>
                </a:solidFill>
                <a:latin typeface="Georgia" pitchFamily="34" charset="0"/>
                <a:ea typeface="Georgia" pitchFamily="34" charset="-122"/>
                <a:cs typeface="Georgia" pitchFamily="34" charset="-120"/>
              </a:defRPr>
            </a:lvl1pPr>
          </a:lstStyle>
          <a:p>
            <a:pPr algn="l" indent="0" marL="0">
              <a:buNone/>
            </a:pPr>
            <a:endParaRPr lang="en-US" sz="4400" dirty="0"/>
          </a:p>
        </p:txBody>
      </p:sp>
      <p:sp>
        <p:nvSpPr>
          <p:cNvPr id="5" name="Text 1"/>
          <p:cNvSpPr/>
          <p:nvPr>
            <p:ph idx="103" type="body" hasCustomPrompt="1"/>
          </p:nvPr>
        </p:nvSpPr>
        <p:spPr>
          <a:xfrm>
            <a:off x="731520" y="3840480"/>
            <a:ext cx="5852160" cy="731520"/>
          </a:xfrm>
          <a:prstGeom prst="rect">
            <a:avLst/>
          </a:prstGeom>
          <a:noFill/>
          <a:ln/>
        </p:spPr>
        <p:txBody>
          <a:bodyPr wrap="square" rtlCol="0"/>
          <a:lstStyle>
            <a:lvl1pPr indent="0" marL="0">
              <a:buNone/>
              <a:defRPr lang="en-US" sz="1700" dirty="0">
                <a:solidFill>
                  <a:srgbClr val="B3A797"/>
                </a:solidFill>
                <a:latin typeface="Segoe UI" pitchFamily="34" charset="0"/>
                <a:ea typeface="Segoe UI" pitchFamily="34" charset="-122"/>
                <a:cs typeface="Segoe UI" pitchFamily="34" charset="-120"/>
              </a:defRPr>
            </a:lvl1pPr>
          </a:lstStyle>
          <a:p>
            <a:pPr indent="0" marL="0">
              <a:buNone/>
            </a:pPr>
            <a:endParaRPr lang="en-US" sz="17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6E645B"/>
                </a:solidFill>
                <a:latin typeface="Segoe UI Semibold"/>
                <a:ea typeface="Segoe UI Semibold"/>
                <a:cs typeface="Segoe UI Semibol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chart" Target="/ppt/charts/chart6.xml"/><Relationship Id="rId5" Type="http://schemas.openxmlformats.org/officeDocument/2006/relationships/chart" Target="/ppt/charts/chart7.xml"/><Relationship Id="rId6" Type="http://schemas.openxmlformats.org/officeDocument/2006/relationships/chart" Target="/ppt/charts/chart8.xml"/><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body" hasCustomPrompt="1"/>
          </p:nvPr>
        </p:nvSpPr>
        <p:spPr>
          <a:xfrm>
            <a:off x="731520" y="1554480"/>
            <a:ext cx="8229600" cy="274320"/>
          </a:xfrm>
          <a:prstGeom prst="rect">
            <a:avLst/>
          </a:prstGeom>
          <a:noFill/>
          <a:ln/>
        </p:spPr>
        <p:txBody>
          <a:bodyPr wrap="square" lIns="0" tIns="0" rIns="0" bIns="0" rtlCol="0" anchor="t"/>
          <a:lstStyle/>
          <a:p>
            <a:pPr indent="0" marL="0">
              <a:buNone/>
            </a:pPr>
            <a:r>
              <a:rPr lang="en-US" sz="1050" spc="300" kern="0" dirty="0">
                <a:solidFill>
                  <a:srgbClr val="D2B57A"/>
                </a:solidFill>
                <a:latin typeface="Segoe UI Semibold" pitchFamily="34" charset="0"/>
                <a:ea typeface="Segoe UI Semibold" pitchFamily="34" charset="-122"/>
                <a:cs typeface="Segoe UI Semibold" pitchFamily="34" charset="-120"/>
              </a:rPr>
              <a:t>AUDENCIA  ·  COURSE PROJECT  ·  2026</a:t>
            </a:r>
            <a:endParaRPr lang="en-US" sz="1050" dirty="0"/>
          </a:p>
        </p:txBody>
      </p:sp>
      <p:sp>
        <p:nvSpPr>
          <p:cNvPr id="3" name="Text 1"/>
          <p:cNvSpPr/>
          <p:nvPr>
            <p:ph idx="102" type="title" hasCustomPrompt="1"/>
          </p:nvPr>
        </p:nvSpPr>
        <p:spPr>
          <a:xfrm>
            <a:off x="731520" y="1874520"/>
            <a:ext cx="6126480" cy="1828800"/>
          </a:xfrm>
          <a:prstGeom prst="rect">
            <a:avLst/>
          </a:prstGeom>
          <a:noFill/>
          <a:ln/>
        </p:spPr>
        <p:txBody>
          <a:bodyPr wrap="square" lIns="0" tIns="0" rIns="0" bIns="0" rtlCol="0" anchor="t"/>
          <a:lstStyle/>
          <a:p>
            <a:pPr algn="l" indent="0" marL="0">
              <a:buNone/>
            </a:pPr>
            <a:r>
              <a:rPr lang="en-US" sz="4400" dirty="0">
                <a:solidFill>
                  <a:srgbClr val="F5EFE6"/>
                </a:solidFill>
                <a:latin typeface="Georgia" pitchFamily="34" charset="0"/>
                <a:ea typeface="Georgia" pitchFamily="34" charset="-122"/>
                <a:cs typeface="Georgia" pitchFamily="34" charset="-120"/>
              </a:rPr>
              <a:t>Recognizing a client in under a second</a:t>
            </a:r>
            <a:endParaRPr lang="en-US" sz="4400" dirty="0"/>
          </a:p>
        </p:txBody>
      </p:sp>
      <p:sp>
        <p:nvSpPr>
          <p:cNvPr id="4" name="Text 1"/>
          <p:cNvSpPr/>
          <p:nvPr>
            <p:ph idx="103" type="body" hasCustomPrompt="1"/>
          </p:nvPr>
        </p:nvSpPr>
        <p:spPr>
          <a:xfrm>
            <a:off x="731520" y="3840480"/>
            <a:ext cx="5852160" cy="731520"/>
          </a:xfrm>
          <a:prstGeom prst="rect">
            <a:avLst/>
          </a:prstGeom>
          <a:noFill/>
          <a:ln/>
        </p:spPr>
        <p:txBody>
          <a:bodyPr wrap="square" lIns="0" tIns="0" rIns="0" bIns="0" rtlCol="0" anchor="t"/>
          <a:lstStyle/>
          <a:p>
            <a:pPr indent="0" marL="0">
              <a:buNone/>
            </a:pPr>
            <a:r>
              <a:rPr lang="en-US" sz="1700" dirty="0">
                <a:solidFill>
                  <a:srgbClr val="B3A797"/>
                </a:solidFill>
                <a:latin typeface="Segoe UI" pitchFamily="34" charset="0"/>
                <a:ea typeface="Segoe UI" pitchFamily="34" charset="-122"/>
                <a:cs typeface="Segoe UI" pitchFamily="34" charset="-120"/>
              </a:rPr>
              <a:t>A client recognition prototype for a fictional luxury boutique, running entirely in the browser.</a:t>
            </a:r>
            <a:endParaRPr lang="en-US" sz="1700" dirty="0"/>
          </a:p>
        </p:txBody>
      </p:sp>
      <p:sp>
        <p:nvSpPr>
          <p:cNvPr id="5" name="equipe"/>
          <p:cNvSpPr txBox="1"/>
          <p:nvPr/>
        </p:nvSpPr>
        <p:spPr>
          <a:xfrm>
            <a:off x="731520" y="5257800"/>
            <a:ext cx="6583680" cy="320040"/>
          </a:xfrm>
          <a:prstGeom prst="rect">
            <a:avLst/>
          </a:prstGeom>
          <a:noFill/>
          <a:ln/>
        </p:spPr>
        <p:txBody>
          <a:bodyPr wrap="square" lIns="0" tIns="0" rIns="0" bIns="0" rtlCol="0" anchor="t"/>
          <a:lstStyle/>
          <a:p>
            <a:pPr indent="0" marL="0">
              <a:buNone/>
            </a:pPr>
            <a:r>
              <a:rPr lang="en-US" sz="1300" dirty="0">
                <a:solidFill>
                  <a:srgbClr val="F5EFE6"/>
                </a:solidFill>
                <a:latin typeface="Segoe UI" pitchFamily="34" charset="0"/>
                <a:ea typeface="Segoe UI" pitchFamily="34" charset="-122"/>
                <a:cs typeface="Segoe UI" pitchFamily="34" charset="-120"/>
              </a:rPr>
              <a:t>Rim Middi   ·   Felix Chevalier   ·   Jean-Baptiste Caron   ·   Mathis Lacombe</a:t>
            </a:r>
            <a:endParaRPr lang="en-US" sz="1300" dirty="0"/>
          </a:p>
        </p:txBody>
      </p:sp>
      <p:sp>
        <p:nvSpPr>
          <p:cNvPr id="6" name="lien-demo"/>
          <p:cNvSpPr txBox="1"/>
          <p:nvPr/>
        </p:nvSpPr>
        <p:spPr>
          <a:xfrm>
            <a:off x="731520" y="5669280"/>
            <a:ext cx="6583680" cy="320040"/>
          </a:xfrm>
          <a:prstGeom prst="rect">
            <a:avLst/>
          </a:prstGeom>
          <a:noFill/>
          <a:ln/>
        </p:spPr>
        <p:txBody>
          <a:bodyPr wrap="square" lIns="0" tIns="0" rIns="0" bIns="0" rtlCol="0" anchor="t"/>
          <a:lstStyle/>
          <a:p>
            <a:pPr indent="0" marL="0">
              <a:buNone/>
            </a:pPr>
            <a:r>
              <a:rPr lang="en-US" sz="1200" dirty="0">
                <a:solidFill>
                  <a:srgbClr val="D2B57A"/>
                </a:solidFill>
                <a:latin typeface="Segoe UI Semibold" pitchFamily="34" charset="0"/>
                <a:ea typeface="Segoe UI Semibold" pitchFamily="34" charset="-122"/>
                <a:cs typeface="Segoe UI Semibold" pitchFamily="34" charset="-120"/>
              </a:rPr>
              <a:t>Live demo   </a:t>
            </a:r>
            <a:pPr indent="0" marL="0">
              <a:buNone/>
            </a:pPr>
            <a:r>
              <a:rPr lang="en-US" sz="1200" dirty="0">
                <a:solidFill>
                  <a:srgbClr val="D2B57A"/>
                </a:solidFill>
                <a:latin typeface="Segoe UI" pitchFamily="34" charset="0"/>
                <a:ea typeface="Segoe UI" pitchFamily="34" charset="-122"/>
                <a:cs typeface="Segoe UI" pitchFamily="34" charset="-120"/>
              </a:rPr>
              <a:t>mathos34.github.io/reconnaissance-equipe</a:t>
            </a:r>
            <a:endParaRPr lang="en-US" sz="1200" dirty="0"/>
          </a:p>
        </p:txBody>
      </p:sp>
      <p:pic>
        <p:nvPicPr>
          <p:cNvPr id="7" name="portrait" descr="Pixelated face seen by the camera, framed and labelled Claire Test">    </p:cNvPr>
          <p:cNvPicPr>
            <a:picLocks noChangeAspect="1"/>
          </p:cNvPicPr>
          <p:nvPr/>
        </p:nvPicPr>
        <p:blipFill>
          <a:blip r:embed="rId1"/>
          <a:stretch>
            <a:fillRect/>
          </a:stretch>
        </p:blipFill>
        <p:spPr>
          <a:xfrm>
            <a:off x="7434072" y="1417320"/>
            <a:ext cx="4023360" cy="4023360"/>
          </a:xfrm>
          <a:prstGeom prst="rect">
            <a:avLst/>
          </a:prstGeom>
        </p:spPr>
      </p:pic>
      <p:sp>
        <p:nvSpPr>
          <p:cNvPr id="8" name="cadre-portrait-coin-1"/>
          <p:cNvSpPr/>
          <p:nvPr/>
        </p:nvSpPr>
        <p:spPr>
          <a:xfrm>
            <a:off x="8026551" y="1706613"/>
            <a:ext cx="292608" cy="32004"/>
          </a:xfrm>
          <a:prstGeom prst="rect">
            <a:avLst/>
          </a:prstGeom>
          <a:solidFill>
            <a:schemeClr val="accent2"/>
          </a:solidFill>
          <a:ln w="12700">
            <a:solidFill>
              <a:schemeClr val="accent2"/>
            </a:solidFill>
            <a:prstDash val="solid"/>
          </a:ln>
        </p:spPr>
      </p:sp>
      <p:sp>
        <p:nvSpPr>
          <p:cNvPr id="9" name="cadre-portrait-coin-2"/>
          <p:cNvSpPr/>
          <p:nvPr/>
        </p:nvSpPr>
        <p:spPr>
          <a:xfrm>
            <a:off x="8026551" y="1706613"/>
            <a:ext cx="32004" cy="292608"/>
          </a:xfrm>
          <a:prstGeom prst="rect">
            <a:avLst/>
          </a:prstGeom>
          <a:solidFill>
            <a:schemeClr val="accent2"/>
          </a:solidFill>
          <a:ln w="12700">
            <a:solidFill>
              <a:schemeClr val="accent2"/>
            </a:solidFill>
            <a:prstDash val="solid"/>
          </a:ln>
        </p:spPr>
      </p:sp>
      <p:sp>
        <p:nvSpPr>
          <p:cNvPr id="10" name="cadre-portrait-coin-3"/>
          <p:cNvSpPr/>
          <p:nvPr/>
        </p:nvSpPr>
        <p:spPr>
          <a:xfrm>
            <a:off x="10564151" y="1706613"/>
            <a:ext cx="292608" cy="32004"/>
          </a:xfrm>
          <a:prstGeom prst="rect">
            <a:avLst/>
          </a:prstGeom>
          <a:solidFill>
            <a:schemeClr val="accent2"/>
          </a:solidFill>
          <a:ln w="12700">
            <a:solidFill>
              <a:schemeClr val="accent2"/>
            </a:solidFill>
            <a:prstDash val="solid"/>
          </a:ln>
        </p:spPr>
      </p:sp>
      <p:sp>
        <p:nvSpPr>
          <p:cNvPr id="11" name="cadre-portrait-coin-4"/>
          <p:cNvSpPr/>
          <p:nvPr/>
        </p:nvSpPr>
        <p:spPr>
          <a:xfrm>
            <a:off x="10824755" y="1706613"/>
            <a:ext cx="32004" cy="292608"/>
          </a:xfrm>
          <a:prstGeom prst="rect">
            <a:avLst/>
          </a:prstGeom>
          <a:solidFill>
            <a:schemeClr val="accent2"/>
          </a:solidFill>
          <a:ln w="12700">
            <a:solidFill>
              <a:schemeClr val="accent2"/>
            </a:solidFill>
            <a:prstDash val="solid"/>
          </a:ln>
        </p:spPr>
      </p:sp>
      <p:sp>
        <p:nvSpPr>
          <p:cNvPr id="12" name="cadre-portrait-coin-5"/>
          <p:cNvSpPr/>
          <p:nvPr/>
        </p:nvSpPr>
        <p:spPr>
          <a:xfrm>
            <a:off x="8026551" y="5078412"/>
            <a:ext cx="292608" cy="32004"/>
          </a:xfrm>
          <a:prstGeom prst="rect">
            <a:avLst/>
          </a:prstGeom>
          <a:solidFill>
            <a:schemeClr val="accent2"/>
          </a:solidFill>
          <a:ln w="12700">
            <a:solidFill>
              <a:schemeClr val="accent2"/>
            </a:solidFill>
            <a:prstDash val="solid"/>
          </a:ln>
        </p:spPr>
      </p:sp>
      <p:sp>
        <p:nvSpPr>
          <p:cNvPr id="13" name="cadre-portrait-coin-6"/>
          <p:cNvSpPr/>
          <p:nvPr/>
        </p:nvSpPr>
        <p:spPr>
          <a:xfrm>
            <a:off x="8026551" y="4817808"/>
            <a:ext cx="32004" cy="292608"/>
          </a:xfrm>
          <a:prstGeom prst="rect">
            <a:avLst/>
          </a:prstGeom>
          <a:solidFill>
            <a:schemeClr val="accent2"/>
          </a:solidFill>
          <a:ln w="12700">
            <a:solidFill>
              <a:schemeClr val="accent2"/>
            </a:solidFill>
            <a:prstDash val="solid"/>
          </a:ln>
        </p:spPr>
      </p:sp>
      <p:sp>
        <p:nvSpPr>
          <p:cNvPr id="14" name="cadre-portrait-coin-7"/>
          <p:cNvSpPr/>
          <p:nvPr/>
        </p:nvSpPr>
        <p:spPr>
          <a:xfrm>
            <a:off x="10564151" y="5078412"/>
            <a:ext cx="292608" cy="32004"/>
          </a:xfrm>
          <a:prstGeom prst="rect">
            <a:avLst/>
          </a:prstGeom>
          <a:solidFill>
            <a:schemeClr val="accent2"/>
          </a:solidFill>
          <a:ln w="12700">
            <a:solidFill>
              <a:schemeClr val="accent2"/>
            </a:solidFill>
            <a:prstDash val="solid"/>
          </a:ln>
        </p:spPr>
      </p:sp>
      <p:sp>
        <p:nvSpPr>
          <p:cNvPr id="15" name="cadre-portrait-coin-8"/>
          <p:cNvSpPr/>
          <p:nvPr/>
        </p:nvSpPr>
        <p:spPr>
          <a:xfrm>
            <a:off x="10824755" y="4817808"/>
            <a:ext cx="32004" cy="292608"/>
          </a:xfrm>
          <a:prstGeom prst="rect">
            <a:avLst/>
          </a:prstGeom>
          <a:solidFill>
            <a:schemeClr val="accent2"/>
          </a:solidFill>
          <a:ln w="12700">
            <a:solidFill>
              <a:schemeClr val="accent2"/>
            </a:solidFill>
            <a:prstDash val="solid"/>
          </a:ln>
        </p:spPr>
      </p:sp>
      <p:sp>
        <p:nvSpPr>
          <p:cNvPr id="16" name="cadre-portrait-etiquette-fond"/>
          <p:cNvSpPr/>
          <p:nvPr/>
        </p:nvSpPr>
        <p:spPr>
          <a:xfrm>
            <a:off x="8026551" y="1414005"/>
            <a:ext cx="1110996" cy="292608"/>
          </a:xfrm>
          <a:prstGeom prst="rect">
            <a:avLst/>
          </a:prstGeom>
          <a:solidFill>
            <a:schemeClr val="accent2"/>
          </a:solidFill>
          <a:ln w="12700">
            <a:solidFill>
              <a:schemeClr val="accent2"/>
            </a:solidFill>
            <a:prstDash val="solid"/>
          </a:ln>
        </p:spPr>
      </p:sp>
      <p:sp>
        <p:nvSpPr>
          <p:cNvPr id="17" name="cadre-portrait-etiquette"/>
          <p:cNvSpPr txBox="1"/>
          <p:nvPr/>
        </p:nvSpPr>
        <p:spPr>
          <a:xfrm>
            <a:off x="8026551" y="1414005"/>
            <a:ext cx="1110996" cy="292608"/>
          </a:xfrm>
          <a:prstGeom prst="rect">
            <a:avLst/>
          </a:prstGeom>
          <a:no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Claire Test</a:t>
            </a:r>
            <a:endParaRPr lang="en-US" sz="1100" dirty="0"/>
          </a:p>
        </p:txBody>
      </p:sp>
      <p:sp>
        <p:nvSpPr>
          <p:cNvPr id="18" name="Text 15"/>
          <p:cNvSpPr txBox="1"/>
          <p:nvPr/>
        </p:nvSpPr>
        <p:spPr>
          <a:xfrm>
            <a:off x="7434072" y="5550408"/>
            <a:ext cx="4023360" cy="274320"/>
          </a:xfrm>
          <a:prstGeom prst="rect">
            <a:avLst/>
          </a:prstGeom>
          <a:noFill/>
          <a:ln/>
        </p:spPr>
        <p:txBody>
          <a:bodyPr wrap="square" lIns="0" tIns="0" rIns="0" bIns="0" rtlCol="0" anchor="t"/>
          <a:lstStyle/>
          <a:p>
            <a:pPr indent="0" marL="0">
              <a:buNone/>
            </a:pPr>
            <a:r>
              <a:rPr lang="en-US" sz="1000" dirty="0">
                <a:solidFill>
                  <a:srgbClr val="B3A797"/>
                </a:solidFill>
                <a:latin typeface="Segoe UI" pitchFamily="34" charset="0"/>
                <a:ea typeface="Segoe UI" pitchFamily="34" charset="-122"/>
                <a:cs typeface="Segoe UI" pitchFamily="34" charset="-120"/>
              </a:rPr>
              <a:t>Faces are pixelated in every screenshot.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731520" y="457200"/>
            <a:ext cx="8229600" cy="274320"/>
          </a:xfrm>
          <a:prstGeom prst="rect">
            <a:avLst/>
          </a:prstGeom>
          <a:noFill/>
          <a:ln/>
        </p:spPr>
        <p:txBody>
          <a:bodyPr wrap="square" lIns="0" tIns="0" rIns="0" bIns="0" rtlCol="0" anchor="t"/>
          <a:lstStyle/>
          <a:p>
            <a:pPr indent="0" marL="0">
              <a:buNone/>
            </a:pPr>
            <a:r>
              <a:rPr lang="en-US" sz="1050" spc="300" kern="0" dirty="0">
                <a:solidFill>
                  <a:srgbClr val="82601A"/>
                </a:solidFill>
                <a:latin typeface="Segoe UI Semibold" pitchFamily="34" charset="0"/>
                <a:ea typeface="Segoe UI Semibold" pitchFamily="34" charset="-122"/>
                <a:cs typeface="Segoe UI Semibold" pitchFamily="34" charset="-120"/>
              </a:rPr>
              <a:t>THE IDEA</a:t>
            </a:r>
            <a:endParaRPr lang="en-US" sz="1050" dirty="0"/>
          </a:p>
        </p:txBody>
      </p:sp>
      <p:sp>
        <p:nvSpPr>
          <p:cNvPr id="3" name="Text 0"/>
          <p:cNvSpPr/>
          <p:nvPr>
            <p:ph idx="101" type="title" hasCustomPrompt="1"/>
          </p:nvPr>
        </p:nvSpPr>
        <p:spPr>
          <a:xfrm>
            <a:off x="731520" y="749808"/>
            <a:ext cx="10728655" cy="731520"/>
          </a:xfrm>
          <a:prstGeom prst="rect">
            <a:avLst/>
          </a:prstGeom>
          <a:noFill/>
          <a:ln/>
        </p:spPr>
        <p:txBody>
          <a:bodyPr wrap="square" lIns="0" tIns="0" rIns="0" bIns="0" rtlCol="0" anchor="t"/>
          <a:lstStyle/>
          <a:p>
            <a:pPr algn="l" indent="0" marL="0">
              <a:buNone/>
            </a:pPr>
            <a:r>
              <a:rPr lang="en-US" sz="2800" dirty="0">
                <a:solidFill>
                  <a:schemeClr val="tx1"/>
                </a:solidFill>
                <a:latin typeface="Georgia" pitchFamily="34" charset="0"/>
                <a:ea typeface="Georgia" pitchFamily="34" charset="-122"/>
                <a:cs typeface="Georgia" pitchFamily="34" charset="-120"/>
              </a:rPr>
              <a:t>In a luxury boutique, the welcome happens in seconds</a:t>
            </a:r>
            <a:endParaRPr lang="en-US" sz="2800" dirty="0"/>
          </a:p>
        </p:txBody>
      </p:sp>
      <p:sp>
        <p:nvSpPr>
          <p:cNvPr id="4" name="citation"/>
          <p:cNvSpPr txBox="1"/>
          <p:nvPr/>
        </p:nvSpPr>
        <p:spPr>
          <a:xfrm>
            <a:off x="731520" y="1783080"/>
            <a:ext cx="6035040" cy="2286000"/>
          </a:xfrm>
          <a:prstGeom prst="rect">
            <a:avLst/>
          </a:prstGeom>
          <a:noFill/>
          <a:ln/>
        </p:spPr>
        <p:txBody>
          <a:bodyPr wrap="square" lIns="0" tIns="0" rIns="0" bIns="0" rtlCol="0" anchor="t"/>
          <a:lstStyle/>
          <a:p>
            <a:pPr indent="0" marL="0">
              <a:buNone/>
            </a:pPr>
            <a:r>
              <a:rPr lang="en-US" sz="3200" i="1" dirty="0">
                <a:solidFill>
                  <a:schemeClr val="tx1"/>
                </a:solidFill>
                <a:latin typeface="Georgia" pitchFamily="34" charset="0"/>
                <a:ea typeface="Georgia" pitchFamily="34" charset="-122"/>
                <a:cs typeface="Georgia" pitchFamily="34" charset="-120"/>
              </a:rPr>
              <a:t>« Bonjour Madame Test, un café glacé sans sucre, comme d'habitude ? »</a:t>
            </a:r>
            <a:endParaRPr lang="en-US" sz="3200" dirty="0"/>
          </a:p>
        </p:txBody>
      </p:sp>
      <p:sp>
        <p:nvSpPr>
          <p:cNvPr id="5" name="Text 3"/>
          <p:cNvSpPr txBox="1"/>
          <p:nvPr/>
        </p:nvSpPr>
        <p:spPr>
          <a:xfrm>
            <a:off x="731520" y="3840480"/>
            <a:ext cx="5760720" cy="731520"/>
          </a:xfrm>
          <a:prstGeom prst="rect">
            <a:avLst/>
          </a:prstGeom>
          <a:noFill/>
          <a:ln/>
        </p:spPr>
        <p:txBody>
          <a:bodyPr wrap="square" lIns="0" tIns="0" rIns="0" bIns="0" rtlCol="0" anchor="t"/>
          <a:lstStyle/>
          <a:p>
            <a:pPr indent="0" marL="0">
              <a:buNone/>
            </a:pPr>
            <a:r>
              <a:rPr lang="en-US" sz="1300" i="1" dirty="0">
                <a:solidFill>
                  <a:schemeClr val="accent4"/>
                </a:solidFill>
                <a:latin typeface="Segoe UI" pitchFamily="34" charset="0"/>
                <a:ea typeface="Segoe UI" pitchFamily="34" charset="-122"/>
                <a:cs typeface="Segoe UI" pitchFamily="34" charset="-120"/>
              </a:rPr>
              <a:t>“Good morning Mrs Test, an iced coffee with no sugar, as usual?”</a:t>
            </a:r>
            <a:endParaRPr lang="en-US" sz="1300" dirty="0"/>
          </a:p>
          <a:p>
            <a:pPr indent="0" marL="0">
              <a:buNone/>
            </a:pPr>
            <a:r>
              <a:rPr lang="en-US" sz="1300" dirty="0">
                <a:solidFill>
                  <a:schemeClr val="accent4"/>
                </a:solidFill>
                <a:latin typeface="Segoe UI" pitchFamily="34" charset="0"/>
                <a:ea typeface="Segoe UI" pitchFamily="34" charset="-122"/>
                <a:cs typeface="Segoe UI" pitchFamily="34" charset="-120"/>
              </a:rPr>
              <a:t>The welcome line the app writes from the client card and the time of day.</a:t>
            </a:r>
            <a:endParaRPr lang="en-US" sz="1300" dirty="0"/>
          </a:p>
        </p:txBody>
      </p:sp>
      <p:sp>
        <p:nvSpPr>
          <p:cNvPr id="6" name="Text 4"/>
          <p:cNvSpPr txBox="1"/>
          <p:nvPr/>
        </p:nvSpPr>
        <p:spPr>
          <a:xfrm>
            <a:off x="7406640" y="1746504"/>
            <a:ext cx="548640" cy="365760"/>
          </a:xfrm>
          <a:prstGeom prst="rect">
            <a:avLst/>
          </a:prstGeom>
          <a:noFill/>
          <a:ln/>
        </p:spPr>
        <p:txBody>
          <a:bodyPr wrap="square" lIns="0" tIns="0" rIns="0" bIns="0" rtlCol="0" anchor="t"/>
          <a:lstStyle/>
          <a:p>
            <a:pPr indent="0" marL="0">
              <a:buNone/>
            </a:pPr>
            <a:r>
              <a:rPr lang="en-US" sz="1800" dirty="0">
                <a:solidFill>
                  <a:srgbClr val="82601A"/>
                </a:solidFill>
                <a:latin typeface="Bodoni MT" pitchFamily="34" charset="0"/>
                <a:ea typeface="Bodoni MT" pitchFamily="34" charset="-122"/>
                <a:cs typeface="Bodoni MT" pitchFamily="34" charset="-120"/>
              </a:rPr>
              <a:t>01</a:t>
            </a:r>
            <a:endParaRPr lang="en-US" sz="1800" dirty="0"/>
          </a:p>
        </p:txBody>
      </p:sp>
      <p:sp>
        <p:nvSpPr>
          <p:cNvPr id="7" name="Text 5"/>
          <p:cNvSpPr txBox="1"/>
          <p:nvPr/>
        </p:nvSpPr>
        <p:spPr>
          <a:xfrm>
            <a:off x="8001000" y="1783080"/>
            <a:ext cx="3474720" cy="32004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Recognize without asking</a:t>
            </a:r>
            <a:endParaRPr lang="en-US" sz="1600" dirty="0"/>
          </a:p>
        </p:txBody>
      </p:sp>
      <p:sp>
        <p:nvSpPr>
          <p:cNvPr id="8" name="Text 6"/>
          <p:cNvSpPr txBox="1"/>
          <p:nvPr/>
        </p:nvSpPr>
        <p:spPr>
          <a:xfrm>
            <a:off x="8001000" y="2130552"/>
            <a:ext cx="3474720" cy="640080"/>
          </a:xfrm>
          <a:prstGeom prst="rect">
            <a:avLst/>
          </a:prstGeom>
          <a:noFill/>
          <a:ln/>
        </p:spPr>
        <p:txBody>
          <a:bodyPr wrap="square" lIns="0" tIns="0" rIns="0" bIns="0" rtlCol="0" anchor="t"/>
          <a:lstStyle/>
          <a:p>
            <a:pPr indent="0" marL="0">
              <a:buNone/>
            </a:pPr>
            <a:r>
              <a:rPr lang="en-US" sz="1300" dirty="0">
                <a:solidFill>
                  <a:schemeClr val="accent4"/>
                </a:solidFill>
                <a:latin typeface="Segoe UI" pitchFamily="34" charset="0"/>
                <a:ea typeface="Segoe UI" pitchFamily="34" charset="-122"/>
                <a:cs typeface="Segoe UI" pitchFamily="34" charset="-120"/>
              </a:rPr>
              <a:t>A registered client is identified as soon as they step into the camera's view.</a:t>
            </a:r>
            <a:endParaRPr lang="en-US" sz="1300" dirty="0"/>
          </a:p>
        </p:txBody>
      </p:sp>
      <p:sp>
        <p:nvSpPr>
          <p:cNvPr id="9" name="Text 7"/>
          <p:cNvSpPr txBox="1"/>
          <p:nvPr/>
        </p:nvSpPr>
        <p:spPr>
          <a:xfrm>
            <a:off x="7406640" y="2843784"/>
            <a:ext cx="548640" cy="365760"/>
          </a:xfrm>
          <a:prstGeom prst="rect">
            <a:avLst/>
          </a:prstGeom>
          <a:noFill/>
          <a:ln/>
        </p:spPr>
        <p:txBody>
          <a:bodyPr wrap="square" lIns="0" tIns="0" rIns="0" bIns="0" rtlCol="0" anchor="t"/>
          <a:lstStyle/>
          <a:p>
            <a:pPr indent="0" marL="0">
              <a:buNone/>
            </a:pPr>
            <a:r>
              <a:rPr lang="en-US" sz="1800" dirty="0">
                <a:solidFill>
                  <a:srgbClr val="82601A"/>
                </a:solidFill>
                <a:latin typeface="Bodoni MT" pitchFamily="34" charset="0"/>
                <a:ea typeface="Bodoni MT" pitchFamily="34" charset="-122"/>
                <a:cs typeface="Bodoni MT" pitchFamily="34" charset="-120"/>
              </a:rPr>
              <a:t>02</a:t>
            </a:r>
            <a:endParaRPr lang="en-US" sz="1800" dirty="0"/>
          </a:p>
        </p:txBody>
      </p:sp>
      <p:sp>
        <p:nvSpPr>
          <p:cNvPr id="10" name="Text 8"/>
          <p:cNvSpPr txBox="1"/>
          <p:nvPr/>
        </p:nvSpPr>
        <p:spPr>
          <a:xfrm>
            <a:off x="8001000" y="2880360"/>
            <a:ext cx="3474720" cy="32004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Remember preferences</a:t>
            </a:r>
            <a:endParaRPr lang="en-US" sz="1600" dirty="0"/>
          </a:p>
        </p:txBody>
      </p:sp>
      <p:sp>
        <p:nvSpPr>
          <p:cNvPr id="11" name="Text 9"/>
          <p:cNvSpPr txBox="1"/>
          <p:nvPr/>
        </p:nvSpPr>
        <p:spPr>
          <a:xfrm>
            <a:off x="8001000" y="3227832"/>
            <a:ext cx="3474720" cy="640080"/>
          </a:xfrm>
          <a:prstGeom prst="rect">
            <a:avLst/>
          </a:prstGeom>
          <a:noFill/>
          <a:ln/>
        </p:spPr>
        <p:txBody>
          <a:bodyPr wrap="square" lIns="0" tIns="0" rIns="0" bIns="0" rtlCol="0" anchor="t"/>
          <a:lstStyle/>
          <a:p>
            <a:pPr indent="0" marL="0">
              <a:buNone/>
            </a:pPr>
            <a:r>
              <a:rPr lang="en-US" sz="1300" dirty="0">
                <a:solidFill>
                  <a:schemeClr val="accent4"/>
                </a:solidFill>
                <a:latin typeface="Segoe UI" pitchFamily="34" charset="0"/>
                <a:ea typeface="Segoe UI" pitchFamily="34" charset="-122"/>
                <a:cs typeface="Segoe UI" pitchFamily="34" charset="-120"/>
              </a:rPr>
              <a:t>Drink, sugar, milk, style, recent purchases, advisor notes.</a:t>
            </a:r>
            <a:endParaRPr lang="en-US" sz="1300" dirty="0"/>
          </a:p>
        </p:txBody>
      </p:sp>
      <p:sp>
        <p:nvSpPr>
          <p:cNvPr id="12" name="Text 10"/>
          <p:cNvSpPr txBox="1"/>
          <p:nvPr/>
        </p:nvSpPr>
        <p:spPr>
          <a:xfrm>
            <a:off x="7406640" y="3941064"/>
            <a:ext cx="548640" cy="365760"/>
          </a:xfrm>
          <a:prstGeom prst="rect">
            <a:avLst/>
          </a:prstGeom>
          <a:noFill/>
          <a:ln/>
        </p:spPr>
        <p:txBody>
          <a:bodyPr wrap="square" lIns="0" tIns="0" rIns="0" bIns="0" rtlCol="0" anchor="t"/>
          <a:lstStyle/>
          <a:p>
            <a:pPr indent="0" marL="0">
              <a:buNone/>
            </a:pPr>
            <a:r>
              <a:rPr lang="en-US" sz="1800" dirty="0">
                <a:solidFill>
                  <a:srgbClr val="82601A"/>
                </a:solidFill>
                <a:latin typeface="Bodoni MT" pitchFamily="34" charset="0"/>
                <a:ea typeface="Bodoni MT" pitchFamily="34" charset="-122"/>
                <a:cs typeface="Bodoni MT" pitchFamily="34" charset="-120"/>
              </a:rPr>
              <a:t>03</a:t>
            </a:r>
            <a:endParaRPr lang="en-US" sz="1800" dirty="0"/>
          </a:p>
        </p:txBody>
      </p:sp>
      <p:sp>
        <p:nvSpPr>
          <p:cNvPr id="13" name="Text 11"/>
          <p:cNvSpPr txBox="1"/>
          <p:nvPr/>
        </p:nvSpPr>
        <p:spPr>
          <a:xfrm>
            <a:off x="8001000" y="3977640"/>
            <a:ext cx="3474720" cy="32004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Fit the moment</a:t>
            </a:r>
            <a:endParaRPr lang="en-US" sz="1600" dirty="0"/>
          </a:p>
        </p:txBody>
      </p:sp>
      <p:sp>
        <p:nvSpPr>
          <p:cNvPr id="14" name="Text 12"/>
          <p:cNvSpPr txBox="1"/>
          <p:nvPr/>
        </p:nvSpPr>
        <p:spPr>
          <a:xfrm>
            <a:off x="8001000" y="4325112"/>
            <a:ext cx="3474720" cy="640080"/>
          </a:xfrm>
          <a:prstGeom prst="rect">
            <a:avLst/>
          </a:prstGeom>
          <a:noFill/>
          <a:ln/>
        </p:spPr>
        <p:txBody>
          <a:bodyPr wrap="square" lIns="0" tIns="0" rIns="0" bIns="0" rtlCol="0" anchor="t"/>
          <a:lstStyle/>
          <a:p>
            <a:pPr indent="0" marL="0">
              <a:buNone/>
            </a:pPr>
            <a:r>
              <a:rPr lang="en-US" sz="1300" dirty="0">
                <a:solidFill>
                  <a:schemeClr val="accent4"/>
                </a:solidFill>
                <a:latin typeface="Segoe UI" pitchFamily="34" charset="0"/>
                <a:ea typeface="Segoe UI" pitchFamily="34" charset="-122"/>
                <a:cs typeface="Segoe UI" pitchFamily="34" charset="-120"/>
              </a:rPr>
              <a:t>The suggestion changes before and after noon and recalls the last visit.</a:t>
            </a:r>
            <a:endParaRPr lang="en-US" sz="1300" dirty="0"/>
          </a:p>
        </p:txBody>
      </p:sp>
      <p:sp>
        <p:nvSpPr>
          <p:cNvPr id="15" name="filet-question"/>
          <p:cNvSpPr/>
          <p:nvPr/>
        </p:nvSpPr>
        <p:spPr>
          <a:xfrm>
            <a:off x="731520" y="5257800"/>
            <a:ext cx="10728655" cy="0"/>
          </a:xfrm>
          <a:prstGeom prst="line">
            <a:avLst/>
          </a:prstGeom>
          <a:noFill/>
          <a:ln w="9525">
            <a:solidFill>
              <a:schemeClr val="accent1"/>
            </a:solidFill>
            <a:prstDash val="solid"/>
          </a:ln>
        </p:spPr>
      </p:sp>
      <p:sp>
        <p:nvSpPr>
          <p:cNvPr id="16" name="Text 14"/>
          <p:cNvSpPr txBox="1"/>
          <p:nvPr/>
        </p:nvSpPr>
        <p:spPr>
          <a:xfrm>
            <a:off x="731520" y="5413248"/>
            <a:ext cx="10728655" cy="457200"/>
          </a:xfrm>
          <a:prstGeom prst="rect">
            <a:avLst/>
          </a:prstGeom>
          <a:noFill/>
          <a:ln/>
        </p:spPr>
        <p:txBody>
          <a:bodyPr wrap="square" lIns="0" tIns="0" rIns="0" bIns="0" rtlCol="0" anchor="t"/>
          <a:lstStyle/>
          <a:p>
            <a:pPr indent="0" marL="0">
              <a:buNone/>
            </a:pPr>
            <a:r>
              <a:rPr lang="en-US" sz="1800" i="1" dirty="0">
                <a:solidFill>
                  <a:schemeClr val="tx1"/>
                </a:solidFill>
                <a:latin typeface="Georgia" pitchFamily="34" charset="0"/>
                <a:ea typeface="Georgia" pitchFamily="34" charset="-122"/>
                <a:cs typeface="Georgia" pitchFamily="34" charset="-120"/>
              </a:rPr>
              <a:t>Our question: how far can AI help a sales advisor, and where does it stop?</a:t>
            </a:r>
            <a:endParaRPr lang="en-US" sz="1800" dirty="0"/>
          </a:p>
        </p:txBody>
      </p:sp>
      <p:sp>
        <p:nvSpPr>
          <p:cNvPr id="25" name="Slide Number Placeholder 0"/>
          <p:cNvSpPr>
            <a:spLocks noGrp="1"/>
          </p:cNvSpPr>
          <p:nvPr>
            <p:ph type="sldNum" sz="quarter" idx="4294967295"/>
          </p:nvPr>
        </p:nvSpPr>
        <p:spPr>
          <a:xfrm>
            <a:off x="10911535" y="6400800"/>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6E645B"/>
                </a:solidFill>
                <a:latin typeface="Segoe UI Semibold"/>
                <a:ea typeface="Segoe UI Semibold"/>
                <a:cs typeface="Segoe UI Semibold"/>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457200"/>
            <a:ext cx="8229600" cy="274320"/>
          </a:xfrm>
          <a:prstGeom prst="rect">
            <a:avLst/>
          </a:prstGeom>
          <a:noFill/>
          <a:ln/>
        </p:spPr>
        <p:txBody>
          <a:bodyPr wrap="square" lIns="0" tIns="0" rIns="0" bIns="0" rtlCol="0" anchor="t"/>
          <a:lstStyle/>
          <a:p>
            <a:pPr indent="0" marL="0">
              <a:buNone/>
            </a:pPr>
            <a:r>
              <a:rPr lang="en-US" sz="1050" spc="300" kern="0" dirty="0">
                <a:solidFill>
                  <a:srgbClr val="82601A"/>
                </a:solidFill>
                <a:latin typeface="Segoe UI Semibold" pitchFamily="34" charset="0"/>
                <a:ea typeface="Segoe UI Semibold" pitchFamily="34" charset="-122"/>
                <a:cs typeface="Segoe UI Semibold" pitchFamily="34" charset="-120"/>
              </a:rPr>
              <a:t>WHAT WE BUILT</a:t>
            </a:r>
            <a:endParaRPr lang="en-US" sz="1050" dirty="0"/>
          </a:p>
        </p:txBody>
      </p:sp>
      <p:sp>
        <p:nvSpPr>
          <p:cNvPr id="3" name="Text 0"/>
          <p:cNvSpPr/>
          <p:nvPr>
            <p:ph idx="101" type="title" hasCustomPrompt="1"/>
          </p:nvPr>
        </p:nvSpPr>
        <p:spPr>
          <a:xfrm>
            <a:off x="731520" y="749808"/>
            <a:ext cx="10728655" cy="731520"/>
          </a:xfrm>
          <a:prstGeom prst="rect">
            <a:avLst/>
          </a:prstGeom>
          <a:noFill/>
          <a:ln/>
        </p:spPr>
        <p:txBody>
          <a:bodyPr wrap="square" lIns="0" tIns="0" rIns="0" bIns="0" rtlCol="0" anchor="t"/>
          <a:lstStyle/>
          <a:p>
            <a:pPr algn="l" indent="0" marL="0">
              <a:buNone/>
            </a:pPr>
            <a:r>
              <a:rPr lang="en-US" sz="2800" dirty="0">
                <a:solidFill>
                  <a:schemeClr val="tx1"/>
                </a:solidFill>
                <a:latin typeface="Georgia" pitchFamily="34" charset="0"/>
                <a:ea typeface="Georgia" pitchFamily="34" charset="-122"/>
                <a:cs typeface="Georgia" pitchFamily="34" charset="-120"/>
              </a:rPr>
              <a:t>A complete app, published and usable from a link</a:t>
            </a:r>
            <a:endParaRPr lang="en-US" sz="2800" dirty="0"/>
          </a:p>
        </p:txBody>
      </p:sp>
      <p:pic>
        <p:nvPicPr>
          <p:cNvPr id="4" name="capture-reconnaissance" descr="Recognition page: framed face labelled Claire Test, live indicators, client card and welcome line">    </p:cNvPr>
          <p:cNvPicPr>
            <a:picLocks noChangeAspect="1"/>
          </p:cNvPicPr>
          <p:nvPr/>
        </p:nvPicPr>
        <p:blipFill>
          <a:blip r:embed="rId1"/>
          <a:stretch>
            <a:fillRect/>
          </a:stretch>
        </p:blipFill>
        <p:spPr>
          <a:xfrm>
            <a:off x="731520" y="1691640"/>
            <a:ext cx="7315200" cy="3810000"/>
          </a:xfrm>
          <a:prstGeom prst="rect">
            <a:avLst/>
          </a:prstGeom>
        </p:spPr>
      </p:pic>
      <p:sp>
        <p:nvSpPr>
          <p:cNvPr id="5" name="capture-bord"/>
          <p:cNvSpPr/>
          <p:nvPr/>
        </p:nvSpPr>
        <p:spPr>
          <a:xfrm>
            <a:off x="731520" y="1691640"/>
            <a:ext cx="7315200" cy="3810000"/>
          </a:xfrm>
          <a:prstGeom prst="rect">
            <a:avLst/>
          </a:prstGeom>
          <a:ln w="9525">
            <a:solidFill>
              <a:srgbClr val="DCD0BD"/>
            </a:solidFill>
            <a:prstDash val="solid"/>
          </a:ln>
        </p:spPr>
      </p:sp>
      <p:sp>
        <p:nvSpPr>
          <p:cNvPr id="6" name="cadre-capture-coin-1"/>
          <p:cNvSpPr/>
          <p:nvPr/>
        </p:nvSpPr>
        <p:spPr>
          <a:xfrm>
            <a:off x="2259330" y="2388870"/>
            <a:ext cx="201168" cy="27432"/>
          </a:xfrm>
          <a:prstGeom prst="rect">
            <a:avLst/>
          </a:prstGeom>
          <a:solidFill>
            <a:schemeClr val="accent2"/>
          </a:solidFill>
          <a:ln w="12700">
            <a:solidFill>
              <a:schemeClr val="accent2"/>
            </a:solidFill>
            <a:prstDash val="solid"/>
          </a:ln>
        </p:spPr>
      </p:sp>
      <p:sp>
        <p:nvSpPr>
          <p:cNvPr id="7" name="cadre-capture-coin-2"/>
          <p:cNvSpPr/>
          <p:nvPr/>
        </p:nvSpPr>
        <p:spPr>
          <a:xfrm>
            <a:off x="2259330" y="2388870"/>
            <a:ext cx="27432" cy="201168"/>
          </a:xfrm>
          <a:prstGeom prst="rect">
            <a:avLst/>
          </a:prstGeom>
          <a:solidFill>
            <a:schemeClr val="accent2"/>
          </a:solidFill>
          <a:ln w="12700">
            <a:solidFill>
              <a:schemeClr val="accent2"/>
            </a:solidFill>
            <a:prstDash val="solid"/>
          </a:ln>
        </p:spPr>
      </p:sp>
      <p:sp>
        <p:nvSpPr>
          <p:cNvPr id="8" name="cadre-capture-coin-3"/>
          <p:cNvSpPr/>
          <p:nvPr/>
        </p:nvSpPr>
        <p:spPr>
          <a:xfrm>
            <a:off x="3323082" y="2388870"/>
            <a:ext cx="201168" cy="27432"/>
          </a:xfrm>
          <a:prstGeom prst="rect">
            <a:avLst/>
          </a:prstGeom>
          <a:solidFill>
            <a:schemeClr val="accent2"/>
          </a:solidFill>
          <a:ln w="12700">
            <a:solidFill>
              <a:schemeClr val="accent2"/>
            </a:solidFill>
            <a:prstDash val="solid"/>
          </a:ln>
        </p:spPr>
      </p:sp>
      <p:sp>
        <p:nvSpPr>
          <p:cNvPr id="9" name="cadre-capture-coin-4"/>
          <p:cNvSpPr/>
          <p:nvPr/>
        </p:nvSpPr>
        <p:spPr>
          <a:xfrm>
            <a:off x="3496818" y="2388870"/>
            <a:ext cx="27432" cy="201168"/>
          </a:xfrm>
          <a:prstGeom prst="rect">
            <a:avLst/>
          </a:prstGeom>
          <a:solidFill>
            <a:schemeClr val="accent2"/>
          </a:solidFill>
          <a:ln w="12700">
            <a:solidFill>
              <a:schemeClr val="accent2"/>
            </a:solidFill>
            <a:prstDash val="solid"/>
          </a:ln>
        </p:spPr>
      </p:sp>
      <p:sp>
        <p:nvSpPr>
          <p:cNvPr id="10" name="cadre-capture-coin-5"/>
          <p:cNvSpPr/>
          <p:nvPr/>
        </p:nvSpPr>
        <p:spPr>
          <a:xfrm>
            <a:off x="2259330" y="3893058"/>
            <a:ext cx="201168" cy="27432"/>
          </a:xfrm>
          <a:prstGeom prst="rect">
            <a:avLst/>
          </a:prstGeom>
          <a:solidFill>
            <a:schemeClr val="accent2"/>
          </a:solidFill>
          <a:ln w="12700">
            <a:solidFill>
              <a:schemeClr val="accent2"/>
            </a:solidFill>
            <a:prstDash val="solid"/>
          </a:ln>
        </p:spPr>
      </p:sp>
      <p:sp>
        <p:nvSpPr>
          <p:cNvPr id="11" name="cadre-capture-coin-6"/>
          <p:cNvSpPr/>
          <p:nvPr/>
        </p:nvSpPr>
        <p:spPr>
          <a:xfrm>
            <a:off x="2259330" y="3719322"/>
            <a:ext cx="27432" cy="201168"/>
          </a:xfrm>
          <a:prstGeom prst="rect">
            <a:avLst/>
          </a:prstGeom>
          <a:solidFill>
            <a:schemeClr val="accent2"/>
          </a:solidFill>
          <a:ln w="12700">
            <a:solidFill>
              <a:schemeClr val="accent2"/>
            </a:solidFill>
            <a:prstDash val="solid"/>
          </a:ln>
        </p:spPr>
      </p:sp>
      <p:sp>
        <p:nvSpPr>
          <p:cNvPr id="12" name="cadre-capture-coin-7"/>
          <p:cNvSpPr/>
          <p:nvPr/>
        </p:nvSpPr>
        <p:spPr>
          <a:xfrm>
            <a:off x="3323082" y="3893058"/>
            <a:ext cx="201168" cy="27432"/>
          </a:xfrm>
          <a:prstGeom prst="rect">
            <a:avLst/>
          </a:prstGeom>
          <a:solidFill>
            <a:schemeClr val="accent2"/>
          </a:solidFill>
          <a:ln w="12700">
            <a:solidFill>
              <a:schemeClr val="accent2"/>
            </a:solidFill>
            <a:prstDash val="solid"/>
          </a:ln>
        </p:spPr>
      </p:sp>
      <p:sp>
        <p:nvSpPr>
          <p:cNvPr id="13" name="cadre-capture-coin-8"/>
          <p:cNvSpPr/>
          <p:nvPr/>
        </p:nvSpPr>
        <p:spPr>
          <a:xfrm>
            <a:off x="3496818" y="3719322"/>
            <a:ext cx="27432" cy="201168"/>
          </a:xfrm>
          <a:prstGeom prst="rect">
            <a:avLst/>
          </a:prstGeom>
          <a:solidFill>
            <a:schemeClr val="accent2"/>
          </a:solidFill>
          <a:ln w="12700">
            <a:solidFill>
              <a:schemeClr val="accent2"/>
            </a:solidFill>
            <a:prstDash val="solid"/>
          </a:ln>
        </p:spPr>
      </p:sp>
      <p:sp>
        <p:nvSpPr>
          <p:cNvPr id="14" name="cadre-capture-etiquette-fond"/>
          <p:cNvSpPr/>
          <p:nvPr/>
        </p:nvSpPr>
        <p:spPr>
          <a:xfrm>
            <a:off x="2259330" y="2096262"/>
            <a:ext cx="1110996" cy="292608"/>
          </a:xfrm>
          <a:prstGeom prst="rect">
            <a:avLst/>
          </a:prstGeom>
          <a:solidFill>
            <a:schemeClr val="accent2"/>
          </a:solidFill>
          <a:ln w="12700">
            <a:solidFill>
              <a:schemeClr val="accent2"/>
            </a:solidFill>
            <a:prstDash val="solid"/>
          </a:ln>
        </p:spPr>
      </p:sp>
      <p:sp>
        <p:nvSpPr>
          <p:cNvPr id="15" name="cadre-capture-etiquette"/>
          <p:cNvSpPr txBox="1"/>
          <p:nvPr/>
        </p:nvSpPr>
        <p:spPr>
          <a:xfrm>
            <a:off x="2259330" y="2096262"/>
            <a:ext cx="1110996" cy="292608"/>
          </a:xfrm>
          <a:prstGeom prst="rect">
            <a:avLst/>
          </a:prstGeom>
          <a:no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Claire Test</a:t>
            </a:r>
            <a:endParaRPr lang="en-US" sz="1100" dirty="0"/>
          </a:p>
        </p:txBody>
      </p:sp>
      <p:sp>
        <p:nvSpPr>
          <p:cNvPr id="16" name="repere-1"/>
          <p:cNvSpPr/>
          <p:nvPr/>
        </p:nvSpPr>
        <p:spPr>
          <a:xfrm>
            <a:off x="1075182" y="2073402"/>
            <a:ext cx="310896" cy="310896"/>
          </a:xfrm>
          <a:prstGeom prst="ellipse">
            <a:avLst/>
          </a:prstGeom>
          <a:solidFill>
            <a:schemeClr val="accent1"/>
          </a:solidFill>
          <a:ln w="19050">
            <a:solidFill>
              <a:srgbClr val="FFFDF9"/>
            </a:solidFill>
            <a:prstDash val="solid"/>
          </a:ln>
        </p:spPr>
      </p:sp>
      <p:sp>
        <p:nvSpPr>
          <p:cNvPr id="17" name="Text 14"/>
          <p:cNvSpPr txBox="1"/>
          <p:nvPr/>
        </p:nvSpPr>
        <p:spPr>
          <a:xfrm>
            <a:off x="1075182" y="2073402"/>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8" name="repere-2"/>
          <p:cNvSpPr/>
          <p:nvPr/>
        </p:nvSpPr>
        <p:spPr>
          <a:xfrm>
            <a:off x="938022" y="4138422"/>
            <a:ext cx="310896" cy="310896"/>
          </a:xfrm>
          <a:prstGeom prst="ellipse">
            <a:avLst/>
          </a:prstGeom>
          <a:solidFill>
            <a:schemeClr val="accent1"/>
          </a:solidFill>
          <a:ln w="19050">
            <a:solidFill>
              <a:srgbClr val="FFFDF9"/>
            </a:solidFill>
            <a:prstDash val="solid"/>
          </a:ln>
        </p:spPr>
      </p:sp>
      <p:sp>
        <p:nvSpPr>
          <p:cNvPr id="19" name="Text 16"/>
          <p:cNvSpPr txBox="1"/>
          <p:nvPr/>
        </p:nvSpPr>
        <p:spPr>
          <a:xfrm>
            <a:off x="938022" y="4138422"/>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0" name="repere-3"/>
          <p:cNvSpPr/>
          <p:nvPr/>
        </p:nvSpPr>
        <p:spPr>
          <a:xfrm>
            <a:off x="4607052" y="2507742"/>
            <a:ext cx="310896" cy="310896"/>
          </a:xfrm>
          <a:prstGeom prst="ellipse">
            <a:avLst/>
          </a:prstGeom>
          <a:solidFill>
            <a:schemeClr val="accent1"/>
          </a:solidFill>
          <a:ln w="19050">
            <a:solidFill>
              <a:srgbClr val="FFFDF9"/>
            </a:solidFill>
            <a:prstDash val="solid"/>
          </a:ln>
        </p:spPr>
      </p:sp>
      <p:sp>
        <p:nvSpPr>
          <p:cNvPr id="21" name="Text 18"/>
          <p:cNvSpPr txBox="1"/>
          <p:nvPr/>
        </p:nvSpPr>
        <p:spPr>
          <a:xfrm>
            <a:off x="4607052" y="2507742"/>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2" name="repere-4"/>
          <p:cNvSpPr/>
          <p:nvPr/>
        </p:nvSpPr>
        <p:spPr>
          <a:xfrm>
            <a:off x="4576572" y="3612642"/>
            <a:ext cx="310896" cy="310896"/>
          </a:xfrm>
          <a:prstGeom prst="ellipse">
            <a:avLst/>
          </a:prstGeom>
          <a:solidFill>
            <a:schemeClr val="accent1"/>
          </a:solidFill>
          <a:ln w="19050">
            <a:solidFill>
              <a:srgbClr val="FFFDF9"/>
            </a:solidFill>
            <a:prstDash val="solid"/>
          </a:ln>
        </p:spPr>
      </p:sp>
      <p:sp>
        <p:nvSpPr>
          <p:cNvPr id="23" name="Text 20"/>
          <p:cNvSpPr txBox="1"/>
          <p:nvPr/>
        </p:nvSpPr>
        <p:spPr>
          <a:xfrm>
            <a:off x="4576572" y="3612642"/>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24" name="repere-1"/>
          <p:cNvSpPr/>
          <p:nvPr/>
        </p:nvSpPr>
        <p:spPr>
          <a:xfrm>
            <a:off x="8385048" y="1755648"/>
            <a:ext cx="274320" cy="274320"/>
          </a:xfrm>
          <a:prstGeom prst="ellipse">
            <a:avLst/>
          </a:prstGeom>
          <a:solidFill>
            <a:schemeClr val="accent1"/>
          </a:solidFill>
          <a:ln w="19050">
            <a:solidFill>
              <a:srgbClr val="FFFDF9"/>
            </a:solidFill>
            <a:prstDash val="solid"/>
          </a:ln>
        </p:spPr>
      </p:sp>
      <p:sp>
        <p:nvSpPr>
          <p:cNvPr id="25" name="Text 22"/>
          <p:cNvSpPr txBox="1"/>
          <p:nvPr/>
        </p:nvSpPr>
        <p:spPr>
          <a:xfrm>
            <a:off x="8385048" y="1755648"/>
            <a:ext cx="274320" cy="27432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6" name="Text 23"/>
          <p:cNvSpPr txBox="1"/>
          <p:nvPr/>
        </p:nvSpPr>
        <p:spPr>
          <a:xfrm>
            <a:off x="8823960" y="1737360"/>
            <a:ext cx="2651760" cy="301752"/>
          </a:xfrm>
          <a:prstGeom prst="rect">
            <a:avLst/>
          </a:prstGeom>
          <a:noFill/>
          <a:ln/>
        </p:spPr>
        <p:txBody>
          <a:bodyPr wrap="square" lIns="0" tIns="0" rIns="0" bIns="0" rtlCol="0" anchor="t"/>
          <a:lstStyle/>
          <a:p>
            <a:pPr indent="0" marL="0">
              <a:buNone/>
            </a:pPr>
            <a:r>
              <a:rPr lang="en-US" sz="1450" dirty="0">
                <a:solidFill>
                  <a:schemeClr val="tx1"/>
                </a:solidFill>
                <a:latin typeface="Segoe UI Semibold" pitchFamily="34" charset="0"/>
                <a:ea typeface="Segoe UI Semibold" pitchFamily="34" charset="-122"/>
                <a:cs typeface="Segoe UI Semibold" pitchFamily="34" charset="-120"/>
              </a:rPr>
              <a:t>Live recognition</a:t>
            </a:r>
            <a:endParaRPr lang="en-US" sz="1450" dirty="0"/>
          </a:p>
        </p:txBody>
      </p:sp>
      <p:sp>
        <p:nvSpPr>
          <p:cNvPr id="27" name="Text 24"/>
          <p:cNvSpPr txBox="1"/>
          <p:nvPr/>
        </p:nvSpPr>
        <p:spPr>
          <a:xfrm>
            <a:off x="8823960" y="2048256"/>
            <a:ext cx="2651760" cy="502920"/>
          </a:xfrm>
          <a:prstGeom prst="rect">
            <a:avLst/>
          </a:prstGeom>
          <a:noFill/>
          <a:ln/>
        </p:spPr>
        <p:txBody>
          <a:bodyPr wrap="square" lIns="0" tIns="0" rIns="0" bIns="0" rtlCol="0" anchor="t"/>
          <a:lstStyle/>
          <a:p>
            <a:pPr indent="0" marL="0">
              <a:buNone/>
            </a:pPr>
            <a:r>
              <a:rPr lang="en-US" sz="1200" dirty="0">
                <a:solidFill>
                  <a:schemeClr val="accent4"/>
                </a:solidFill>
                <a:latin typeface="Segoe UI" pitchFamily="34" charset="0"/>
                <a:ea typeface="Segoe UI" pitchFamily="34" charset="-122"/>
                <a:cs typeface="Segoe UI" pitchFamily="34" charset="-120"/>
              </a:rPr>
              <a:t>A frame and a name on each face, “Inconnu” (unknown) otherwise.</a:t>
            </a:r>
            <a:endParaRPr lang="en-US" sz="1200" dirty="0"/>
          </a:p>
        </p:txBody>
      </p:sp>
      <p:sp>
        <p:nvSpPr>
          <p:cNvPr id="28" name="repere-2"/>
          <p:cNvSpPr/>
          <p:nvPr/>
        </p:nvSpPr>
        <p:spPr>
          <a:xfrm>
            <a:off x="8385048" y="2624328"/>
            <a:ext cx="274320" cy="274320"/>
          </a:xfrm>
          <a:prstGeom prst="ellipse">
            <a:avLst/>
          </a:prstGeom>
          <a:solidFill>
            <a:schemeClr val="accent1"/>
          </a:solidFill>
          <a:ln w="19050">
            <a:solidFill>
              <a:srgbClr val="FFFDF9"/>
            </a:solidFill>
            <a:prstDash val="solid"/>
          </a:ln>
        </p:spPr>
      </p:sp>
      <p:sp>
        <p:nvSpPr>
          <p:cNvPr id="29" name="Text 26"/>
          <p:cNvSpPr txBox="1"/>
          <p:nvPr/>
        </p:nvSpPr>
        <p:spPr>
          <a:xfrm>
            <a:off x="8385048" y="2624328"/>
            <a:ext cx="274320" cy="27432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30" name="Text 27"/>
          <p:cNvSpPr txBox="1"/>
          <p:nvPr/>
        </p:nvSpPr>
        <p:spPr>
          <a:xfrm>
            <a:off x="8823960" y="2606040"/>
            <a:ext cx="2651760" cy="301752"/>
          </a:xfrm>
          <a:prstGeom prst="rect">
            <a:avLst/>
          </a:prstGeom>
          <a:noFill/>
          <a:ln/>
        </p:spPr>
        <p:txBody>
          <a:bodyPr wrap="square" lIns="0" tIns="0" rIns="0" bIns="0" rtlCol="0" anchor="t"/>
          <a:lstStyle/>
          <a:p>
            <a:pPr indent="0" marL="0">
              <a:buNone/>
            </a:pPr>
            <a:r>
              <a:rPr lang="en-US" sz="1450" dirty="0">
                <a:solidFill>
                  <a:schemeClr val="tx1"/>
                </a:solidFill>
                <a:latin typeface="Segoe UI Semibold" pitchFamily="34" charset="0"/>
                <a:ea typeface="Segoe UI Semibold" pitchFamily="34" charset="-122"/>
                <a:cs typeface="Segoe UI Semibold" pitchFamily="34" charset="-120"/>
              </a:rPr>
              <a:t>Live indicators</a:t>
            </a:r>
            <a:endParaRPr lang="en-US" sz="1450" dirty="0"/>
          </a:p>
        </p:txBody>
      </p:sp>
      <p:sp>
        <p:nvSpPr>
          <p:cNvPr id="31" name="Text 28"/>
          <p:cNvSpPr txBox="1"/>
          <p:nvPr/>
        </p:nvSpPr>
        <p:spPr>
          <a:xfrm>
            <a:off x="8823960" y="2916936"/>
            <a:ext cx="2651760" cy="502920"/>
          </a:xfrm>
          <a:prstGeom prst="rect">
            <a:avLst/>
          </a:prstGeom>
          <a:noFill/>
          <a:ln/>
        </p:spPr>
        <p:txBody>
          <a:bodyPr wrap="square" lIns="0" tIns="0" rIns="0" bIns="0" rtlCol="0" anchor="t"/>
          <a:lstStyle/>
          <a:p>
            <a:pPr indent="0" marL="0">
              <a:buNone/>
            </a:pPr>
            <a:r>
              <a:rPr lang="en-US" sz="1200" dirty="0">
                <a:solidFill>
                  <a:schemeClr val="accent4"/>
                </a:solidFill>
                <a:latin typeface="Segoe UI" pitchFamily="34" charset="0"/>
                <a:ea typeface="Segoe UI" pitchFamily="34" charset="-122"/>
                <a:cs typeface="Segoe UI" pitchFamily="34" charset="-120"/>
              </a:rPr>
              <a:t>Speed, delay and similarity, measured while it runs.</a:t>
            </a:r>
            <a:endParaRPr lang="en-US" sz="1200" dirty="0"/>
          </a:p>
        </p:txBody>
      </p:sp>
      <p:sp>
        <p:nvSpPr>
          <p:cNvPr id="32" name="repere-3"/>
          <p:cNvSpPr/>
          <p:nvPr/>
        </p:nvSpPr>
        <p:spPr>
          <a:xfrm>
            <a:off x="8385048" y="3493008"/>
            <a:ext cx="274320" cy="274320"/>
          </a:xfrm>
          <a:prstGeom prst="ellipse">
            <a:avLst/>
          </a:prstGeom>
          <a:solidFill>
            <a:schemeClr val="accent1"/>
          </a:solidFill>
          <a:ln w="19050">
            <a:solidFill>
              <a:srgbClr val="FFFDF9"/>
            </a:solidFill>
            <a:prstDash val="solid"/>
          </a:ln>
        </p:spPr>
      </p:sp>
      <p:sp>
        <p:nvSpPr>
          <p:cNvPr id="33" name="Text 30"/>
          <p:cNvSpPr txBox="1"/>
          <p:nvPr/>
        </p:nvSpPr>
        <p:spPr>
          <a:xfrm>
            <a:off x="8385048" y="3493008"/>
            <a:ext cx="274320" cy="27432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4" name="Text 31"/>
          <p:cNvSpPr txBox="1"/>
          <p:nvPr/>
        </p:nvSpPr>
        <p:spPr>
          <a:xfrm>
            <a:off x="8823960" y="3474720"/>
            <a:ext cx="2651760" cy="301752"/>
          </a:xfrm>
          <a:prstGeom prst="rect">
            <a:avLst/>
          </a:prstGeom>
          <a:noFill/>
          <a:ln/>
        </p:spPr>
        <p:txBody>
          <a:bodyPr wrap="square" lIns="0" tIns="0" rIns="0" bIns="0" rtlCol="0" anchor="t"/>
          <a:lstStyle/>
          <a:p>
            <a:pPr indent="0" marL="0">
              <a:buNone/>
            </a:pPr>
            <a:r>
              <a:rPr lang="en-US" sz="1450" dirty="0">
                <a:solidFill>
                  <a:schemeClr val="tx1"/>
                </a:solidFill>
                <a:latin typeface="Segoe UI Semibold" pitchFamily="34" charset="0"/>
                <a:ea typeface="Segoe UI Semibold" pitchFamily="34" charset="-122"/>
                <a:cs typeface="Segoe UI Semibold" pitchFamily="34" charset="-120"/>
              </a:rPr>
              <a:t>Client card</a:t>
            </a:r>
            <a:endParaRPr lang="en-US" sz="1450" dirty="0"/>
          </a:p>
        </p:txBody>
      </p:sp>
      <p:sp>
        <p:nvSpPr>
          <p:cNvPr id="35" name="Text 32"/>
          <p:cNvSpPr txBox="1"/>
          <p:nvPr/>
        </p:nvSpPr>
        <p:spPr>
          <a:xfrm>
            <a:off x="8823960" y="3785616"/>
            <a:ext cx="2651760" cy="502920"/>
          </a:xfrm>
          <a:prstGeom prst="rect">
            <a:avLst/>
          </a:prstGeom>
          <a:noFill/>
          <a:ln/>
        </p:spPr>
        <p:txBody>
          <a:bodyPr wrap="square" lIns="0" tIns="0" rIns="0" bIns="0" rtlCol="0" anchor="t"/>
          <a:lstStyle/>
          <a:p>
            <a:pPr indent="0" marL="0">
              <a:buNone/>
            </a:pPr>
            <a:r>
              <a:rPr lang="en-US" sz="1200" dirty="0">
                <a:solidFill>
                  <a:schemeClr val="accent4"/>
                </a:solidFill>
                <a:latin typeface="Segoe UI" pitchFamily="34" charset="0"/>
                <a:ea typeface="Segoe UI" pitchFamily="34" charset="-122"/>
                <a:cs typeface="Segoe UI" pitchFamily="34" charset="-120"/>
              </a:rPr>
              <a:t>Preferences, purchases, advisor notes, next appointment.</a:t>
            </a:r>
            <a:endParaRPr lang="en-US" sz="1200" dirty="0"/>
          </a:p>
        </p:txBody>
      </p:sp>
      <p:sp>
        <p:nvSpPr>
          <p:cNvPr id="36" name="repere-4"/>
          <p:cNvSpPr/>
          <p:nvPr/>
        </p:nvSpPr>
        <p:spPr>
          <a:xfrm>
            <a:off x="8385048" y="4361688"/>
            <a:ext cx="274320" cy="274320"/>
          </a:xfrm>
          <a:prstGeom prst="ellipse">
            <a:avLst/>
          </a:prstGeom>
          <a:solidFill>
            <a:schemeClr val="accent1"/>
          </a:solidFill>
          <a:ln w="19050">
            <a:solidFill>
              <a:srgbClr val="FFFDF9"/>
            </a:solidFill>
            <a:prstDash val="solid"/>
          </a:ln>
        </p:spPr>
      </p:sp>
      <p:sp>
        <p:nvSpPr>
          <p:cNvPr id="37" name="Text 34"/>
          <p:cNvSpPr txBox="1"/>
          <p:nvPr/>
        </p:nvSpPr>
        <p:spPr>
          <a:xfrm>
            <a:off x="8385048" y="4361688"/>
            <a:ext cx="274320" cy="27432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8" name="Text 35"/>
          <p:cNvSpPr txBox="1"/>
          <p:nvPr/>
        </p:nvSpPr>
        <p:spPr>
          <a:xfrm>
            <a:off x="8823960" y="4343400"/>
            <a:ext cx="2651760" cy="301752"/>
          </a:xfrm>
          <a:prstGeom prst="rect">
            <a:avLst/>
          </a:prstGeom>
          <a:noFill/>
          <a:ln/>
        </p:spPr>
        <p:txBody>
          <a:bodyPr wrap="square" lIns="0" tIns="0" rIns="0" bIns="0" rtlCol="0" anchor="t"/>
          <a:lstStyle/>
          <a:p>
            <a:pPr indent="0" marL="0">
              <a:buNone/>
            </a:pPr>
            <a:r>
              <a:rPr lang="en-US" sz="1450" dirty="0">
                <a:solidFill>
                  <a:schemeClr val="tx1"/>
                </a:solidFill>
                <a:latin typeface="Segoe UI Semibold" pitchFamily="34" charset="0"/>
                <a:ea typeface="Segoe UI Semibold" pitchFamily="34" charset="-122"/>
                <a:cs typeface="Segoe UI Semibold" pitchFamily="34" charset="-120"/>
              </a:rPr>
              <a:t>Welcome line</a:t>
            </a:r>
            <a:endParaRPr lang="en-US" sz="1450" dirty="0"/>
          </a:p>
        </p:txBody>
      </p:sp>
      <p:sp>
        <p:nvSpPr>
          <p:cNvPr id="39" name="Text 36"/>
          <p:cNvSpPr txBox="1"/>
          <p:nvPr/>
        </p:nvSpPr>
        <p:spPr>
          <a:xfrm>
            <a:off x="8823960" y="4654296"/>
            <a:ext cx="2651760" cy="502920"/>
          </a:xfrm>
          <a:prstGeom prst="rect">
            <a:avLst/>
          </a:prstGeom>
          <a:noFill/>
          <a:ln/>
        </p:spPr>
        <p:txBody>
          <a:bodyPr wrap="square" lIns="0" tIns="0" rIns="0" bIns="0" rtlCol="0" anchor="t"/>
          <a:lstStyle/>
          <a:p>
            <a:pPr indent="0" marL="0">
              <a:buNone/>
            </a:pPr>
            <a:r>
              <a:rPr lang="en-US" sz="1200" dirty="0">
                <a:solidFill>
                  <a:schemeClr val="accent4"/>
                </a:solidFill>
                <a:latin typeface="Segoe UI" pitchFamily="34" charset="0"/>
                <a:ea typeface="Segoe UI" pitchFamily="34" charset="-122"/>
                <a:cs typeface="Segoe UI" pitchFamily="34" charset="-120"/>
              </a:rPr>
              <a:t>Written from the card and the time of day.</a:t>
            </a:r>
            <a:endParaRPr lang="en-US" sz="1200" dirty="0"/>
          </a:p>
        </p:txBody>
      </p:sp>
      <p:sp>
        <p:nvSpPr>
          <p:cNvPr id="40" name="filet"/>
          <p:cNvSpPr/>
          <p:nvPr/>
        </p:nvSpPr>
        <p:spPr>
          <a:xfrm>
            <a:off x="8366760" y="5257800"/>
            <a:ext cx="3090672" cy="0"/>
          </a:xfrm>
          <a:prstGeom prst="line">
            <a:avLst/>
          </a:prstGeom>
          <a:noFill/>
          <a:ln w="9525">
            <a:solidFill>
              <a:srgbClr val="DCD0BD"/>
            </a:solidFill>
            <a:prstDash val="solid"/>
          </a:ln>
        </p:spPr>
      </p:sp>
      <p:sp>
        <p:nvSpPr>
          <p:cNvPr id="41" name="Text 38"/>
          <p:cNvSpPr txBox="1"/>
          <p:nvPr/>
        </p:nvSpPr>
        <p:spPr>
          <a:xfrm>
            <a:off x="8366760" y="5349240"/>
            <a:ext cx="3090672" cy="685800"/>
          </a:xfrm>
          <a:prstGeom prst="rect">
            <a:avLst/>
          </a:prstGeom>
          <a:noFill/>
          <a:ln/>
        </p:spPr>
        <p:txBody>
          <a:bodyPr wrap="square" lIns="0" tIns="0" rIns="0" bIns="0" rtlCol="0" anchor="t"/>
          <a:lstStyle/>
          <a:p>
            <a:pPr indent="0" marL="0">
              <a:buNone/>
            </a:pPr>
            <a:r>
              <a:rPr lang="en-US" sz="1100" dirty="0">
                <a:solidFill>
                  <a:schemeClr val="accent4"/>
                </a:solidFill>
                <a:latin typeface="Segoe UI" pitchFamily="34" charset="0"/>
                <a:ea typeface="Segoe UI" pitchFamily="34" charset="-122"/>
                <a:cs typeface="Segoe UI" pitchFamily="34" charset="-120"/>
              </a:rPr>
              <a:t>Two more pages: Clients (consent, guided capture, card) and Indicators (dashboard). The interface is in French.</a:t>
            </a:r>
            <a:endParaRPr lang="en-US" sz="1100" dirty="0"/>
          </a:p>
        </p:txBody>
      </p:sp>
      <p:sp>
        <p:nvSpPr>
          <p:cNvPr id="25" name="Slide Number Placeholder 0"/>
          <p:cNvSpPr>
            <a:spLocks noGrp="1"/>
          </p:cNvSpPr>
          <p:nvPr>
            <p:ph type="sldNum" sz="quarter" idx="4294967295"/>
          </p:nvPr>
        </p:nvSpPr>
        <p:spPr>
          <a:xfrm>
            <a:off x="10911535" y="6400800"/>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6E645B"/>
                </a:solidFill>
                <a:latin typeface="Segoe UI Semibold"/>
                <a:ea typeface="Segoe UI Semibold"/>
                <a:cs typeface="Segoe UI Semibold"/>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457200"/>
            <a:ext cx="8229600" cy="274320"/>
          </a:xfrm>
          <a:prstGeom prst="rect">
            <a:avLst/>
          </a:prstGeom>
          <a:noFill/>
          <a:ln/>
        </p:spPr>
        <p:txBody>
          <a:bodyPr wrap="square" lIns="0" tIns="0" rIns="0" bIns="0" rtlCol="0" anchor="t"/>
          <a:lstStyle/>
          <a:p>
            <a:pPr indent="0" marL="0">
              <a:buNone/>
            </a:pPr>
            <a:r>
              <a:rPr lang="en-US" sz="1050" spc="300" kern="0" dirty="0">
                <a:solidFill>
                  <a:srgbClr val="82601A"/>
                </a:solidFill>
                <a:latin typeface="Segoe UI Semibold" pitchFamily="34" charset="0"/>
                <a:ea typeface="Segoe UI Semibold" pitchFamily="34" charset="-122"/>
                <a:cs typeface="Segoe UI Semibold" pitchFamily="34" charset="-120"/>
              </a:rPr>
              <a:t>HOW IT WORKS</a:t>
            </a:r>
            <a:endParaRPr lang="en-US" sz="1050" dirty="0"/>
          </a:p>
        </p:txBody>
      </p:sp>
      <p:sp>
        <p:nvSpPr>
          <p:cNvPr id="3" name="Text 0"/>
          <p:cNvSpPr/>
          <p:nvPr>
            <p:ph idx="101" type="title" hasCustomPrompt="1"/>
          </p:nvPr>
        </p:nvSpPr>
        <p:spPr>
          <a:xfrm>
            <a:off x="731520" y="749808"/>
            <a:ext cx="10728655" cy="731520"/>
          </a:xfrm>
          <a:prstGeom prst="rect">
            <a:avLst/>
          </a:prstGeom>
          <a:noFill/>
          <a:ln/>
        </p:spPr>
        <p:txBody>
          <a:bodyPr wrap="square" lIns="0" tIns="0" rIns="0" bIns="0" rtlCol="0" anchor="t"/>
          <a:lstStyle/>
          <a:p>
            <a:pPr algn="l" indent="0" marL="0">
              <a:buNone/>
            </a:pPr>
            <a:r>
              <a:rPr lang="en-US" sz="2800" dirty="0">
                <a:solidFill>
                  <a:schemeClr val="tx1"/>
                </a:solidFill>
                <a:latin typeface="Georgia" pitchFamily="34" charset="0"/>
                <a:ea typeface="Georgia" pitchFamily="34" charset="-122"/>
                <a:cs typeface="Georgia" pitchFamily="34" charset="-120"/>
              </a:rPr>
              <a:t>No server: all the AI runs in the browser</a:t>
            </a:r>
            <a:endParaRPr lang="en-US" sz="2800" dirty="0"/>
          </a:p>
        </p:txBody>
      </p:sp>
      <p:sp>
        <p:nvSpPr>
          <p:cNvPr id="4" name="ligne-pipeline"/>
          <p:cNvSpPr/>
          <p:nvPr/>
        </p:nvSpPr>
        <p:spPr>
          <a:xfrm>
            <a:off x="1804386" y="2377440"/>
            <a:ext cx="8582924" cy="0"/>
          </a:xfrm>
          <a:prstGeom prst="line">
            <a:avLst/>
          </a:prstGeom>
          <a:noFill/>
          <a:ln w="15875">
            <a:solidFill>
              <a:srgbClr val="B9AC97"/>
            </a:solidFill>
            <a:prstDash val="solid"/>
          </a:ln>
        </p:spPr>
      </p:sp>
      <p:sp>
        <p:nvSpPr>
          <p:cNvPr id="5" name="station-0"/>
          <p:cNvSpPr/>
          <p:nvPr/>
        </p:nvSpPr>
        <p:spPr>
          <a:xfrm>
            <a:off x="1703802" y="2276856"/>
            <a:ext cx="201168" cy="201168"/>
          </a:xfrm>
          <a:prstGeom prst="ellipse">
            <a:avLst/>
          </a:prstGeom>
          <a:solidFill>
            <a:srgbClr val="8F4A8C"/>
          </a:solidFill>
          <a:ln w="25400">
            <a:solidFill>
              <a:srgbClr val="F5EFE6"/>
            </a:solidFill>
            <a:prstDash val="solid"/>
          </a:ln>
        </p:spPr>
      </p:sp>
      <p:sp>
        <p:nvSpPr>
          <p:cNvPr id="6" name="Text 4"/>
          <p:cNvSpPr txBox="1"/>
          <p:nvPr/>
        </p:nvSpPr>
        <p:spPr>
          <a:xfrm>
            <a:off x="731520" y="1810512"/>
            <a:ext cx="2145731" cy="320040"/>
          </a:xfrm>
          <a:prstGeom prst="rect">
            <a:avLst/>
          </a:prstGeom>
          <a:noFill/>
          <a:ln/>
        </p:spPr>
        <p:txBody>
          <a:bodyPr wrap="square" lIns="0" tIns="0" rIns="0" bIns="0" rtlCol="0" anchor="t"/>
          <a:lstStyle/>
          <a:p>
            <a:pPr algn="ctr" indent="0" marL="0">
              <a:buNone/>
            </a:pPr>
            <a:r>
              <a:rPr lang="en-US" sz="1500" dirty="0">
                <a:solidFill>
                  <a:schemeClr val="tx1"/>
                </a:solidFill>
                <a:latin typeface="Segoe UI Semibold" pitchFamily="34" charset="0"/>
                <a:ea typeface="Segoe UI Semibold" pitchFamily="34" charset="-122"/>
                <a:cs typeface="Segoe UI Semibold" pitchFamily="34" charset="-120"/>
              </a:rPr>
              <a:t>Camera</a:t>
            </a:r>
            <a:endParaRPr lang="en-US" sz="1500" dirty="0"/>
          </a:p>
        </p:txBody>
      </p:sp>
      <p:sp>
        <p:nvSpPr>
          <p:cNvPr id="7" name="Text 5"/>
          <p:cNvSpPr txBox="1"/>
          <p:nvPr/>
        </p:nvSpPr>
        <p:spPr>
          <a:xfrm>
            <a:off x="822960" y="2606040"/>
            <a:ext cx="1962851" cy="502920"/>
          </a:xfrm>
          <a:prstGeom prst="rect">
            <a:avLst/>
          </a:prstGeom>
          <a:noFill/>
          <a:ln/>
        </p:spPr>
        <p:txBody>
          <a:bodyPr wrap="square" lIns="0" tIns="0" rIns="0" bIns="0" rtlCol="0" anchor="t"/>
          <a:lstStyle/>
          <a:p>
            <a:pPr algn="ctr" indent="0" marL="0">
              <a:buNone/>
            </a:pPr>
            <a:r>
              <a:rPr lang="en-US" sz="1250" dirty="0">
                <a:solidFill>
                  <a:schemeClr val="accent4"/>
                </a:solidFill>
                <a:latin typeface="Segoe UI" pitchFamily="34" charset="0"/>
                <a:ea typeface="Segoe UI" pitchFamily="34" charset="-122"/>
                <a:cs typeface="Segoe UI" pitchFamily="34" charset="-120"/>
              </a:rPr>
              <a:t>1 frame in 3 analyzed</a:t>
            </a:r>
            <a:endParaRPr lang="en-US" sz="1250" dirty="0"/>
          </a:p>
        </p:txBody>
      </p:sp>
      <p:sp>
        <p:nvSpPr>
          <p:cNvPr id="8" name="station-1"/>
          <p:cNvSpPr/>
          <p:nvPr/>
        </p:nvSpPr>
        <p:spPr>
          <a:xfrm>
            <a:off x="3849533" y="2276856"/>
            <a:ext cx="201168" cy="201168"/>
          </a:xfrm>
          <a:prstGeom prst="ellipse">
            <a:avLst/>
          </a:prstGeom>
          <a:solidFill>
            <a:srgbClr val="A2761A"/>
          </a:solidFill>
          <a:ln w="25400">
            <a:solidFill>
              <a:srgbClr val="F5EFE6"/>
            </a:solidFill>
            <a:prstDash val="solid"/>
          </a:ln>
        </p:spPr>
      </p:sp>
      <p:sp>
        <p:nvSpPr>
          <p:cNvPr id="9" name="Text 7"/>
          <p:cNvSpPr txBox="1"/>
          <p:nvPr/>
        </p:nvSpPr>
        <p:spPr>
          <a:xfrm>
            <a:off x="2877251" y="1810512"/>
            <a:ext cx="2145731" cy="320040"/>
          </a:xfrm>
          <a:prstGeom prst="rect">
            <a:avLst/>
          </a:prstGeom>
          <a:noFill/>
          <a:ln/>
        </p:spPr>
        <p:txBody>
          <a:bodyPr wrap="square" lIns="0" tIns="0" rIns="0" bIns="0" rtlCol="0" anchor="t"/>
          <a:lstStyle/>
          <a:p>
            <a:pPr algn="ctr" indent="0" marL="0">
              <a:buNone/>
            </a:pPr>
            <a:r>
              <a:rPr lang="en-US" sz="1500" dirty="0">
                <a:solidFill>
                  <a:schemeClr val="tx1"/>
                </a:solidFill>
                <a:latin typeface="Segoe UI Semibold" pitchFamily="34" charset="0"/>
                <a:ea typeface="Segoe UI Semibold" pitchFamily="34" charset="-122"/>
                <a:cs typeface="Segoe UI Semibold" pitchFamily="34" charset="-120"/>
              </a:rPr>
              <a:t>Detection</a:t>
            </a:r>
            <a:endParaRPr lang="en-US" sz="1500" dirty="0"/>
          </a:p>
        </p:txBody>
      </p:sp>
      <p:sp>
        <p:nvSpPr>
          <p:cNvPr id="10" name="Text 8"/>
          <p:cNvSpPr txBox="1"/>
          <p:nvPr/>
        </p:nvSpPr>
        <p:spPr>
          <a:xfrm>
            <a:off x="2968691" y="2606040"/>
            <a:ext cx="1962851" cy="502920"/>
          </a:xfrm>
          <a:prstGeom prst="rect">
            <a:avLst/>
          </a:prstGeom>
          <a:noFill/>
          <a:ln/>
        </p:spPr>
        <p:txBody>
          <a:bodyPr wrap="square" lIns="0" tIns="0" rIns="0" bIns="0" rtlCol="0" anchor="t"/>
          <a:lstStyle/>
          <a:p>
            <a:pPr algn="ctr" indent="0" marL="0">
              <a:buNone/>
            </a:pPr>
            <a:r>
              <a:rPr lang="en-US" sz="1250" dirty="0">
                <a:solidFill>
                  <a:schemeClr val="accent4"/>
                </a:solidFill>
                <a:latin typeface="Segoe UI" pitchFamily="34" charset="0"/>
                <a:ea typeface="Segoe UI" pitchFamily="34" charset="-122"/>
                <a:cs typeface="Segoe UI" pitchFamily="34" charset="-120"/>
              </a:rPr>
              <a:t>SCRFD, 2.4 MB</a:t>
            </a:r>
            <a:endParaRPr lang="en-US" sz="1250" dirty="0"/>
          </a:p>
        </p:txBody>
      </p:sp>
      <p:sp>
        <p:nvSpPr>
          <p:cNvPr id="11" name="station-2"/>
          <p:cNvSpPr/>
          <p:nvPr/>
        </p:nvSpPr>
        <p:spPr>
          <a:xfrm>
            <a:off x="5995264" y="2276856"/>
            <a:ext cx="201168" cy="201168"/>
          </a:xfrm>
          <a:prstGeom prst="ellipse">
            <a:avLst/>
          </a:prstGeom>
          <a:solidFill>
            <a:srgbClr val="2A74A6"/>
          </a:solidFill>
          <a:ln w="25400">
            <a:solidFill>
              <a:srgbClr val="F5EFE6"/>
            </a:solidFill>
            <a:prstDash val="solid"/>
          </a:ln>
        </p:spPr>
      </p:sp>
      <p:sp>
        <p:nvSpPr>
          <p:cNvPr id="12" name="Text 10"/>
          <p:cNvSpPr txBox="1"/>
          <p:nvPr/>
        </p:nvSpPr>
        <p:spPr>
          <a:xfrm>
            <a:off x="5022982" y="1810512"/>
            <a:ext cx="2145731" cy="320040"/>
          </a:xfrm>
          <a:prstGeom prst="rect">
            <a:avLst/>
          </a:prstGeom>
          <a:noFill/>
          <a:ln/>
        </p:spPr>
        <p:txBody>
          <a:bodyPr wrap="square" lIns="0" tIns="0" rIns="0" bIns="0" rtlCol="0" anchor="t"/>
          <a:lstStyle/>
          <a:p>
            <a:pPr algn="ctr" indent="0" marL="0">
              <a:buNone/>
            </a:pPr>
            <a:r>
              <a:rPr lang="en-US" sz="1500" dirty="0">
                <a:solidFill>
                  <a:schemeClr val="tx1"/>
                </a:solidFill>
                <a:latin typeface="Segoe UI Semibold" pitchFamily="34" charset="0"/>
                <a:ea typeface="Segoe UI Semibold" pitchFamily="34" charset="-122"/>
                <a:cs typeface="Segoe UI Semibold" pitchFamily="34" charset="-120"/>
              </a:rPr>
              <a:t>Recognition</a:t>
            </a:r>
            <a:endParaRPr lang="en-US" sz="1500" dirty="0"/>
          </a:p>
        </p:txBody>
      </p:sp>
      <p:sp>
        <p:nvSpPr>
          <p:cNvPr id="13" name="Text 11"/>
          <p:cNvSpPr txBox="1"/>
          <p:nvPr/>
        </p:nvSpPr>
        <p:spPr>
          <a:xfrm>
            <a:off x="5114422" y="2606040"/>
            <a:ext cx="1962851" cy="502920"/>
          </a:xfrm>
          <a:prstGeom prst="rect">
            <a:avLst/>
          </a:prstGeom>
          <a:noFill/>
          <a:ln/>
        </p:spPr>
        <p:txBody>
          <a:bodyPr wrap="square" lIns="0" tIns="0" rIns="0" bIns="0" rtlCol="0" anchor="t"/>
          <a:lstStyle/>
          <a:p>
            <a:pPr algn="ctr" indent="0" marL="0">
              <a:buNone/>
            </a:pPr>
            <a:r>
              <a:rPr lang="en-US" sz="1250" dirty="0">
                <a:solidFill>
                  <a:schemeClr val="accent4"/>
                </a:solidFill>
                <a:latin typeface="Segoe UI" pitchFamily="34" charset="0"/>
                <a:ea typeface="Segoe UI" pitchFamily="34" charset="-122"/>
                <a:cs typeface="Segoe UI" pitchFamily="34" charset="-120"/>
              </a:rPr>
              <a:t>MobileFaceNet, 13 MB</a:t>
            </a:r>
            <a:endParaRPr lang="en-US" sz="1250" dirty="0"/>
          </a:p>
        </p:txBody>
      </p:sp>
      <p:sp>
        <p:nvSpPr>
          <p:cNvPr id="14" name="station-3"/>
          <p:cNvSpPr/>
          <p:nvPr/>
        </p:nvSpPr>
        <p:spPr>
          <a:xfrm>
            <a:off x="8140995" y="2276856"/>
            <a:ext cx="201168" cy="201168"/>
          </a:xfrm>
          <a:prstGeom prst="ellipse">
            <a:avLst/>
          </a:prstGeom>
          <a:solidFill>
            <a:srgbClr val="221C18"/>
          </a:solidFill>
          <a:ln w="25400">
            <a:solidFill>
              <a:srgbClr val="F5EFE6"/>
            </a:solidFill>
            <a:prstDash val="solid"/>
          </a:ln>
        </p:spPr>
      </p:sp>
      <p:sp>
        <p:nvSpPr>
          <p:cNvPr id="15" name="Text 13"/>
          <p:cNvSpPr txBox="1"/>
          <p:nvPr/>
        </p:nvSpPr>
        <p:spPr>
          <a:xfrm>
            <a:off x="7168713" y="1810512"/>
            <a:ext cx="2145731" cy="320040"/>
          </a:xfrm>
          <a:prstGeom prst="rect">
            <a:avLst/>
          </a:prstGeom>
          <a:noFill/>
          <a:ln/>
        </p:spPr>
        <p:txBody>
          <a:bodyPr wrap="square" lIns="0" tIns="0" rIns="0" bIns="0" rtlCol="0" anchor="t"/>
          <a:lstStyle/>
          <a:p>
            <a:pPr algn="ctr" indent="0" marL="0">
              <a:buNone/>
            </a:pPr>
            <a:r>
              <a:rPr lang="en-US" sz="1500" dirty="0">
                <a:solidFill>
                  <a:schemeClr val="tx1"/>
                </a:solidFill>
                <a:latin typeface="Segoe UI Semibold" pitchFamily="34" charset="0"/>
                <a:ea typeface="Segoe UI Semibold" pitchFamily="34" charset="-122"/>
                <a:cs typeface="Segoe UI Semibold" pitchFamily="34" charset="-120"/>
              </a:rPr>
              <a:t>Tracking</a:t>
            </a:r>
            <a:endParaRPr lang="en-US" sz="1500" dirty="0"/>
          </a:p>
        </p:txBody>
      </p:sp>
      <p:sp>
        <p:nvSpPr>
          <p:cNvPr id="16" name="Text 14"/>
          <p:cNvSpPr txBox="1"/>
          <p:nvPr/>
        </p:nvSpPr>
        <p:spPr>
          <a:xfrm>
            <a:off x="7260153" y="2606040"/>
            <a:ext cx="1962851" cy="502920"/>
          </a:xfrm>
          <a:prstGeom prst="rect">
            <a:avLst/>
          </a:prstGeom>
          <a:noFill/>
          <a:ln/>
        </p:spPr>
        <p:txBody>
          <a:bodyPr wrap="square" lIns="0" tIns="0" rIns="0" bIns="0" rtlCol="0" anchor="t"/>
          <a:lstStyle/>
          <a:p>
            <a:pPr algn="ctr" indent="0" marL="0">
              <a:buNone/>
            </a:pPr>
            <a:r>
              <a:rPr lang="en-US" sz="1250" dirty="0">
                <a:solidFill>
                  <a:schemeClr val="accent4"/>
                </a:solidFill>
                <a:latin typeface="Segoe UI" pitchFamily="34" charset="0"/>
                <a:ea typeface="Segoe UI" pitchFamily="34" charset="-122"/>
                <a:cs typeface="Segoe UI" pitchFamily="34" charset="-120"/>
              </a:rPr>
              <a:t>3 of 5 decisions must agree</a:t>
            </a:r>
            <a:endParaRPr lang="en-US" sz="1250" dirty="0"/>
          </a:p>
        </p:txBody>
      </p:sp>
      <p:sp>
        <p:nvSpPr>
          <p:cNvPr id="17" name="station-4"/>
          <p:cNvSpPr/>
          <p:nvPr/>
        </p:nvSpPr>
        <p:spPr>
          <a:xfrm>
            <a:off x="10286726" y="2276856"/>
            <a:ext cx="201168" cy="201168"/>
          </a:xfrm>
          <a:prstGeom prst="ellipse">
            <a:avLst/>
          </a:prstGeom>
          <a:solidFill>
            <a:srgbClr val="221C18"/>
          </a:solidFill>
          <a:ln w="25400">
            <a:solidFill>
              <a:srgbClr val="F5EFE6"/>
            </a:solidFill>
            <a:prstDash val="solid"/>
          </a:ln>
        </p:spPr>
      </p:sp>
      <p:sp>
        <p:nvSpPr>
          <p:cNvPr id="18" name="Text 16"/>
          <p:cNvSpPr txBox="1"/>
          <p:nvPr/>
        </p:nvSpPr>
        <p:spPr>
          <a:xfrm>
            <a:off x="9314444" y="1810512"/>
            <a:ext cx="2145731" cy="320040"/>
          </a:xfrm>
          <a:prstGeom prst="rect">
            <a:avLst/>
          </a:prstGeom>
          <a:noFill/>
          <a:ln/>
        </p:spPr>
        <p:txBody>
          <a:bodyPr wrap="square" lIns="0" tIns="0" rIns="0" bIns="0" rtlCol="0" anchor="t"/>
          <a:lstStyle/>
          <a:p>
            <a:pPr algn="ctr" indent="0" marL="0">
              <a:buNone/>
            </a:pPr>
            <a:r>
              <a:rPr lang="en-US" sz="1500" dirty="0">
                <a:solidFill>
                  <a:schemeClr val="tx1"/>
                </a:solidFill>
                <a:latin typeface="Segoe UI Semibold" pitchFamily="34" charset="0"/>
                <a:ea typeface="Segoe UI Semibold" pitchFamily="34" charset="-122"/>
                <a:cs typeface="Segoe UI Semibold" pitchFamily="34" charset="-120"/>
              </a:rPr>
              <a:t>Client card</a:t>
            </a:r>
            <a:endParaRPr lang="en-US" sz="1500" dirty="0"/>
          </a:p>
        </p:txBody>
      </p:sp>
      <p:sp>
        <p:nvSpPr>
          <p:cNvPr id="19" name="Text 17"/>
          <p:cNvSpPr txBox="1"/>
          <p:nvPr/>
        </p:nvSpPr>
        <p:spPr>
          <a:xfrm>
            <a:off x="9405884" y="2606040"/>
            <a:ext cx="1962851" cy="502920"/>
          </a:xfrm>
          <a:prstGeom prst="rect">
            <a:avLst/>
          </a:prstGeom>
          <a:noFill/>
          <a:ln/>
        </p:spPr>
        <p:txBody>
          <a:bodyPr wrap="square" lIns="0" tIns="0" rIns="0" bIns="0" rtlCol="0" anchor="t"/>
          <a:lstStyle/>
          <a:p>
            <a:pPr algn="ctr" indent="0" marL="0">
              <a:buNone/>
            </a:pPr>
            <a:r>
              <a:rPr lang="en-US" sz="1250" dirty="0">
                <a:solidFill>
                  <a:schemeClr val="accent4"/>
                </a:solidFill>
                <a:latin typeface="Segoe UI" pitchFamily="34" charset="0"/>
                <a:ea typeface="Segoe UI" pitchFamily="34" charset="-122"/>
                <a:cs typeface="Segoe UI" pitchFamily="34" charset="-120"/>
              </a:rPr>
              <a:t>Time-of-day suggestion</a:t>
            </a:r>
            <a:endParaRPr lang="en-US" sz="1250" dirty="0"/>
          </a:p>
        </p:txBody>
      </p:sp>
      <p:sp>
        <p:nvSpPr>
          <p:cNvPr id="20" name="fait-filet-0"/>
          <p:cNvSpPr/>
          <p:nvPr/>
        </p:nvSpPr>
        <p:spPr>
          <a:xfrm>
            <a:off x="731520" y="3429000"/>
            <a:ext cx="3271418" cy="0"/>
          </a:xfrm>
          <a:prstGeom prst="line">
            <a:avLst/>
          </a:prstGeom>
          <a:noFill/>
          <a:ln w="9525">
            <a:solidFill>
              <a:schemeClr val="accent1"/>
            </a:solidFill>
            <a:prstDash val="solid"/>
          </a:ln>
        </p:spPr>
      </p:sp>
      <p:sp>
        <p:nvSpPr>
          <p:cNvPr id="21" name="Text 19"/>
          <p:cNvSpPr txBox="1"/>
          <p:nvPr/>
        </p:nvSpPr>
        <p:spPr>
          <a:xfrm>
            <a:off x="731520" y="3566160"/>
            <a:ext cx="3271418" cy="731520"/>
          </a:xfrm>
          <a:prstGeom prst="rect">
            <a:avLst/>
          </a:prstGeom>
          <a:noFill/>
          <a:ln/>
        </p:spPr>
        <p:txBody>
          <a:bodyPr wrap="square" lIns="0" tIns="0" rIns="0" bIns="0" rtlCol="0" anchor="b"/>
          <a:lstStyle/>
          <a:p>
            <a:pPr indent="0" marL="0">
              <a:buNone/>
            </a:pPr>
            <a:r>
              <a:rPr lang="en-US" sz="4400" dirty="0">
                <a:solidFill>
                  <a:schemeClr val="tx1"/>
                </a:solidFill>
                <a:latin typeface="Bodoni MT" pitchFamily="34" charset="0"/>
                <a:ea typeface="Bodoni MT" pitchFamily="34" charset="-122"/>
                <a:cs typeface="Bodoni MT" pitchFamily="34" charset="-120"/>
              </a:rPr>
              <a:t>0</a:t>
            </a:r>
            <a:pPr indent="0" marL="0">
              <a:buNone/>
            </a:pPr>
            <a:r>
              <a:rPr lang="en-US" sz="1400" dirty="0">
                <a:solidFill>
                  <a:schemeClr val="tx1"/>
                </a:solidFill>
                <a:latin typeface="Segoe UI Semibold" pitchFamily="34" charset="0"/>
                <a:ea typeface="Segoe UI Semibold" pitchFamily="34" charset="-122"/>
                <a:cs typeface="Segoe UI Semibold" pitchFamily="34" charset="-120"/>
              </a:rPr>
              <a:t>  images leave the device</a:t>
            </a:r>
            <a:endParaRPr lang="en-US" sz="4400" dirty="0"/>
          </a:p>
        </p:txBody>
      </p:sp>
      <p:sp>
        <p:nvSpPr>
          <p:cNvPr id="22" name="Text 20"/>
          <p:cNvSpPr txBox="1"/>
          <p:nvPr/>
        </p:nvSpPr>
        <p:spPr>
          <a:xfrm>
            <a:off x="731520" y="4389120"/>
            <a:ext cx="3271418" cy="685800"/>
          </a:xfrm>
          <a:prstGeom prst="rect">
            <a:avLst/>
          </a:prstGeom>
          <a:noFill/>
          <a:ln/>
        </p:spPr>
        <p:txBody>
          <a:bodyPr wrap="square" lIns="0" tIns="0" rIns="0" bIns="0" rtlCol="0" anchor="t"/>
          <a:lstStyle/>
          <a:p>
            <a:pPr indent="0" marL="0">
              <a:buNone/>
            </a:pPr>
            <a:r>
              <a:rPr lang="en-US" sz="1300" dirty="0">
                <a:solidFill>
                  <a:schemeClr val="accent4"/>
                </a:solidFill>
                <a:latin typeface="Segoe UI" pitchFamily="34" charset="0"/>
                <a:ea typeface="Segoe UI" pitchFamily="34" charset="-122"/>
                <a:cs typeface="Segoe UI" pitchFamily="34" charset="-120"/>
              </a:rPr>
              <a:t>Unknown faces are processed in memory and never stored.</a:t>
            </a:r>
            <a:endParaRPr lang="en-US" sz="1300" dirty="0"/>
          </a:p>
        </p:txBody>
      </p:sp>
      <p:sp>
        <p:nvSpPr>
          <p:cNvPr id="23" name="fait-filet-1"/>
          <p:cNvSpPr/>
          <p:nvPr/>
        </p:nvSpPr>
        <p:spPr>
          <a:xfrm>
            <a:off x="4460138" y="3429000"/>
            <a:ext cx="3271418" cy="0"/>
          </a:xfrm>
          <a:prstGeom prst="line">
            <a:avLst/>
          </a:prstGeom>
          <a:noFill/>
          <a:ln w="9525">
            <a:solidFill>
              <a:schemeClr val="accent1"/>
            </a:solidFill>
            <a:prstDash val="solid"/>
          </a:ln>
        </p:spPr>
      </p:sp>
      <p:sp>
        <p:nvSpPr>
          <p:cNvPr id="24" name="Text 22"/>
          <p:cNvSpPr txBox="1"/>
          <p:nvPr/>
        </p:nvSpPr>
        <p:spPr>
          <a:xfrm>
            <a:off x="4460138" y="3566160"/>
            <a:ext cx="3271418" cy="731520"/>
          </a:xfrm>
          <a:prstGeom prst="rect">
            <a:avLst/>
          </a:prstGeom>
          <a:noFill/>
          <a:ln/>
        </p:spPr>
        <p:txBody>
          <a:bodyPr wrap="square" lIns="0" tIns="0" rIns="0" bIns="0" rtlCol="0" anchor="b"/>
          <a:lstStyle/>
          <a:p>
            <a:pPr indent="0" marL="0">
              <a:buNone/>
            </a:pPr>
            <a:r>
              <a:rPr lang="en-US" sz="4400" dirty="0">
                <a:solidFill>
                  <a:schemeClr val="tx1"/>
                </a:solidFill>
                <a:latin typeface="Bodoni MT" pitchFamily="34" charset="0"/>
                <a:ea typeface="Bodoni MT" pitchFamily="34" charset="-122"/>
                <a:cs typeface="Bodoni MT" pitchFamily="34" charset="-120"/>
              </a:rPr>
              <a:t>15.4</a:t>
            </a:r>
            <a:pPr indent="0" marL="0">
              <a:buNone/>
            </a:pPr>
            <a:r>
              <a:rPr lang="en-US" sz="1400" dirty="0">
                <a:solidFill>
                  <a:schemeClr val="tx1"/>
                </a:solidFill>
                <a:latin typeface="Segoe UI Semibold" pitchFamily="34" charset="0"/>
                <a:ea typeface="Segoe UI Semibold" pitchFamily="34" charset="-122"/>
                <a:cs typeface="Segoe UI Semibold" pitchFamily="34" charset="-120"/>
              </a:rPr>
              <a:t>  MB of models</a:t>
            </a:r>
            <a:endParaRPr lang="en-US" sz="4400" dirty="0"/>
          </a:p>
        </p:txBody>
      </p:sp>
      <p:sp>
        <p:nvSpPr>
          <p:cNvPr id="25" name="Text 23"/>
          <p:cNvSpPr txBox="1"/>
          <p:nvPr/>
        </p:nvSpPr>
        <p:spPr>
          <a:xfrm>
            <a:off x="4460138" y="4389120"/>
            <a:ext cx="3271418" cy="685800"/>
          </a:xfrm>
          <a:prstGeom prst="rect">
            <a:avLst/>
          </a:prstGeom>
          <a:noFill/>
          <a:ln/>
        </p:spPr>
        <p:txBody>
          <a:bodyPr wrap="square" lIns="0" tIns="0" rIns="0" bIns="0" rtlCol="0" anchor="t"/>
          <a:lstStyle/>
          <a:p>
            <a:pPr indent="0" marL="0">
              <a:buNone/>
            </a:pPr>
            <a:r>
              <a:rPr lang="en-US" sz="1300" dirty="0">
                <a:solidFill>
                  <a:schemeClr val="accent4"/>
                </a:solidFill>
                <a:latin typeface="Segoe UI" pitchFamily="34" charset="0"/>
                <a:ea typeface="Segoe UI" pitchFamily="34" charset="-122"/>
                <a:cs typeface="Segoe UI" pitchFamily="34" charset="-120"/>
              </a:rPr>
              <a:t>Downloaded once, then cached. ONNX Runtime Web, on WebGPU or WebAssembly.</a:t>
            </a:r>
            <a:endParaRPr lang="en-US" sz="1300" dirty="0"/>
          </a:p>
        </p:txBody>
      </p:sp>
      <p:sp>
        <p:nvSpPr>
          <p:cNvPr id="26" name="fait-filet-2"/>
          <p:cNvSpPr/>
          <p:nvPr/>
        </p:nvSpPr>
        <p:spPr>
          <a:xfrm>
            <a:off x="8188757" y="3429000"/>
            <a:ext cx="3271418" cy="0"/>
          </a:xfrm>
          <a:prstGeom prst="line">
            <a:avLst/>
          </a:prstGeom>
          <a:noFill/>
          <a:ln w="9525">
            <a:solidFill>
              <a:schemeClr val="accent1"/>
            </a:solidFill>
            <a:prstDash val="solid"/>
          </a:ln>
        </p:spPr>
      </p:sp>
      <p:sp>
        <p:nvSpPr>
          <p:cNvPr id="27" name="Text 25"/>
          <p:cNvSpPr txBox="1"/>
          <p:nvPr/>
        </p:nvSpPr>
        <p:spPr>
          <a:xfrm>
            <a:off x="8188757" y="3566160"/>
            <a:ext cx="3271418" cy="731520"/>
          </a:xfrm>
          <a:prstGeom prst="rect">
            <a:avLst/>
          </a:prstGeom>
          <a:noFill/>
          <a:ln/>
        </p:spPr>
        <p:txBody>
          <a:bodyPr wrap="square" lIns="0" tIns="0" rIns="0" bIns="0" rtlCol="0" anchor="b"/>
          <a:lstStyle/>
          <a:p>
            <a:pPr indent="0" marL="0">
              <a:buNone/>
            </a:pPr>
            <a:r>
              <a:rPr lang="en-US" sz="4400" dirty="0">
                <a:solidFill>
                  <a:schemeClr val="tx1"/>
                </a:solidFill>
                <a:latin typeface="Bodoni MT" pitchFamily="34" charset="0"/>
                <a:ea typeface="Bodoni MT" pitchFamily="34" charset="-122"/>
                <a:cs typeface="Bodoni MT" pitchFamily="34" charset="-120"/>
              </a:rPr>
              <a:t>512</a:t>
            </a:r>
            <a:pPr indent="0" marL="0">
              <a:buNone/>
            </a:pPr>
            <a:r>
              <a:rPr lang="en-US" sz="1400" dirty="0">
                <a:solidFill>
                  <a:schemeClr val="tx1"/>
                </a:solidFill>
                <a:latin typeface="Segoe UI Semibold" pitchFamily="34" charset="0"/>
                <a:ea typeface="Segoe UI Semibold" pitchFamily="34" charset="-122"/>
                <a:cs typeface="Segoe UI Semibold" pitchFamily="34" charset="-120"/>
              </a:rPr>
              <a:t>  numbers per client</a:t>
            </a:r>
            <a:endParaRPr lang="en-US" sz="4400" dirty="0"/>
          </a:p>
        </p:txBody>
      </p:sp>
      <p:sp>
        <p:nvSpPr>
          <p:cNvPr id="28" name="Text 26"/>
          <p:cNvSpPr txBox="1"/>
          <p:nvPr/>
        </p:nvSpPr>
        <p:spPr>
          <a:xfrm>
            <a:off x="8188757" y="4389120"/>
            <a:ext cx="3271418" cy="685800"/>
          </a:xfrm>
          <a:prstGeom prst="rect">
            <a:avLst/>
          </a:prstGeom>
          <a:noFill/>
          <a:ln/>
        </p:spPr>
        <p:txBody>
          <a:bodyPr wrap="square" lIns="0" tIns="0" rIns="0" bIns="0" rtlCol="0" anchor="t"/>
          <a:lstStyle/>
          <a:p>
            <a:pPr indent="0" marL="0">
              <a:buNone/>
            </a:pPr>
            <a:r>
              <a:rPr lang="en-US" sz="1300" dirty="0">
                <a:solidFill>
                  <a:schemeClr val="accent4"/>
                </a:solidFill>
                <a:latin typeface="Segoe UI" pitchFamily="34" charset="0"/>
                <a:ea typeface="Segoe UI" pitchFamily="34" charset="-122"/>
                <a:cs typeface="Segoe UI" pitchFamily="34" charset="-120"/>
              </a:rPr>
              <a:t>The only biometric data kept, after typed consent. No photo is stored.</a:t>
            </a:r>
            <a:endParaRPr lang="en-US" sz="1300" dirty="0"/>
          </a:p>
        </p:txBody>
      </p:sp>
      <p:sp>
        <p:nvSpPr>
          <p:cNvPr id="29" name="Text 27"/>
          <p:cNvSpPr txBox="1"/>
          <p:nvPr/>
        </p:nvSpPr>
        <p:spPr>
          <a:xfrm>
            <a:off x="731520" y="5532120"/>
            <a:ext cx="10728655" cy="502920"/>
          </a:xfrm>
          <a:prstGeom prst="rect">
            <a:avLst/>
          </a:prstGeom>
          <a:noFill/>
          <a:ln/>
        </p:spPr>
        <p:txBody>
          <a:bodyPr wrap="square" lIns="0" tIns="0" rIns="0" bIns="0" rtlCol="0" anchor="t"/>
          <a:lstStyle/>
          <a:p>
            <a:pPr indent="0" marL="0">
              <a:buNone/>
            </a:pPr>
            <a:r>
              <a:rPr lang="en-US" sz="1350" i="1" dirty="0">
                <a:solidFill>
                  <a:schemeClr val="accent4"/>
                </a:solidFill>
                <a:latin typeface="Georgia" pitchFamily="34" charset="0"/>
                <a:ea typeface="Georgia" pitchFamily="34" charset="-122"/>
                <a:cs typeface="Georgia" pitchFamily="34" charset="-120"/>
              </a:rPr>
              <a:t>Same models as our first Python version (InsightFace buffalo_s), ported to JavaScript and checked against it: faces within 0.17 px, signatures at 0.9985 similarity.</a:t>
            </a:r>
            <a:endParaRPr lang="en-US" sz="1350" dirty="0"/>
          </a:p>
        </p:txBody>
      </p:sp>
      <p:sp>
        <p:nvSpPr>
          <p:cNvPr id="25" name="Slide Number Placeholder 0"/>
          <p:cNvSpPr>
            <a:spLocks noGrp="1"/>
          </p:cNvSpPr>
          <p:nvPr>
            <p:ph type="sldNum" sz="quarter" idx="4294967295"/>
          </p:nvPr>
        </p:nvSpPr>
        <p:spPr>
          <a:xfrm>
            <a:off x="10911535" y="6400800"/>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6E645B"/>
                </a:solidFill>
                <a:latin typeface="Segoe UI Semibold"/>
                <a:ea typeface="Segoe UI Semibold"/>
                <a:cs typeface="Segoe UI Semibold"/>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31520" y="457200"/>
            <a:ext cx="8229600" cy="274320"/>
          </a:xfrm>
          <a:prstGeom prst="rect">
            <a:avLst/>
          </a:prstGeom>
          <a:noFill/>
          <a:ln/>
        </p:spPr>
        <p:txBody>
          <a:bodyPr wrap="square" lIns="0" tIns="0" rIns="0" bIns="0" rtlCol="0" anchor="t"/>
          <a:lstStyle/>
          <a:p>
            <a:pPr indent="0" marL="0">
              <a:buNone/>
            </a:pPr>
            <a:r>
              <a:rPr lang="en-US" sz="1050" spc="300" kern="0" dirty="0">
                <a:solidFill>
                  <a:srgbClr val="D2B57A"/>
                </a:solidFill>
                <a:latin typeface="Segoe UI Semibold" pitchFamily="34" charset="0"/>
                <a:ea typeface="Segoe UI Semibold" pitchFamily="34" charset="-122"/>
                <a:cs typeface="Segoe UI Semibold" pitchFamily="34" charset="-120"/>
              </a:rPr>
              <a:t>RESULTS</a:t>
            </a:r>
            <a:endParaRPr lang="en-US" sz="1050" dirty="0"/>
          </a:p>
        </p:txBody>
      </p:sp>
      <p:sp>
        <p:nvSpPr>
          <p:cNvPr id="3" name="Text 0"/>
          <p:cNvSpPr/>
          <p:nvPr>
            <p:ph idx="101" type="title" hasCustomPrompt="1"/>
          </p:nvPr>
        </p:nvSpPr>
        <p:spPr>
          <a:xfrm>
            <a:off x="731520" y="749808"/>
            <a:ext cx="10728655" cy="731520"/>
          </a:xfrm>
          <a:prstGeom prst="rect">
            <a:avLst/>
          </a:prstGeom>
          <a:noFill/>
          <a:ln/>
        </p:spPr>
        <p:txBody>
          <a:bodyPr wrap="square" lIns="0" tIns="0" rIns="0" bIns="0" rtlCol="0" anchor="t"/>
          <a:lstStyle/>
          <a:p>
            <a:pPr algn="l" indent="0" marL="0">
              <a:buNone/>
            </a:pPr>
            <a:r>
              <a:rPr lang="en-US" sz="2800" dirty="0">
                <a:solidFill>
                  <a:srgbClr val="F5EFE6"/>
                </a:solidFill>
                <a:latin typeface="Georgia" pitchFamily="34" charset="0"/>
                <a:ea typeface="Georgia" pitchFamily="34" charset="-122"/>
                <a:cs typeface="Georgia" pitchFamily="34" charset="-120"/>
              </a:rPr>
              <a:t>The numbers, measured by the app itself</a:t>
            </a:r>
            <a:endParaRPr lang="en-US" sz="2800" dirty="0"/>
          </a:p>
        </p:txBody>
      </p:sp>
      <p:sp>
        <p:nvSpPr>
          <p:cNvPr id="4" name="cadre-chiffre-coin-1"/>
          <p:cNvSpPr/>
          <p:nvPr/>
        </p:nvSpPr>
        <p:spPr>
          <a:xfrm>
            <a:off x="731520" y="2103120"/>
            <a:ext cx="292608" cy="32004"/>
          </a:xfrm>
          <a:prstGeom prst="rect">
            <a:avLst/>
          </a:prstGeom>
          <a:solidFill>
            <a:srgbClr val="2A74A6"/>
          </a:solidFill>
          <a:ln w="12700">
            <a:solidFill>
              <a:srgbClr val="2A74A6"/>
            </a:solidFill>
            <a:prstDash val="solid"/>
          </a:ln>
        </p:spPr>
      </p:sp>
      <p:sp>
        <p:nvSpPr>
          <p:cNvPr id="5" name="cadre-chiffre-coin-2"/>
          <p:cNvSpPr/>
          <p:nvPr/>
        </p:nvSpPr>
        <p:spPr>
          <a:xfrm>
            <a:off x="731520" y="2103120"/>
            <a:ext cx="32004" cy="292608"/>
          </a:xfrm>
          <a:prstGeom prst="rect">
            <a:avLst/>
          </a:prstGeom>
          <a:solidFill>
            <a:srgbClr val="2A74A6"/>
          </a:solidFill>
          <a:ln w="12700">
            <a:solidFill>
              <a:srgbClr val="2A74A6"/>
            </a:solidFill>
            <a:prstDash val="solid"/>
          </a:ln>
        </p:spPr>
      </p:sp>
      <p:sp>
        <p:nvSpPr>
          <p:cNvPr id="6" name="cadre-chiffre-coin-3"/>
          <p:cNvSpPr/>
          <p:nvPr/>
        </p:nvSpPr>
        <p:spPr>
          <a:xfrm>
            <a:off x="5010912" y="2103120"/>
            <a:ext cx="292608" cy="32004"/>
          </a:xfrm>
          <a:prstGeom prst="rect">
            <a:avLst/>
          </a:prstGeom>
          <a:solidFill>
            <a:srgbClr val="2A74A6"/>
          </a:solidFill>
          <a:ln w="12700">
            <a:solidFill>
              <a:srgbClr val="2A74A6"/>
            </a:solidFill>
            <a:prstDash val="solid"/>
          </a:ln>
        </p:spPr>
      </p:sp>
      <p:sp>
        <p:nvSpPr>
          <p:cNvPr id="7" name="cadre-chiffre-coin-4"/>
          <p:cNvSpPr/>
          <p:nvPr/>
        </p:nvSpPr>
        <p:spPr>
          <a:xfrm>
            <a:off x="5271516" y="2103120"/>
            <a:ext cx="32004" cy="292608"/>
          </a:xfrm>
          <a:prstGeom prst="rect">
            <a:avLst/>
          </a:prstGeom>
          <a:solidFill>
            <a:srgbClr val="2A74A6"/>
          </a:solidFill>
          <a:ln w="12700">
            <a:solidFill>
              <a:srgbClr val="2A74A6"/>
            </a:solidFill>
            <a:prstDash val="solid"/>
          </a:ln>
        </p:spPr>
      </p:sp>
      <p:sp>
        <p:nvSpPr>
          <p:cNvPr id="8" name="cadre-chiffre-coin-5"/>
          <p:cNvSpPr/>
          <p:nvPr/>
        </p:nvSpPr>
        <p:spPr>
          <a:xfrm>
            <a:off x="731520" y="3899916"/>
            <a:ext cx="292608" cy="32004"/>
          </a:xfrm>
          <a:prstGeom prst="rect">
            <a:avLst/>
          </a:prstGeom>
          <a:solidFill>
            <a:srgbClr val="2A74A6"/>
          </a:solidFill>
          <a:ln w="12700">
            <a:solidFill>
              <a:srgbClr val="2A74A6"/>
            </a:solidFill>
            <a:prstDash val="solid"/>
          </a:ln>
        </p:spPr>
      </p:sp>
      <p:sp>
        <p:nvSpPr>
          <p:cNvPr id="9" name="cadre-chiffre-coin-6"/>
          <p:cNvSpPr/>
          <p:nvPr/>
        </p:nvSpPr>
        <p:spPr>
          <a:xfrm>
            <a:off x="731520" y="3639312"/>
            <a:ext cx="32004" cy="292608"/>
          </a:xfrm>
          <a:prstGeom prst="rect">
            <a:avLst/>
          </a:prstGeom>
          <a:solidFill>
            <a:srgbClr val="2A74A6"/>
          </a:solidFill>
          <a:ln w="12700">
            <a:solidFill>
              <a:srgbClr val="2A74A6"/>
            </a:solidFill>
            <a:prstDash val="solid"/>
          </a:ln>
        </p:spPr>
      </p:sp>
      <p:sp>
        <p:nvSpPr>
          <p:cNvPr id="10" name="cadre-chiffre-coin-7"/>
          <p:cNvSpPr/>
          <p:nvPr/>
        </p:nvSpPr>
        <p:spPr>
          <a:xfrm>
            <a:off x="5010912" y="3899916"/>
            <a:ext cx="292608" cy="32004"/>
          </a:xfrm>
          <a:prstGeom prst="rect">
            <a:avLst/>
          </a:prstGeom>
          <a:solidFill>
            <a:srgbClr val="2A74A6"/>
          </a:solidFill>
          <a:ln w="12700">
            <a:solidFill>
              <a:srgbClr val="2A74A6"/>
            </a:solidFill>
            <a:prstDash val="solid"/>
          </a:ln>
        </p:spPr>
      </p:sp>
      <p:sp>
        <p:nvSpPr>
          <p:cNvPr id="11" name="cadre-chiffre-coin-8"/>
          <p:cNvSpPr/>
          <p:nvPr/>
        </p:nvSpPr>
        <p:spPr>
          <a:xfrm>
            <a:off x="5271516" y="3639312"/>
            <a:ext cx="32004" cy="292608"/>
          </a:xfrm>
          <a:prstGeom prst="rect">
            <a:avLst/>
          </a:prstGeom>
          <a:solidFill>
            <a:srgbClr val="2A74A6"/>
          </a:solidFill>
          <a:ln w="12700">
            <a:solidFill>
              <a:srgbClr val="2A74A6"/>
            </a:solidFill>
            <a:prstDash val="solid"/>
          </a:ln>
        </p:spPr>
      </p:sp>
      <p:sp>
        <p:nvSpPr>
          <p:cNvPr id="12" name="cadre-chiffre-etiquette-fond"/>
          <p:cNvSpPr/>
          <p:nvPr/>
        </p:nvSpPr>
        <p:spPr>
          <a:xfrm>
            <a:off x="731520" y="1810512"/>
            <a:ext cx="1188720" cy="292608"/>
          </a:xfrm>
          <a:prstGeom prst="rect">
            <a:avLst/>
          </a:prstGeom>
          <a:solidFill>
            <a:srgbClr val="2A74A6"/>
          </a:solidFill>
          <a:ln w="12700">
            <a:solidFill>
              <a:srgbClr val="2A74A6"/>
            </a:solidFill>
            <a:prstDash val="solid"/>
          </a:ln>
        </p:spPr>
      </p:sp>
      <p:sp>
        <p:nvSpPr>
          <p:cNvPr id="13" name="cadre-chiffre-etiquette"/>
          <p:cNvSpPr txBox="1"/>
          <p:nvPr/>
        </p:nvSpPr>
        <p:spPr>
          <a:xfrm>
            <a:off x="731520" y="1810512"/>
            <a:ext cx="1188720" cy="292608"/>
          </a:xfrm>
          <a:prstGeom prst="rect">
            <a:avLst/>
          </a:prstGeom>
          <a:no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Median delay</a:t>
            </a:r>
            <a:endParaRPr lang="en-US" sz="1100" dirty="0"/>
          </a:p>
        </p:txBody>
      </p:sp>
      <p:sp>
        <p:nvSpPr>
          <p:cNvPr id="14" name="chiffre-cle"/>
          <p:cNvSpPr txBox="1"/>
          <p:nvPr/>
        </p:nvSpPr>
        <p:spPr>
          <a:xfrm>
            <a:off x="1005840" y="2240280"/>
            <a:ext cx="4023360" cy="1554480"/>
          </a:xfrm>
          <a:prstGeom prst="rect">
            <a:avLst/>
          </a:prstGeom>
          <a:noFill/>
          <a:ln/>
        </p:spPr>
        <p:txBody>
          <a:bodyPr wrap="square" lIns="0" tIns="0" rIns="0" bIns="0" rtlCol="0" anchor="ctr"/>
          <a:lstStyle/>
          <a:p>
            <a:pPr indent="0" marL="0">
              <a:buNone/>
            </a:pPr>
            <a:r>
              <a:rPr lang="en-US" sz="9600" dirty="0">
                <a:solidFill>
                  <a:srgbClr val="F5EFE6"/>
                </a:solidFill>
                <a:latin typeface="Bodoni MT" pitchFamily="34" charset="0"/>
                <a:ea typeface="Bodoni MT" pitchFamily="34" charset="-122"/>
                <a:cs typeface="Bodoni MT" pitchFamily="34" charset="-120"/>
              </a:rPr>
              <a:t>0.20 s</a:t>
            </a:r>
            <a:endParaRPr lang="en-US" sz="9600" dirty="0"/>
          </a:p>
        </p:txBody>
      </p:sp>
      <p:sp>
        <p:nvSpPr>
          <p:cNvPr id="15" name="Text 13"/>
          <p:cNvSpPr txBox="1"/>
          <p:nvPr/>
        </p:nvSpPr>
        <p:spPr>
          <a:xfrm>
            <a:off x="731520" y="4160520"/>
            <a:ext cx="4572000" cy="731520"/>
          </a:xfrm>
          <a:prstGeom prst="rect">
            <a:avLst/>
          </a:prstGeom>
          <a:noFill/>
          <a:ln/>
        </p:spPr>
        <p:txBody>
          <a:bodyPr wrap="square" lIns="0" tIns="0" rIns="0" bIns="0" rtlCol="0" anchor="t"/>
          <a:lstStyle/>
          <a:p>
            <a:pPr indent="0" marL="0">
              <a:buNone/>
            </a:pPr>
            <a:r>
              <a:rPr lang="en-US" sz="1400" dirty="0">
                <a:solidFill>
                  <a:srgbClr val="B3A797"/>
                </a:solidFill>
                <a:latin typeface="Segoe UI" pitchFamily="34" charset="0"/>
                <a:ea typeface="Segoe UI" pitchFamily="34" charset="-122"/>
                <a:cs typeface="Segoe UI" pitchFamily="34" charset="-120"/>
              </a:rPr>
              <a:t>From a face entering the frame to the client card on screen, on the demo PC. 0.34 s on CPU only.</a:t>
            </a:r>
            <a:endParaRPr lang="en-US" sz="1400" dirty="0"/>
          </a:p>
        </p:txBody>
      </p:sp>
      <p:sp>
        <p:nvSpPr>
          <p:cNvPr id="16" name="Text 14"/>
          <p:cNvSpPr txBox="1"/>
          <p:nvPr/>
        </p:nvSpPr>
        <p:spPr>
          <a:xfrm>
            <a:off x="6035040" y="1801368"/>
            <a:ext cx="3870655" cy="256032"/>
          </a:xfrm>
          <a:prstGeom prst="rect">
            <a:avLst/>
          </a:prstGeom>
          <a:noFill/>
          <a:ln/>
        </p:spPr>
        <p:txBody>
          <a:bodyPr wrap="square" lIns="0" tIns="0" rIns="0" bIns="0" rtlCol="0" anchor="t"/>
          <a:lstStyle/>
          <a:p>
            <a:pPr indent="0" marL="0">
              <a:buNone/>
            </a:pPr>
            <a:r>
              <a:rPr lang="en-US" sz="1400" dirty="0">
                <a:solidFill>
                  <a:srgbClr val="F5EFE6"/>
                </a:solidFill>
                <a:latin typeface="Segoe UI" pitchFamily="34" charset="0"/>
                <a:ea typeface="Segoe UI" pitchFamily="34" charset="-122"/>
                <a:cs typeface="Segoe UI" pitchFamily="34" charset="-120"/>
              </a:rPr>
              <a:t>Time per analysis</a:t>
            </a:r>
            <a:endParaRPr lang="en-US" sz="1400" dirty="0"/>
          </a:p>
        </p:txBody>
      </p:sp>
      <p:sp>
        <p:nvSpPr>
          <p:cNvPr id="17" name="Text 15"/>
          <p:cNvSpPr txBox="1"/>
          <p:nvPr/>
        </p:nvSpPr>
        <p:spPr>
          <a:xfrm>
            <a:off x="6035040" y="2057400"/>
            <a:ext cx="3870655" cy="228600"/>
          </a:xfrm>
          <a:prstGeom prst="rect">
            <a:avLst/>
          </a:prstGeom>
          <a:noFill/>
          <a:ln/>
        </p:spPr>
        <p:txBody>
          <a:bodyPr wrap="square" lIns="0" tIns="0" rIns="0" bIns="0" rtlCol="0" anchor="t"/>
          <a:lstStyle/>
          <a:p>
            <a:pPr indent="0" marL="0">
              <a:buNone/>
            </a:pPr>
            <a:r>
              <a:rPr lang="en-US" sz="1050" dirty="0">
                <a:solidFill>
                  <a:srgbClr val="B3A797"/>
                </a:solidFill>
                <a:latin typeface="Segoe UI" pitchFamily="34" charset="0"/>
                <a:ea typeface="Segoe UI" pitchFamily="34" charset="-122"/>
                <a:cs typeface="Segoe UI" pitchFamily="34" charset="-120"/>
              </a:rPr>
              <a:t>132 ms on CPU only</a:t>
            </a:r>
            <a:endParaRPr lang="en-US" sz="1050" dirty="0"/>
          </a:p>
        </p:txBody>
      </p:sp>
      <p:sp>
        <p:nvSpPr>
          <p:cNvPr id="18" name="Text 16"/>
          <p:cNvSpPr txBox="1"/>
          <p:nvPr/>
        </p:nvSpPr>
        <p:spPr>
          <a:xfrm>
            <a:off x="9905695" y="1783080"/>
            <a:ext cx="1554480" cy="475488"/>
          </a:xfrm>
          <a:prstGeom prst="rect">
            <a:avLst/>
          </a:prstGeom>
          <a:noFill/>
          <a:ln/>
        </p:spPr>
        <p:txBody>
          <a:bodyPr wrap="square" lIns="0" tIns="0" rIns="0" bIns="0" rtlCol="0" anchor="ctr"/>
          <a:lstStyle/>
          <a:p>
            <a:pPr algn="r" indent="0" marL="0">
              <a:buNone/>
            </a:pPr>
            <a:r>
              <a:rPr lang="en-US" sz="2600" dirty="0">
                <a:solidFill>
                  <a:srgbClr val="D2B57A"/>
                </a:solidFill>
                <a:latin typeface="Bodoni MT" pitchFamily="34" charset="0"/>
                <a:ea typeface="Bodoni MT" pitchFamily="34" charset="-122"/>
                <a:cs typeface="Bodoni MT" pitchFamily="34" charset="-120"/>
              </a:rPr>
              <a:t>108 ms</a:t>
            </a:r>
            <a:endParaRPr lang="en-US" sz="2600" dirty="0"/>
          </a:p>
        </p:txBody>
      </p:sp>
      <p:sp>
        <p:nvSpPr>
          <p:cNvPr id="19" name="registre-filet-1"/>
          <p:cNvSpPr/>
          <p:nvPr/>
        </p:nvSpPr>
        <p:spPr>
          <a:xfrm>
            <a:off x="6035040" y="2322576"/>
            <a:ext cx="5425135" cy="0"/>
          </a:xfrm>
          <a:prstGeom prst="line">
            <a:avLst/>
          </a:prstGeom>
          <a:noFill/>
          <a:ln w="9525">
            <a:solidFill>
              <a:srgbClr val="3D342D"/>
            </a:solidFill>
            <a:prstDash val="solid"/>
          </a:ln>
        </p:spPr>
      </p:sp>
      <p:sp>
        <p:nvSpPr>
          <p:cNvPr id="20" name="Text 18"/>
          <p:cNvSpPr txBox="1"/>
          <p:nvPr/>
        </p:nvSpPr>
        <p:spPr>
          <a:xfrm>
            <a:off x="6035040" y="2386584"/>
            <a:ext cx="3870655" cy="256032"/>
          </a:xfrm>
          <a:prstGeom prst="rect">
            <a:avLst/>
          </a:prstGeom>
          <a:noFill/>
          <a:ln/>
        </p:spPr>
        <p:txBody>
          <a:bodyPr wrap="square" lIns="0" tIns="0" rIns="0" bIns="0" rtlCol="0" anchor="t"/>
          <a:lstStyle/>
          <a:p>
            <a:pPr indent="0" marL="0">
              <a:buNone/>
            </a:pPr>
            <a:r>
              <a:rPr lang="en-US" sz="1400" dirty="0">
                <a:solidFill>
                  <a:srgbClr val="F5EFE6"/>
                </a:solidFill>
                <a:latin typeface="Segoe UI" pitchFamily="34" charset="0"/>
                <a:ea typeface="Segoe UI" pitchFamily="34" charset="-122"/>
                <a:cs typeface="Segoe UI" pitchFamily="34" charset="-120"/>
              </a:rPr>
              <a:t>Display rate</a:t>
            </a:r>
            <a:endParaRPr lang="en-US" sz="1400" dirty="0"/>
          </a:p>
        </p:txBody>
      </p:sp>
      <p:sp>
        <p:nvSpPr>
          <p:cNvPr id="21" name="Text 19"/>
          <p:cNvSpPr txBox="1"/>
          <p:nvPr/>
        </p:nvSpPr>
        <p:spPr>
          <a:xfrm>
            <a:off x="6035040" y="2642616"/>
            <a:ext cx="3870655" cy="228600"/>
          </a:xfrm>
          <a:prstGeom prst="rect">
            <a:avLst/>
          </a:prstGeom>
          <a:noFill/>
          <a:ln/>
        </p:spPr>
        <p:txBody>
          <a:bodyPr wrap="square" lIns="0" tIns="0" rIns="0" bIns="0" rtlCol="0" anchor="t"/>
          <a:lstStyle/>
          <a:p>
            <a:pPr indent="0" marL="0">
              <a:buNone/>
            </a:pPr>
            <a:r>
              <a:rPr lang="en-US" sz="1050" dirty="0">
                <a:solidFill>
                  <a:srgbClr val="B3A797"/>
                </a:solidFill>
                <a:latin typeface="Segoe UI" pitchFamily="34" charset="0"/>
                <a:ea typeface="Segoe UI" pitchFamily="34" charset="-122"/>
                <a:cs typeface="Segoe UI" pitchFamily="34" charset="-120"/>
              </a:rPr>
              <a:t>8.1 analyses per second</a:t>
            </a:r>
            <a:endParaRPr lang="en-US" sz="1050" dirty="0"/>
          </a:p>
        </p:txBody>
      </p:sp>
      <p:sp>
        <p:nvSpPr>
          <p:cNvPr id="22" name="Text 20"/>
          <p:cNvSpPr txBox="1"/>
          <p:nvPr/>
        </p:nvSpPr>
        <p:spPr>
          <a:xfrm>
            <a:off x="9905695" y="2368296"/>
            <a:ext cx="1554480" cy="475488"/>
          </a:xfrm>
          <a:prstGeom prst="rect">
            <a:avLst/>
          </a:prstGeom>
          <a:noFill/>
          <a:ln/>
        </p:spPr>
        <p:txBody>
          <a:bodyPr wrap="square" lIns="0" tIns="0" rIns="0" bIns="0" rtlCol="0" anchor="ctr"/>
          <a:lstStyle/>
          <a:p>
            <a:pPr algn="r" indent="0" marL="0">
              <a:buNone/>
            </a:pPr>
            <a:r>
              <a:rPr lang="en-US" sz="2600" dirty="0">
                <a:solidFill>
                  <a:srgbClr val="D2B57A"/>
                </a:solidFill>
                <a:latin typeface="Bodoni MT" pitchFamily="34" charset="0"/>
                <a:ea typeface="Bodoni MT" pitchFamily="34" charset="-122"/>
                <a:cs typeface="Bodoni MT" pitchFamily="34" charset="-120"/>
              </a:rPr>
              <a:t>24 fps</a:t>
            </a:r>
            <a:endParaRPr lang="en-US" sz="2600" dirty="0"/>
          </a:p>
        </p:txBody>
      </p:sp>
      <p:sp>
        <p:nvSpPr>
          <p:cNvPr id="23" name="registre-filet-2"/>
          <p:cNvSpPr/>
          <p:nvPr/>
        </p:nvSpPr>
        <p:spPr>
          <a:xfrm>
            <a:off x="6035040" y="2907792"/>
            <a:ext cx="5425135" cy="0"/>
          </a:xfrm>
          <a:prstGeom prst="line">
            <a:avLst/>
          </a:prstGeom>
          <a:noFill/>
          <a:ln w="9525">
            <a:solidFill>
              <a:srgbClr val="3D342D"/>
            </a:solidFill>
            <a:prstDash val="solid"/>
          </a:ln>
        </p:spPr>
      </p:sp>
      <p:sp>
        <p:nvSpPr>
          <p:cNvPr id="24" name="Text 22"/>
          <p:cNvSpPr txBox="1"/>
          <p:nvPr/>
        </p:nvSpPr>
        <p:spPr>
          <a:xfrm>
            <a:off x="6035040" y="2971800"/>
            <a:ext cx="3870655" cy="256032"/>
          </a:xfrm>
          <a:prstGeom prst="rect">
            <a:avLst/>
          </a:prstGeom>
          <a:noFill/>
          <a:ln/>
        </p:spPr>
        <p:txBody>
          <a:bodyPr wrap="square" lIns="0" tIns="0" rIns="0" bIns="0" rtlCol="0" anchor="t"/>
          <a:lstStyle/>
          <a:p>
            <a:pPr indent="0" marL="0">
              <a:buNone/>
            </a:pPr>
            <a:r>
              <a:rPr lang="en-US" sz="1400" dirty="0">
                <a:solidFill>
                  <a:srgbClr val="F5EFE6"/>
                </a:solidFill>
                <a:latin typeface="Segoe UI" pitchFamily="34" charset="0"/>
                <a:ea typeface="Segoe UI" pitchFamily="34" charset="-122"/>
                <a:cs typeface="Segoe UI" pitchFamily="34" charset="-120"/>
              </a:rPr>
              <a:t>Enrolling a client</a:t>
            </a:r>
            <a:endParaRPr lang="en-US" sz="1400" dirty="0"/>
          </a:p>
        </p:txBody>
      </p:sp>
      <p:sp>
        <p:nvSpPr>
          <p:cNvPr id="25" name="Text 23"/>
          <p:cNvSpPr txBox="1"/>
          <p:nvPr/>
        </p:nvSpPr>
        <p:spPr>
          <a:xfrm>
            <a:off x="6035040" y="3227832"/>
            <a:ext cx="3870655" cy="228600"/>
          </a:xfrm>
          <a:prstGeom prst="rect">
            <a:avLst/>
          </a:prstGeom>
          <a:noFill/>
          <a:ln/>
        </p:spPr>
        <p:txBody>
          <a:bodyPr wrap="square" lIns="0" tIns="0" rIns="0" bIns="0" rtlCol="0" anchor="t"/>
          <a:lstStyle/>
          <a:p>
            <a:pPr indent="0" marL="0">
              <a:buNone/>
            </a:pPr>
            <a:r>
              <a:rPr lang="en-US" sz="1050" dirty="0">
                <a:solidFill>
                  <a:srgbClr val="B3A797"/>
                </a:solidFill>
                <a:latin typeface="Segoe UI" pitchFamily="34" charset="0"/>
                <a:ea typeface="Segoe UI" pitchFamily="34" charset="-122"/>
                <a:cs typeface="Segoe UI" pitchFamily="34" charset="-120"/>
              </a:rPr>
              <a:t>25 valid images across 5 poses</a:t>
            </a:r>
            <a:endParaRPr lang="en-US" sz="1050" dirty="0"/>
          </a:p>
        </p:txBody>
      </p:sp>
      <p:sp>
        <p:nvSpPr>
          <p:cNvPr id="26" name="Text 24"/>
          <p:cNvSpPr txBox="1"/>
          <p:nvPr/>
        </p:nvSpPr>
        <p:spPr>
          <a:xfrm>
            <a:off x="9905695" y="2953512"/>
            <a:ext cx="1554480" cy="475488"/>
          </a:xfrm>
          <a:prstGeom prst="rect">
            <a:avLst/>
          </a:prstGeom>
          <a:noFill/>
          <a:ln/>
        </p:spPr>
        <p:txBody>
          <a:bodyPr wrap="square" lIns="0" tIns="0" rIns="0" bIns="0" rtlCol="0" anchor="ctr"/>
          <a:lstStyle/>
          <a:p>
            <a:pPr algn="r" indent="0" marL="0">
              <a:buNone/>
            </a:pPr>
            <a:r>
              <a:rPr lang="en-US" sz="2600" dirty="0">
                <a:solidFill>
                  <a:srgbClr val="D2B57A"/>
                </a:solidFill>
                <a:latin typeface="Bodoni MT" pitchFamily="34" charset="0"/>
                <a:ea typeface="Bodoni MT" pitchFamily="34" charset="-122"/>
                <a:cs typeface="Bodoni MT" pitchFamily="34" charset="-120"/>
              </a:rPr>
              <a:t>18.7 s</a:t>
            </a:r>
            <a:endParaRPr lang="en-US" sz="2600" dirty="0"/>
          </a:p>
        </p:txBody>
      </p:sp>
      <p:sp>
        <p:nvSpPr>
          <p:cNvPr id="27" name="registre-filet-3"/>
          <p:cNvSpPr/>
          <p:nvPr/>
        </p:nvSpPr>
        <p:spPr>
          <a:xfrm>
            <a:off x="6035040" y="3493008"/>
            <a:ext cx="5425135" cy="0"/>
          </a:xfrm>
          <a:prstGeom prst="line">
            <a:avLst/>
          </a:prstGeom>
          <a:noFill/>
          <a:ln w="9525">
            <a:solidFill>
              <a:srgbClr val="3D342D"/>
            </a:solidFill>
            <a:prstDash val="solid"/>
          </a:ln>
        </p:spPr>
      </p:sp>
      <p:sp>
        <p:nvSpPr>
          <p:cNvPr id="28" name="Text 26"/>
          <p:cNvSpPr txBox="1"/>
          <p:nvPr/>
        </p:nvSpPr>
        <p:spPr>
          <a:xfrm>
            <a:off x="6035040" y="3557016"/>
            <a:ext cx="3870655" cy="256032"/>
          </a:xfrm>
          <a:prstGeom prst="rect">
            <a:avLst/>
          </a:prstGeom>
          <a:noFill/>
          <a:ln/>
        </p:spPr>
        <p:txBody>
          <a:bodyPr wrap="square" lIns="0" tIns="0" rIns="0" bIns="0" rtlCol="0" anchor="t"/>
          <a:lstStyle/>
          <a:p>
            <a:pPr indent="0" marL="0">
              <a:buNone/>
            </a:pPr>
            <a:r>
              <a:rPr lang="en-US" sz="1400" dirty="0">
                <a:solidFill>
                  <a:srgbClr val="F5EFE6"/>
                </a:solidFill>
                <a:latin typeface="Segoe UI" pitchFamily="34" charset="0"/>
                <a:ea typeface="Segoe UI" pitchFamily="34" charset="-122"/>
                <a:cs typeface="Segoe UI" pitchFamily="34" charset="-120"/>
              </a:rPr>
              <a:t>False accepts at threshold 0.35</a:t>
            </a:r>
            <a:endParaRPr lang="en-US" sz="1400" dirty="0"/>
          </a:p>
        </p:txBody>
      </p:sp>
      <p:sp>
        <p:nvSpPr>
          <p:cNvPr id="29" name="Text 27"/>
          <p:cNvSpPr txBox="1"/>
          <p:nvPr/>
        </p:nvSpPr>
        <p:spPr>
          <a:xfrm>
            <a:off x="6035040" y="3813048"/>
            <a:ext cx="3870655" cy="228600"/>
          </a:xfrm>
          <a:prstGeom prst="rect">
            <a:avLst/>
          </a:prstGeom>
          <a:noFill/>
          <a:ln/>
        </p:spPr>
        <p:txBody>
          <a:bodyPr wrap="square" lIns="0" tIns="0" rIns="0" bIns="0" rtlCol="0" anchor="t"/>
          <a:lstStyle/>
          <a:p>
            <a:pPr indent="0" marL="0">
              <a:buNone/>
            </a:pPr>
            <a:r>
              <a:rPr lang="en-US" sz="1050" dirty="0">
                <a:solidFill>
                  <a:srgbClr val="B3A797"/>
                </a:solidFill>
                <a:latin typeface="Segoe UI" pitchFamily="34" charset="0"/>
                <a:ea typeface="Segoe UI" pitchFamily="34" charset="-122"/>
                <a:cs typeface="Segoe UI" pitchFamily="34" charset="-120"/>
              </a:rPr>
              <a:t>6 identities, 7 degraded conditions</a:t>
            </a:r>
            <a:endParaRPr lang="en-US" sz="1050" dirty="0"/>
          </a:p>
        </p:txBody>
      </p:sp>
      <p:sp>
        <p:nvSpPr>
          <p:cNvPr id="30" name="Text 28"/>
          <p:cNvSpPr txBox="1"/>
          <p:nvPr/>
        </p:nvSpPr>
        <p:spPr>
          <a:xfrm>
            <a:off x="9905695" y="3538728"/>
            <a:ext cx="1554480" cy="475488"/>
          </a:xfrm>
          <a:prstGeom prst="rect">
            <a:avLst/>
          </a:prstGeom>
          <a:noFill/>
          <a:ln/>
        </p:spPr>
        <p:txBody>
          <a:bodyPr wrap="square" lIns="0" tIns="0" rIns="0" bIns="0" rtlCol="0" anchor="ctr"/>
          <a:lstStyle/>
          <a:p>
            <a:pPr algn="r" indent="0" marL="0">
              <a:buNone/>
            </a:pPr>
            <a:r>
              <a:rPr lang="en-US" sz="2600" dirty="0">
                <a:solidFill>
                  <a:srgbClr val="D2B57A"/>
                </a:solidFill>
                <a:latin typeface="Bodoni MT" pitchFamily="34" charset="0"/>
                <a:ea typeface="Bodoni MT" pitchFamily="34" charset="-122"/>
                <a:cs typeface="Bodoni MT" pitchFamily="34" charset="-120"/>
              </a:rPr>
              <a:t>0%</a:t>
            </a:r>
            <a:endParaRPr lang="en-US" sz="2600" dirty="0"/>
          </a:p>
        </p:txBody>
      </p:sp>
      <p:sp>
        <p:nvSpPr>
          <p:cNvPr id="31" name="registre-filet-4"/>
          <p:cNvSpPr/>
          <p:nvPr/>
        </p:nvSpPr>
        <p:spPr>
          <a:xfrm>
            <a:off x="6035040" y="4078224"/>
            <a:ext cx="5425135" cy="0"/>
          </a:xfrm>
          <a:prstGeom prst="line">
            <a:avLst/>
          </a:prstGeom>
          <a:noFill/>
          <a:ln w="9525">
            <a:solidFill>
              <a:srgbClr val="3D342D"/>
            </a:solidFill>
            <a:prstDash val="solid"/>
          </a:ln>
        </p:spPr>
      </p:sp>
      <p:sp>
        <p:nvSpPr>
          <p:cNvPr id="32" name="Text 30"/>
          <p:cNvSpPr txBox="1"/>
          <p:nvPr/>
        </p:nvSpPr>
        <p:spPr>
          <a:xfrm>
            <a:off x="6035040" y="4142232"/>
            <a:ext cx="3870655" cy="256032"/>
          </a:xfrm>
          <a:prstGeom prst="rect">
            <a:avLst/>
          </a:prstGeom>
          <a:noFill/>
          <a:ln/>
        </p:spPr>
        <p:txBody>
          <a:bodyPr wrap="square" lIns="0" tIns="0" rIns="0" bIns="0" rtlCol="0" anchor="t"/>
          <a:lstStyle/>
          <a:p>
            <a:pPr indent="0" marL="0">
              <a:buNone/>
            </a:pPr>
            <a:r>
              <a:rPr lang="en-US" sz="1400" dirty="0">
                <a:solidFill>
                  <a:srgbClr val="F5EFE6"/>
                </a:solidFill>
                <a:latin typeface="Segoe UI" pitchFamily="34" charset="0"/>
                <a:ea typeface="Segoe UI" pitchFamily="34" charset="-122"/>
                <a:cs typeface="Segoe UI" pitchFamily="34" charset="-120"/>
              </a:rPr>
              <a:t>Reliable range</a:t>
            </a:r>
            <a:endParaRPr lang="en-US" sz="1400" dirty="0"/>
          </a:p>
        </p:txBody>
      </p:sp>
      <p:sp>
        <p:nvSpPr>
          <p:cNvPr id="33" name="Text 31"/>
          <p:cNvSpPr txBox="1"/>
          <p:nvPr/>
        </p:nvSpPr>
        <p:spPr>
          <a:xfrm>
            <a:off x="6035040" y="4398264"/>
            <a:ext cx="3870655" cy="228600"/>
          </a:xfrm>
          <a:prstGeom prst="rect">
            <a:avLst/>
          </a:prstGeom>
          <a:noFill/>
          <a:ln/>
        </p:spPr>
        <p:txBody>
          <a:bodyPr wrap="square" lIns="0" tIns="0" rIns="0" bIns="0" rtlCol="0" anchor="t"/>
          <a:lstStyle/>
          <a:p>
            <a:pPr indent="0" marL="0">
              <a:buNone/>
            </a:pPr>
            <a:r>
              <a:rPr lang="en-US" sz="1050" dirty="0">
                <a:solidFill>
                  <a:srgbClr val="B3A797"/>
                </a:solidFill>
                <a:latin typeface="Segoe UI" pitchFamily="34" charset="0"/>
                <a:ea typeface="Segoe UI" pitchFamily="34" charset="-122"/>
                <a:cs typeface="Segoe UI" pitchFamily="34" charset="-120"/>
              </a:rPr>
              <a:t>83% still identified at 3.9 m</a:t>
            </a:r>
            <a:endParaRPr lang="en-US" sz="1050" dirty="0"/>
          </a:p>
        </p:txBody>
      </p:sp>
      <p:sp>
        <p:nvSpPr>
          <p:cNvPr id="34" name="Text 32"/>
          <p:cNvSpPr txBox="1"/>
          <p:nvPr/>
        </p:nvSpPr>
        <p:spPr>
          <a:xfrm>
            <a:off x="9905695" y="4123944"/>
            <a:ext cx="1554480" cy="475488"/>
          </a:xfrm>
          <a:prstGeom prst="rect">
            <a:avLst/>
          </a:prstGeom>
          <a:noFill/>
          <a:ln/>
        </p:spPr>
        <p:txBody>
          <a:bodyPr wrap="square" lIns="0" tIns="0" rIns="0" bIns="0" rtlCol="0" anchor="ctr"/>
          <a:lstStyle/>
          <a:p>
            <a:pPr algn="r" indent="0" marL="0">
              <a:buNone/>
            </a:pPr>
            <a:r>
              <a:rPr lang="en-US" sz="2600" dirty="0">
                <a:solidFill>
                  <a:srgbClr val="D2B57A"/>
                </a:solidFill>
                <a:latin typeface="Bodoni MT" pitchFamily="34" charset="0"/>
                <a:ea typeface="Bodoni MT" pitchFamily="34" charset="-122"/>
                <a:cs typeface="Bodoni MT" pitchFamily="34" charset="-120"/>
              </a:rPr>
              <a:t>2.0 m</a:t>
            </a:r>
            <a:endParaRPr lang="en-US" sz="2600" dirty="0"/>
          </a:p>
        </p:txBody>
      </p:sp>
      <p:sp>
        <p:nvSpPr>
          <p:cNvPr id="35" name="registre-filet-5"/>
          <p:cNvSpPr/>
          <p:nvPr/>
        </p:nvSpPr>
        <p:spPr>
          <a:xfrm>
            <a:off x="6035040" y="4663440"/>
            <a:ext cx="5425135" cy="0"/>
          </a:xfrm>
          <a:prstGeom prst="line">
            <a:avLst/>
          </a:prstGeom>
          <a:noFill/>
          <a:ln w="9525">
            <a:solidFill>
              <a:srgbClr val="3D342D"/>
            </a:solidFill>
            <a:prstDash val="solid"/>
          </a:ln>
        </p:spPr>
      </p:sp>
      <p:sp>
        <p:nvSpPr>
          <p:cNvPr id="36" name="Text 34"/>
          <p:cNvSpPr txBox="1"/>
          <p:nvPr/>
        </p:nvSpPr>
        <p:spPr>
          <a:xfrm>
            <a:off x="6035040" y="4727448"/>
            <a:ext cx="3870655" cy="256032"/>
          </a:xfrm>
          <a:prstGeom prst="rect">
            <a:avLst/>
          </a:prstGeom>
          <a:noFill/>
          <a:ln/>
        </p:spPr>
        <p:txBody>
          <a:bodyPr wrap="square" lIns="0" tIns="0" rIns="0" bIns="0" rtlCol="0" anchor="t"/>
          <a:lstStyle/>
          <a:p>
            <a:pPr indent="0" marL="0">
              <a:buNone/>
            </a:pPr>
            <a:r>
              <a:rPr lang="en-US" sz="1400" dirty="0">
                <a:solidFill>
                  <a:srgbClr val="F5EFE6"/>
                </a:solidFill>
                <a:latin typeface="Segoe UI" pitchFamily="34" charset="0"/>
                <a:ea typeface="Segoe UI" pitchFamily="34" charset="-122"/>
                <a:cs typeface="Segoe UI" pitchFamily="34" charset="-120"/>
              </a:rPr>
              <a:t>JavaScript vs Python gap</a:t>
            </a:r>
            <a:endParaRPr lang="en-US" sz="1400" dirty="0"/>
          </a:p>
        </p:txBody>
      </p:sp>
      <p:sp>
        <p:nvSpPr>
          <p:cNvPr id="37" name="Text 35"/>
          <p:cNvSpPr txBox="1"/>
          <p:nvPr/>
        </p:nvSpPr>
        <p:spPr>
          <a:xfrm>
            <a:off x="6035040" y="4983480"/>
            <a:ext cx="3870655" cy="228600"/>
          </a:xfrm>
          <a:prstGeom prst="rect">
            <a:avLst/>
          </a:prstGeom>
          <a:noFill/>
          <a:ln/>
        </p:spPr>
        <p:txBody>
          <a:bodyPr wrap="square" lIns="0" tIns="0" rIns="0" bIns="0" rtlCol="0" anchor="t"/>
          <a:lstStyle/>
          <a:p>
            <a:pPr indent="0" marL="0">
              <a:buNone/>
            </a:pPr>
            <a:r>
              <a:rPr lang="en-US" sz="1050" dirty="0">
                <a:solidFill>
                  <a:srgbClr val="B3A797"/>
                </a:solidFill>
                <a:latin typeface="Segoe UI" pitchFamily="34" charset="0"/>
                <a:ea typeface="Segoe UI" pitchFamily="34" charset="-122"/>
                <a:cs typeface="Segoe UI" pitchFamily="34" charset="-120"/>
              </a:rPr>
              <a:t>0.9985 signature similarity</a:t>
            </a:r>
            <a:endParaRPr lang="en-US" sz="1050" dirty="0"/>
          </a:p>
        </p:txBody>
      </p:sp>
      <p:sp>
        <p:nvSpPr>
          <p:cNvPr id="38" name="Text 36"/>
          <p:cNvSpPr txBox="1"/>
          <p:nvPr/>
        </p:nvSpPr>
        <p:spPr>
          <a:xfrm>
            <a:off x="9905695" y="4709160"/>
            <a:ext cx="1554480" cy="475488"/>
          </a:xfrm>
          <a:prstGeom prst="rect">
            <a:avLst/>
          </a:prstGeom>
          <a:noFill/>
          <a:ln/>
        </p:spPr>
        <p:txBody>
          <a:bodyPr wrap="square" lIns="0" tIns="0" rIns="0" bIns="0" rtlCol="0" anchor="ctr"/>
          <a:lstStyle/>
          <a:p>
            <a:pPr algn="r" indent="0" marL="0">
              <a:buNone/>
            </a:pPr>
            <a:r>
              <a:rPr lang="en-US" sz="2600" dirty="0">
                <a:solidFill>
                  <a:srgbClr val="D2B57A"/>
                </a:solidFill>
                <a:latin typeface="Bodoni MT" pitchFamily="34" charset="0"/>
                <a:ea typeface="Bodoni MT" pitchFamily="34" charset="-122"/>
                <a:cs typeface="Bodoni MT" pitchFamily="34" charset="-120"/>
              </a:rPr>
              <a:t>0.17 px</a:t>
            </a:r>
            <a:endParaRPr lang="en-US" sz="2600" dirty="0"/>
          </a:p>
        </p:txBody>
      </p:sp>
      <p:sp>
        <p:nvSpPr>
          <p:cNvPr id="39" name="registre-filet-6"/>
          <p:cNvSpPr/>
          <p:nvPr/>
        </p:nvSpPr>
        <p:spPr>
          <a:xfrm>
            <a:off x="6035040" y="5248656"/>
            <a:ext cx="5425135" cy="0"/>
          </a:xfrm>
          <a:prstGeom prst="line">
            <a:avLst/>
          </a:prstGeom>
          <a:noFill/>
          <a:ln w="9525">
            <a:solidFill>
              <a:srgbClr val="3D342D"/>
            </a:solidFill>
            <a:prstDash val="solid"/>
          </a:ln>
        </p:spPr>
      </p:sp>
      <p:sp>
        <p:nvSpPr>
          <p:cNvPr id="40" name="Text 38"/>
          <p:cNvSpPr txBox="1"/>
          <p:nvPr/>
        </p:nvSpPr>
        <p:spPr>
          <a:xfrm>
            <a:off x="6035040" y="5312664"/>
            <a:ext cx="3870655" cy="256032"/>
          </a:xfrm>
          <a:prstGeom prst="rect">
            <a:avLst/>
          </a:prstGeom>
          <a:noFill/>
          <a:ln/>
        </p:spPr>
        <p:txBody>
          <a:bodyPr wrap="square" lIns="0" tIns="0" rIns="0" bIns="0" rtlCol="0" anchor="t"/>
          <a:lstStyle/>
          <a:p>
            <a:pPr indent="0" marL="0">
              <a:buNone/>
            </a:pPr>
            <a:r>
              <a:rPr lang="en-US" sz="1400" dirty="0">
                <a:solidFill>
                  <a:srgbClr val="F5EFE6"/>
                </a:solidFill>
                <a:latin typeface="Segoe UI" pitchFamily="34" charset="0"/>
                <a:ea typeface="Segoe UI" pitchFamily="34" charset="-122"/>
                <a:cs typeface="Segoe UI" pitchFamily="34" charset="-120"/>
              </a:rPr>
              <a:t>Automated tests</a:t>
            </a:r>
            <a:endParaRPr lang="en-US" sz="1400" dirty="0"/>
          </a:p>
        </p:txBody>
      </p:sp>
      <p:sp>
        <p:nvSpPr>
          <p:cNvPr id="41" name="Text 39"/>
          <p:cNvSpPr txBox="1"/>
          <p:nvPr/>
        </p:nvSpPr>
        <p:spPr>
          <a:xfrm>
            <a:off x="6035040" y="5568696"/>
            <a:ext cx="3870655" cy="228600"/>
          </a:xfrm>
          <a:prstGeom prst="rect">
            <a:avLst/>
          </a:prstGeom>
          <a:noFill/>
          <a:ln/>
        </p:spPr>
        <p:txBody>
          <a:bodyPr wrap="square" lIns="0" tIns="0" rIns="0" bIns="0" rtlCol="0" anchor="t"/>
          <a:lstStyle/>
          <a:p>
            <a:pPr indent="0" marL="0">
              <a:buNone/>
            </a:pPr>
            <a:r>
              <a:rPr lang="en-US" sz="1050" dirty="0">
                <a:solidFill>
                  <a:srgbClr val="B3A797"/>
                </a:solidFill>
                <a:latin typeface="Segoe UI" pitchFamily="34" charset="0"/>
                <a:ea typeface="Segoe UI" pitchFamily="34" charset="-122"/>
                <a:cs typeface="Segoe UI" pitchFamily="34" charset="-120"/>
              </a:rPr>
              <a:t>45 web, 88 Python, plus end to end</a:t>
            </a:r>
            <a:endParaRPr lang="en-US" sz="1050" dirty="0"/>
          </a:p>
        </p:txBody>
      </p:sp>
      <p:sp>
        <p:nvSpPr>
          <p:cNvPr id="42" name="Text 40"/>
          <p:cNvSpPr txBox="1"/>
          <p:nvPr/>
        </p:nvSpPr>
        <p:spPr>
          <a:xfrm>
            <a:off x="9905695" y="5294376"/>
            <a:ext cx="1554480" cy="475488"/>
          </a:xfrm>
          <a:prstGeom prst="rect">
            <a:avLst/>
          </a:prstGeom>
          <a:noFill/>
          <a:ln/>
        </p:spPr>
        <p:txBody>
          <a:bodyPr wrap="square" lIns="0" tIns="0" rIns="0" bIns="0" rtlCol="0" anchor="ctr"/>
          <a:lstStyle/>
          <a:p>
            <a:pPr algn="r" indent="0" marL="0">
              <a:buNone/>
            </a:pPr>
            <a:r>
              <a:rPr lang="en-US" sz="2600" dirty="0">
                <a:solidFill>
                  <a:srgbClr val="D2B57A"/>
                </a:solidFill>
                <a:latin typeface="Bodoni MT" pitchFamily="34" charset="0"/>
                <a:ea typeface="Bodoni MT" pitchFamily="34" charset="-122"/>
                <a:cs typeface="Bodoni MT" pitchFamily="34" charset="-120"/>
              </a:rPr>
              <a:t>133</a:t>
            </a:r>
            <a:endParaRPr lang="en-US" sz="2600" dirty="0"/>
          </a:p>
        </p:txBody>
      </p:sp>
      <p:sp>
        <p:nvSpPr>
          <p:cNvPr id="43" name="Text 41"/>
          <p:cNvSpPr txBox="1"/>
          <p:nvPr/>
        </p:nvSpPr>
        <p:spPr>
          <a:xfrm>
            <a:off x="6035040" y="5989320"/>
            <a:ext cx="5425135" cy="228600"/>
          </a:xfrm>
          <a:prstGeom prst="rect">
            <a:avLst/>
          </a:prstGeom>
          <a:noFill/>
          <a:ln/>
        </p:spPr>
        <p:txBody>
          <a:bodyPr wrap="square" lIns="0" tIns="0" rIns="0" bIns="0" rtlCol="0" anchor="t"/>
          <a:lstStyle/>
          <a:p>
            <a:pPr indent="0" marL="0">
              <a:buNone/>
            </a:pPr>
            <a:r>
              <a:rPr lang="en-US" sz="950" dirty="0">
                <a:solidFill>
                  <a:srgbClr val="B3A797"/>
                </a:solidFill>
                <a:latin typeface="Segoe UI" pitchFamily="34" charset="0"/>
                <a:ea typeface="Segoe UI" pitchFamily="34" charset="-122"/>
                <a:cs typeface="Segoe UI" pitchFamily="34" charset="-120"/>
              </a:rPr>
              <a:t>Edge 156  ·  Ryzen 7 5800H  ·  RTX 3060  ·  medians of 5 sessions of 12 s</a:t>
            </a:r>
            <a:endParaRPr lang="en-US" sz="950" dirty="0"/>
          </a:p>
        </p:txBody>
      </p:sp>
      <p:sp>
        <p:nvSpPr>
          <p:cNvPr id="25" name="Slide Number Placeholder 0"/>
          <p:cNvSpPr>
            <a:spLocks noGrp="1"/>
          </p:cNvSpPr>
          <p:nvPr>
            <p:ph type="sldNum" sz="quarter" idx="4294967295"/>
          </p:nvPr>
        </p:nvSpPr>
        <p:spPr>
          <a:xfrm>
            <a:off x="10911535" y="6400800"/>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B3A797"/>
                </a:solidFill>
                <a:latin typeface="Segoe UI Semibold"/>
                <a:ea typeface="Segoe UI Semibold"/>
                <a:cs typeface="Segoe UI Semibold"/>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731520" y="457200"/>
            <a:ext cx="8229600" cy="274320"/>
          </a:xfrm>
          <a:prstGeom prst="rect">
            <a:avLst/>
          </a:prstGeom>
          <a:noFill/>
          <a:ln/>
        </p:spPr>
        <p:txBody>
          <a:bodyPr wrap="square" lIns="0" tIns="0" rIns="0" bIns="0" rtlCol="0" anchor="t"/>
          <a:lstStyle/>
          <a:p>
            <a:pPr indent="0" marL="0">
              <a:buNone/>
            </a:pPr>
            <a:r>
              <a:rPr lang="en-US" sz="1050" spc="300" kern="0" dirty="0">
                <a:solidFill>
                  <a:srgbClr val="82601A"/>
                </a:solidFill>
                <a:latin typeface="Segoe UI Semibold" pitchFamily="34" charset="0"/>
                <a:ea typeface="Segoe UI Semibold" pitchFamily="34" charset="-122"/>
                <a:cs typeface="Segoe UI Semibold" pitchFamily="34" charset="-120"/>
              </a:rPr>
              <a:t>RESULTS  ·  SPEED</a:t>
            </a:r>
            <a:endParaRPr lang="en-US" sz="1050" dirty="0"/>
          </a:p>
        </p:txBody>
      </p:sp>
      <p:sp>
        <p:nvSpPr>
          <p:cNvPr id="3" name="Text 0"/>
          <p:cNvSpPr/>
          <p:nvPr>
            <p:ph idx="101" type="title" hasCustomPrompt="1"/>
          </p:nvPr>
        </p:nvSpPr>
        <p:spPr>
          <a:xfrm>
            <a:off x="731520" y="749808"/>
            <a:ext cx="10728655" cy="731520"/>
          </a:xfrm>
          <a:prstGeom prst="rect">
            <a:avLst/>
          </a:prstGeom>
          <a:noFill/>
          <a:ln/>
        </p:spPr>
        <p:txBody>
          <a:bodyPr wrap="square" lIns="0" tIns="0" rIns="0" bIns="0" rtlCol="0" anchor="t"/>
          <a:lstStyle/>
          <a:p>
            <a:pPr algn="l" indent="0" marL="0">
              <a:buNone/>
            </a:pPr>
            <a:r>
              <a:rPr lang="en-US" sz="2800" dirty="0">
                <a:solidFill>
                  <a:schemeClr val="tx1"/>
                </a:solidFill>
                <a:latin typeface="Georgia" pitchFamily="34" charset="0"/>
                <a:ea typeface="Georgia" pitchFamily="34" charset="-122"/>
                <a:cs typeface="Georgia" pitchFamily="34" charset="-120"/>
              </a:rPr>
              <a:t>Measuring changed our engine choice</a:t>
            </a:r>
            <a:endParaRPr lang="en-US" sz="2800" dirty="0"/>
          </a:p>
        </p:txBody>
      </p:sp>
      <p:graphicFrame>
        <p:nvGraphicFramePr>
          <p:cNvPr id="4" name="Chart 0" descr=""/>
          <p:cNvGraphicFramePr/>
          <p:nvPr/>
        </p:nvGraphicFramePr>
        <p:xfrm>
          <a:off x="640080" y="1600200"/>
          <a:ext cx="6949440" cy="4526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001000" y="1728216"/>
            <a:ext cx="365760" cy="365760"/>
          </a:xfrm>
          <a:prstGeom prst="rect">
            <a:avLst/>
          </a:prstGeom>
          <a:noFill/>
          <a:ln/>
        </p:spPr>
        <p:txBody>
          <a:bodyPr wrap="square" lIns="0" tIns="0" rIns="0" bIns="0" rtlCol="0" anchor="t"/>
          <a:lstStyle/>
          <a:p>
            <a:pPr indent="0" marL="0">
              <a:buNone/>
            </a:pPr>
            <a:r>
              <a:rPr lang="en-US" sz="2200" dirty="0">
                <a:solidFill>
                  <a:srgbClr val="82601A"/>
                </a:solidFill>
                <a:latin typeface="Bodoni MT" pitchFamily="34" charset="0"/>
                <a:ea typeface="Bodoni MT" pitchFamily="34" charset="-122"/>
                <a:cs typeface="Bodoni MT" pitchFamily="34" charset="-120"/>
              </a:rPr>
              <a:t>1</a:t>
            </a:r>
            <a:endParaRPr lang="en-US" sz="2200" dirty="0"/>
          </a:p>
        </p:txBody>
      </p:sp>
      <p:sp>
        <p:nvSpPr>
          <p:cNvPr id="6" name="Text 3"/>
          <p:cNvSpPr txBox="1"/>
          <p:nvPr/>
        </p:nvSpPr>
        <p:spPr>
          <a:xfrm>
            <a:off x="8412480" y="1783080"/>
            <a:ext cx="3047695" cy="822960"/>
          </a:xfrm>
          <a:prstGeom prst="rect">
            <a:avLst/>
          </a:prstGeom>
          <a:noFill/>
          <a:ln/>
        </p:spPr>
        <p:txBody>
          <a:bodyPr wrap="square" lIns="0" tIns="0" rIns="0" bIns="0" rtlCol="0" anchor="t"/>
          <a:lstStyle/>
          <a:p>
            <a:pPr indent="0" marL="0">
              <a:buNone/>
            </a:pPr>
            <a:r>
              <a:rPr lang="en-US" sz="1350" dirty="0">
                <a:solidFill>
                  <a:schemeClr val="tx1"/>
                </a:solidFill>
                <a:latin typeface="Segoe UI" pitchFamily="34" charset="0"/>
                <a:ea typeface="Segoe UI" pitchFamily="34" charset="-122"/>
                <a:cs typeface="Segoe UI" pitchFamily="34" charset="-120"/>
              </a:rPr>
              <a:t>Recognition is 3 to 4 times slower on the graphics card, whichever card (149 to 161 ms vs 41 ms).</a:t>
            </a:r>
            <a:endParaRPr lang="en-US" sz="1350" dirty="0"/>
          </a:p>
        </p:txBody>
      </p:sp>
      <p:sp>
        <p:nvSpPr>
          <p:cNvPr id="7" name="Text 4"/>
          <p:cNvSpPr txBox="1"/>
          <p:nvPr/>
        </p:nvSpPr>
        <p:spPr>
          <a:xfrm>
            <a:off x="8001000" y="2642616"/>
            <a:ext cx="365760" cy="365760"/>
          </a:xfrm>
          <a:prstGeom prst="rect">
            <a:avLst/>
          </a:prstGeom>
          <a:noFill/>
          <a:ln/>
        </p:spPr>
        <p:txBody>
          <a:bodyPr wrap="square" lIns="0" tIns="0" rIns="0" bIns="0" rtlCol="0" anchor="t"/>
          <a:lstStyle/>
          <a:p>
            <a:pPr indent="0" marL="0">
              <a:buNone/>
            </a:pPr>
            <a:r>
              <a:rPr lang="en-US" sz="2200" dirty="0">
                <a:solidFill>
                  <a:srgbClr val="82601A"/>
                </a:solidFill>
                <a:latin typeface="Bodoni MT" pitchFamily="34" charset="0"/>
                <a:ea typeface="Bodoni MT" pitchFamily="34" charset="-122"/>
                <a:cs typeface="Bodoni MT" pitchFamily="34" charset="-120"/>
              </a:rPr>
              <a:t>2</a:t>
            </a:r>
            <a:endParaRPr lang="en-US" sz="2200" dirty="0"/>
          </a:p>
        </p:txBody>
      </p:sp>
      <p:sp>
        <p:nvSpPr>
          <p:cNvPr id="8" name="Text 5"/>
          <p:cNvSpPr txBox="1"/>
          <p:nvPr/>
        </p:nvSpPr>
        <p:spPr>
          <a:xfrm>
            <a:off x="8412480" y="2697480"/>
            <a:ext cx="3047695" cy="822960"/>
          </a:xfrm>
          <a:prstGeom prst="rect">
            <a:avLst/>
          </a:prstGeom>
          <a:noFill/>
          <a:ln/>
        </p:spPr>
        <p:txBody>
          <a:bodyPr wrap="square" lIns="0" tIns="0" rIns="0" bIns="0" rtlCol="0" anchor="t"/>
          <a:lstStyle/>
          <a:p>
            <a:pPr indent="0" marL="0">
              <a:buNone/>
            </a:pPr>
            <a:r>
              <a:rPr lang="en-US" sz="1350" dirty="0">
                <a:solidFill>
                  <a:schemeClr val="tx1"/>
                </a:solidFill>
                <a:latin typeface="Segoe UI" pitchFamily="34" charset="0"/>
                <a:ea typeface="Segoe UI" pitchFamily="34" charset="-122"/>
                <a:cs typeface="Segoe UI" pitchFamily="34" charset="-120"/>
              </a:rPr>
              <a:t>Detection only speeds up on the dedicated card (57 ms vs 77 ms).</a:t>
            </a:r>
            <a:endParaRPr lang="en-US" sz="1350" dirty="0"/>
          </a:p>
        </p:txBody>
      </p:sp>
      <p:sp>
        <p:nvSpPr>
          <p:cNvPr id="9" name="Text 6"/>
          <p:cNvSpPr txBox="1"/>
          <p:nvPr/>
        </p:nvSpPr>
        <p:spPr>
          <a:xfrm>
            <a:off x="8001000" y="3557016"/>
            <a:ext cx="365760" cy="365760"/>
          </a:xfrm>
          <a:prstGeom prst="rect">
            <a:avLst/>
          </a:prstGeom>
          <a:noFill/>
          <a:ln/>
        </p:spPr>
        <p:txBody>
          <a:bodyPr wrap="square" lIns="0" tIns="0" rIns="0" bIns="0" rtlCol="0" anchor="t"/>
          <a:lstStyle/>
          <a:p>
            <a:pPr indent="0" marL="0">
              <a:buNone/>
            </a:pPr>
            <a:r>
              <a:rPr lang="en-US" sz="2200" dirty="0">
                <a:solidFill>
                  <a:srgbClr val="82601A"/>
                </a:solidFill>
                <a:latin typeface="Bodoni MT" pitchFamily="34" charset="0"/>
                <a:ea typeface="Bodoni MT" pitchFamily="34" charset="-122"/>
                <a:cs typeface="Bodoni MT" pitchFamily="34" charset="-120"/>
              </a:rPr>
              <a:t>3</a:t>
            </a:r>
            <a:endParaRPr lang="en-US" sz="2200" dirty="0"/>
          </a:p>
        </p:txBody>
      </p:sp>
      <p:sp>
        <p:nvSpPr>
          <p:cNvPr id="10" name="Text 7"/>
          <p:cNvSpPr txBox="1"/>
          <p:nvPr/>
        </p:nvSpPr>
        <p:spPr>
          <a:xfrm>
            <a:off x="8412480" y="3611880"/>
            <a:ext cx="3047695" cy="822960"/>
          </a:xfrm>
          <a:prstGeom prst="rect">
            <a:avLst/>
          </a:prstGeom>
          <a:noFill/>
          <a:ln/>
        </p:spPr>
        <p:txBody>
          <a:bodyPr wrap="square" lIns="0" tIns="0" rIns="0" bIns="0" rtlCol="0" anchor="t"/>
          <a:lstStyle/>
          <a:p>
            <a:pPr indent="0" marL="0">
              <a:buNone/>
            </a:pPr>
            <a:r>
              <a:rPr lang="en-US" sz="1350" dirty="0">
                <a:solidFill>
                  <a:schemeClr val="tx1"/>
                </a:solidFill>
                <a:latin typeface="Segoe UI" pitchFamily="34" charset="0"/>
                <a:ea typeface="Segoe UI" pitchFamily="34" charset="-122"/>
                <a:cs typeface="Segoe UI" pitchFamily="34" charset="-120"/>
              </a:rPr>
              <a:t>So: CPU by default, hybrid on the demo PC. 108 ms per analysis, 0.20 s to the card.</a:t>
            </a:r>
            <a:endParaRPr lang="en-US" sz="1350" dirty="0"/>
          </a:p>
        </p:txBody>
      </p:sp>
      <p:sp>
        <p:nvSpPr>
          <p:cNvPr id="11" name="filet-lecon"/>
          <p:cNvSpPr/>
          <p:nvPr/>
        </p:nvSpPr>
        <p:spPr>
          <a:xfrm>
            <a:off x="8001000" y="4754880"/>
            <a:ext cx="3459175" cy="0"/>
          </a:xfrm>
          <a:prstGeom prst="line">
            <a:avLst/>
          </a:prstGeom>
          <a:noFill/>
          <a:ln w="9525">
            <a:solidFill>
              <a:schemeClr val="accent1"/>
            </a:solidFill>
            <a:prstDash val="solid"/>
          </a:ln>
        </p:spPr>
      </p:sp>
      <p:sp>
        <p:nvSpPr>
          <p:cNvPr id="12" name="Text 9"/>
          <p:cNvSpPr txBox="1"/>
          <p:nvPr/>
        </p:nvSpPr>
        <p:spPr>
          <a:xfrm>
            <a:off x="8001000" y="4892040"/>
            <a:ext cx="3459175" cy="1005840"/>
          </a:xfrm>
          <a:prstGeom prst="rect">
            <a:avLst/>
          </a:prstGeom>
          <a:noFill/>
          <a:ln/>
        </p:spPr>
        <p:txBody>
          <a:bodyPr wrap="square" lIns="0" tIns="0" rIns="0" bIns="0" rtlCol="0" anchor="t"/>
          <a:lstStyle/>
          <a:p>
            <a:pPr indent="0" marL="0">
              <a:buNone/>
            </a:pPr>
            <a:r>
              <a:rPr lang="en-US" sz="1400" i="1" dirty="0">
                <a:solidFill>
                  <a:schemeClr val="tx1"/>
                </a:solidFill>
                <a:latin typeface="Georgia" pitchFamily="34" charset="0"/>
                <a:ea typeface="Georgia" pitchFamily="34" charset="-122"/>
                <a:cs typeface="Georgia" pitchFamily="34" charset="-120"/>
              </a:rPr>
              <a:t>Without measuring, we would have concluded “the GPU makes everything faster”. The browser was in fact using the integrated GPU.</a:t>
            </a:r>
            <a:endParaRPr lang="en-US" sz="1400" dirty="0"/>
          </a:p>
        </p:txBody>
      </p:sp>
      <p:sp>
        <p:nvSpPr>
          <p:cNvPr id="25" name="Slide Number Placeholder 0"/>
          <p:cNvSpPr>
            <a:spLocks noGrp="1"/>
          </p:cNvSpPr>
          <p:nvPr>
            <p:ph type="sldNum" sz="quarter" idx="4294967295"/>
          </p:nvPr>
        </p:nvSpPr>
        <p:spPr>
          <a:xfrm>
            <a:off x="10911535" y="6400800"/>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6E645B"/>
                </a:solidFill>
                <a:latin typeface="Segoe UI Semibold"/>
                <a:ea typeface="Segoe UI Semibold"/>
                <a:cs typeface="Segoe UI Semibold"/>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731520" y="457200"/>
            <a:ext cx="8229600" cy="274320"/>
          </a:xfrm>
          <a:prstGeom prst="rect">
            <a:avLst/>
          </a:prstGeom>
          <a:noFill/>
          <a:ln/>
        </p:spPr>
        <p:txBody>
          <a:bodyPr wrap="square" lIns="0" tIns="0" rIns="0" bIns="0" rtlCol="0" anchor="t"/>
          <a:lstStyle/>
          <a:p>
            <a:pPr indent="0" marL="0">
              <a:buNone/>
            </a:pPr>
            <a:r>
              <a:rPr lang="en-US" sz="1050" spc="300" kern="0" dirty="0">
                <a:solidFill>
                  <a:srgbClr val="82601A"/>
                </a:solidFill>
                <a:latin typeface="Segoe UI Semibold" pitchFamily="34" charset="0"/>
                <a:ea typeface="Segoe UI Semibold" pitchFamily="34" charset="-122"/>
                <a:cs typeface="Segoe UI Semibold" pitchFamily="34" charset="-120"/>
              </a:rPr>
              <a:t>RESULTS  ·  RANGE</a:t>
            </a:r>
            <a:endParaRPr lang="en-US" sz="1050" dirty="0"/>
          </a:p>
        </p:txBody>
      </p:sp>
      <p:sp>
        <p:nvSpPr>
          <p:cNvPr id="3" name="Text 0"/>
          <p:cNvSpPr/>
          <p:nvPr>
            <p:ph idx="101" type="title" hasCustomPrompt="1"/>
          </p:nvPr>
        </p:nvSpPr>
        <p:spPr>
          <a:xfrm>
            <a:off x="731520" y="749808"/>
            <a:ext cx="10728655" cy="731520"/>
          </a:xfrm>
          <a:prstGeom prst="rect">
            <a:avLst/>
          </a:prstGeom>
          <a:noFill/>
          <a:ln/>
        </p:spPr>
        <p:txBody>
          <a:bodyPr wrap="square" lIns="0" tIns="0" rIns="0" bIns="0" rtlCol="0" anchor="t"/>
          <a:lstStyle/>
          <a:p>
            <a:pPr algn="l" indent="0" marL="0">
              <a:buNone/>
            </a:pPr>
            <a:r>
              <a:rPr lang="en-US" sz="2800" dirty="0">
                <a:solidFill>
                  <a:schemeClr val="tx1"/>
                </a:solidFill>
                <a:latin typeface="Georgia" pitchFamily="34" charset="0"/>
                <a:ea typeface="Georgia" pitchFamily="34" charset="-122"/>
                <a:cs typeface="Georgia" pitchFamily="34" charset="-120"/>
              </a:rPr>
              <a:t>Reliable up to about 2 m from the camera</a:t>
            </a:r>
            <a:endParaRPr lang="en-US" sz="2800" dirty="0"/>
          </a:p>
        </p:txBody>
      </p:sp>
      <p:graphicFrame>
        <p:nvGraphicFramePr>
          <p:cNvPr id="4" name="Chart 0" descr=""/>
          <p:cNvGraphicFramePr/>
          <p:nvPr/>
        </p:nvGraphicFramePr>
        <p:xfrm>
          <a:off x="640080" y="1600200"/>
          <a:ext cx="7315200" cy="4434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366760" y="1737360"/>
            <a:ext cx="3093415" cy="256032"/>
          </a:xfrm>
          <a:prstGeom prst="rect">
            <a:avLst/>
          </a:prstGeom>
          <a:noFill/>
          <a:ln/>
        </p:spPr>
        <p:txBody>
          <a:bodyPr wrap="square" lIns="0" tIns="0" rIns="0" bIns="0" rtlCol="0" anchor="t"/>
          <a:lstStyle/>
          <a:p>
            <a:pPr indent="0" marL="0">
              <a:buNone/>
            </a:pPr>
            <a:r>
              <a:rPr lang="en-US" sz="950" spc="250" kern="0" dirty="0">
                <a:solidFill>
                  <a:srgbClr val="82601A"/>
                </a:solidFill>
                <a:latin typeface="Segoe UI Semibold" pitchFamily="34" charset="0"/>
                <a:ea typeface="Segoe UI Semibold" pitchFamily="34" charset="-122"/>
                <a:cs typeface="Segoe UI Semibold" pitchFamily="34" charset="-120"/>
              </a:rPr>
              <a:t>READING</a:t>
            </a:r>
            <a:endParaRPr lang="en-US" sz="950" dirty="0"/>
          </a:p>
        </p:txBody>
      </p:sp>
      <p:sp>
        <p:nvSpPr>
          <p:cNvPr id="6" name="Text 3"/>
          <p:cNvSpPr txBox="1"/>
          <p:nvPr/>
        </p:nvSpPr>
        <p:spPr>
          <a:xfrm>
            <a:off x="8366760" y="2057400"/>
            <a:ext cx="320040" cy="320040"/>
          </a:xfrm>
          <a:prstGeom prst="rect">
            <a:avLst/>
          </a:prstGeom>
          <a:noFill/>
          <a:ln/>
        </p:spPr>
        <p:txBody>
          <a:bodyPr wrap="square" lIns="0" tIns="0" rIns="0" bIns="0" rtlCol="0" anchor="t"/>
          <a:lstStyle/>
          <a:p>
            <a:pPr indent="0" marL="0">
              <a:buNone/>
            </a:pPr>
            <a:r>
              <a:rPr lang="en-US" sz="1900" dirty="0">
                <a:solidFill>
                  <a:srgbClr val="82601A"/>
                </a:solidFill>
                <a:latin typeface="Bodoni MT" pitchFamily="34" charset="0"/>
                <a:ea typeface="Bodoni MT" pitchFamily="34" charset="-122"/>
                <a:cs typeface="Bodoni MT" pitchFamily="34" charset="-120"/>
              </a:rPr>
              <a:t>1</a:t>
            </a:r>
            <a:endParaRPr lang="en-US" sz="1900" dirty="0"/>
          </a:p>
        </p:txBody>
      </p:sp>
      <p:sp>
        <p:nvSpPr>
          <p:cNvPr id="7" name="Text 4"/>
          <p:cNvSpPr txBox="1"/>
          <p:nvPr/>
        </p:nvSpPr>
        <p:spPr>
          <a:xfrm>
            <a:off x="8732520" y="2103120"/>
            <a:ext cx="2727655" cy="731520"/>
          </a:xfrm>
          <a:prstGeom prst="rect">
            <a:avLst/>
          </a:prstGeom>
          <a:noFill/>
          <a:ln/>
        </p:spPr>
        <p:txBody>
          <a:bodyPr wrap="square" lIns="0" tIns="0" rIns="0" bIns="0" rtlCol="0" anchor="t"/>
          <a:lstStyle/>
          <a:p>
            <a:pPr indent="0" marL="0">
              <a:buNone/>
            </a:pPr>
            <a:r>
              <a:rPr lang="en-US" sz="1400" dirty="0">
                <a:solidFill>
                  <a:schemeClr val="tx1"/>
                </a:solidFill>
                <a:latin typeface="Segoe UI" pitchFamily="34" charset="0"/>
                <a:ea typeface="Segoe UI" pitchFamily="34" charset="-122"/>
                <a:cs typeface="Segoe UI" pitchFamily="34" charset="-120"/>
              </a:rPr>
              <a:t>100% up to 2.0 m, still 83% at 3.9 m.</a:t>
            </a:r>
            <a:endParaRPr lang="en-US" sz="1400" dirty="0"/>
          </a:p>
        </p:txBody>
      </p:sp>
      <p:sp>
        <p:nvSpPr>
          <p:cNvPr id="8" name="Text 5"/>
          <p:cNvSpPr txBox="1"/>
          <p:nvPr/>
        </p:nvSpPr>
        <p:spPr>
          <a:xfrm>
            <a:off x="8366760" y="2834640"/>
            <a:ext cx="320040" cy="320040"/>
          </a:xfrm>
          <a:prstGeom prst="rect">
            <a:avLst/>
          </a:prstGeom>
          <a:noFill/>
          <a:ln/>
        </p:spPr>
        <p:txBody>
          <a:bodyPr wrap="square" lIns="0" tIns="0" rIns="0" bIns="0" rtlCol="0" anchor="t"/>
          <a:lstStyle/>
          <a:p>
            <a:pPr indent="0" marL="0">
              <a:buNone/>
            </a:pPr>
            <a:r>
              <a:rPr lang="en-US" sz="1900" dirty="0">
                <a:solidFill>
                  <a:srgbClr val="82601A"/>
                </a:solidFill>
                <a:latin typeface="Bodoni MT" pitchFamily="34" charset="0"/>
                <a:ea typeface="Bodoni MT" pitchFamily="34" charset="-122"/>
                <a:cs typeface="Bodoni MT" pitchFamily="34" charset="-120"/>
              </a:rPr>
              <a:t>2</a:t>
            </a:r>
            <a:endParaRPr lang="en-US" sz="1900" dirty="0"/>
          </a:p>
        </p:txBody>
      </p:sp>
      <p:sp>
        <p:nvSpPr>
          <p:cNvPr id="9" name="Text 6"/>
          <p:cNvSpPr txBox="1"/>
          <p:nvPr/>
        </p:nvSpPr>
        <p:spPr>
          <a:xfrm>
            <a:off x="8732520" y="2880360"/>
            <a:ext cx="2727655" cy="731520"/>
          </a:xfrm>
          <a:prstGeom prst="rect">
            <a:avLst/>
          </a:prstGeom>
          <a:noFill/>
          <a:ln/>
        </p:spPr>
        <p:txBody>
          <a:bodyPr wrap="square" lIns="0" tIns="0" rIns="0" bIns="0" rtlCol="0" anchor="t"/>
          <a:lstStyle/>
          <a:p>
            <a:pPr indent="0" marL="0">
              <a:buNone/>
            </a:pPr>
            <a:r>
              <a:rPr lang="en-US" sz="1400" dirty="0">
                <a:solidFill>
                  <a:schemeClr val="tx1"/>
                </a:solidFill>
                <a:latin typeface="Segoe UI" pitchFamily="34" charset="0"/>
                <a:ea typeface="Segoe UI" pitchFamily="34" charset="-122"/>
                <a:cs typeface="Segoe UI" pitchFamily="34" charset="-120"/>
              </a:rPr>
              <a:t>Beyond 4 m the face is under 35 px wide and is no longer detected.</a:t>
            </a:r>
            <a:endParaRPr lang="en-US" sz="1400" dirty="0"/>
          </a:p>
        </p:txBody>
      </p:sp>
      <p:sp>
        <p:nvSpPr>
          <p:cNvPr id="10" name="Text 7"/>
          <p:cNvSpPr txBox="1"/>
          <p:nvPr/>
        </p:nvSpPr>
        <p:spPr>
          <a:xfrm>
            <a:off x="8366760" y="3611880"/>
            <a:ext cx="320040" cy="320040"/>
          </a:xfrm>
          <a:prstGeom prst="rect">
            <a:avLst/>
          </a:prstGeom>
          <a:noFill/>
          <a:ln/>
        </p:spPr>
        <p:txBody>
          <a:bodyPr wrap="square" lIns="0" tIns="0" rIns="0" bIns="0" rtlCol="0" anchor="t"/>
          <a:lstStyle/>
          <a:p>
            <a:pPr indent="0" marL="0">
              <a:buNone/>
            </a:pPr>
            <a:r>
              <a:rPr lang="en-US" sz="1900" dirty="0">
                <a:solidFill>
                  <a:srgbClr val="82601A"/>
                </a:solidFill>
                <a:latin typeface="Bodoni MT" pitchFamily="34" charset="0"/>
                <a:ea typeface="Bodoni MT" pitchFamily="34" charset="-122"/>
                <a:cs typeface="Bodoni MT" pitchFamily="34" charset="-120"/>
              </a:rPr>
              <a:t>3</a:t>
            </a:r>
            <a:endParaRPr lang="en-US" sz="1900" dirty="0"/>
          </a:p>
        </p:txBody>
      </p:sp>
      <p:sp>
        <p:nvSpPr>
          <p:cNvPr id="11" name="Text 8"/>
          <p:cNvSpPr txBox="1"/>
          <p:nvPr/>
        </p:nvSpPr>
        <p:spPr>
          <a:xfrm>
            <a:off x="8732520" y="3657600"/>
            <a:ext cx="2727655" cy="731520"/>
          </a:xfrm>
          <a:prstGeom prst="rect">
            <a:avLst/>
          </a:prstGeom>
          <a:noFill/>
          <a:ln/>
        </p:spPr>
        <p:txBody>
          <a:bodyPr wrap="square" lIns="0" tIns="0" rIns="0" bIns="0" rtlCol="0" anchor="t"/>
          <a:lstStyle/>
          <a:p>
            <a:pPr indent="0" marL="0">
              <a:buNone/>
            </a:pPr>
            <a:r>
              <a:rPr lang="en-US" sz="1400" dirty="0">
                <a:solidFill>
                  <a:schemeClr val="tx1"/>
                </a:solidFill>
                <a:latin typeface="Segoe UI" pitchFamily="34" charset="0"/>
                <a:ea typeface="Segoe UI" pitchFamily="34" charset="-122"/>
                <a:cs typeface="Segoe UI" pitchFamily="34" charset="-120"/>
              </a:rPr>
              <a:t>Every detected face was recognized: detection is the limit.</a:t>
            </a:r>
            <a:endParaRPr lang="en-US" sz="1400" dirty="0"/>
          </a:p>
        </p:txBody>
      </p:sp>
      <p:sp>
        <p:nvSpPr>
          <p:cNvPr id="12" name="Text 9"/>
          <p:cNvSpPr txBox="1"/>
          <p:nvPr/>
        </p:nvSpPr>
        <p:spPr>
          <a:xfrm>
            <a:off x="8366760" y="4389120"/>
            <a:ext cx="320040" cy="320040"/>
          </a:xfrm>
          <a:prstGeom prst="rect">
            <a:avLst/>
          </a:prstGeom>
          <a:noFill/>
          <a:ln/>
        </p:spPr>
        <p:txBody>
          <a:bodyPr wrap="square" lIns="0" tIns="0" rIns="0" bIns="0" rtlCol="0" anchor="t"/>
          <a:lstStyle/>
          <a:p>
            <a:pPr indent="0" marL="0">
              <a:buNone/>
            </a:pPr>
            <a:r>
              <a:rPr lang="en-US" sz="1900" dirty="0">
                <a:solidFill>
                  <a:srgbClr val="82601A"/>
                </a:solidFill>
                <a:latin typeface="Bodoni MT" pitchFamily="34" charset="0"/>
                <a:ea typeface="Bodoni MT" pitchFamily="34" charset="-122"/>
                <a:cs typeface="Bodoni MT" pitchFamily="34" charset="-120"/>
              </a:rPr>
              <a:t>4</a:t>
            </a:r>
            <a:endParaRPr lang="en-US" sz="1900" dirty="0"/>
          </a:p>
        </p:txBody>
      </p:sp>
      <p:sp>
        <p:nvSpPr>
          <p:cNvPr id="13" name="Text 10"/>
          <p:cNvSpPr txBox="1"/>
          <p:nvPr/>
        </p:nvSpPr>
        <p:spPr>
          <a:xfrm>
            <a:off x="8732520" y="4434840"/>
            <a:ext cx="2727655" cy="731520"/>
          </a:xfrm>
          <a:prstGeom prst="rect">
            <a:avLst/>
          </a:prstGeom>
          <a:noFill/>
          <a:ln/>
        </p:spPr>
        <p:txBody>
          <a:bodyPr wrap="square" lIns="0" tIns="0" rIns="0" bIns="0" rtlCol="0" anchor="t"/>
          <a:lstStyle/>
          <a:p>
            <a:pPr indent="0" marL="0">
              <a:buNone/>
            </a:pPr>
            <a:r>
              <a:rPr lang="en-US" sz="1400" dirty="0">
                <a:solidFill>
                  <a:schemeClr val="tx1"/>
                </a:solidFill>
                <a:latin typeface="Segoe UI" pitchFamily="34" charset="0"/>
                <a:ea typeface="Segoe UI" pitchFamily="34" charset="-122"/>
                <a:cs typeface="Segoe UI" pitchFamily="34" charset="-120"/>
              </a:rPr>
              <a:t>Takeaway: camera near the entrance, at face height.</a:t>
            </a:r>
            <a:endParaRPr lang="en-US" sz="1400" dirty="0"/>
          </a:p>
        </p:txBody>
      </p:sp>
      <p:sp>
        <p:nvSpPr>
          <p:cNvPr id="14" name="Text 11"/>
          <p:cNvSpPr txBox="1"/>
          <p:nvPr/>
        </p:nvSpPr>
        <p:spPr>
          <a:xfrm>
            <a:off x="8366760" y="5349240"/>
            <a:ext cx="3093415" cy="640080"/>
          </a:xfrm>
          <a:prstGeom prst="rect">
            <a:avLst/>
          </a:prstGeom>
          <a:noFill/>
          <a:ln/>
        </p:spPr>
        <p:txBody>
          <a:bodyPr wrap="square" lIns="0" tIns="0" rIns="0" bIns="0" rtlCol="0" anchor="t"/>
          <a:lstStyle/>
          <a:p>
            <a:pPr indent="0" marL="0">
              <a:buNone/>
            </a:pPr>
            <a:r>
              <a:rPr lang="en-US" sz="1050" dirty="0">
                <a:solidFill>
                  <a:schemeClr val="accent4"/>
                </a:solidFill>
                <a:latin typeface="Segoe UI" pitchFamily="34" charset="0"/>
                <a:ea typeface="Segoe UI" pitchFamily="34" charset="-122"/>
                <a:cs typeface="Segoe UI" pitchFamily="34" charset="-120"/>
              </a:rPr>
              <a:t>Distance estimated for an HD webcam with a 70° field of view and a 15 cm face. 6 identities, same source photo.</a:t>
            </a:r>
            <a:endParaRPr lang="en-US" sz="1050" dirty="0"/>
          </a:p>
        </p:txBody>
      </p:sp>
      <p:sp>
        <p:nvSpPr>
          <p:cNvPr id="25" name="Slide Number Placeholder 0"/>
          <p:cNvSpPr>
            <a:spLocks noGrp="1"/>
          </p:cNvSpPr>
          <p:nvPr>
            <p:ph type="sldNum" sz="quarter" idx="4294967295"/>
          </p:nvPr>
        </p:nvSpPr>
        <p:spPr>
          <a:xfrm>
            <a:off x="10911535" y="6400800"/>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6E645B"/>
                </a:solidFill>
                <a:latin typeface="Segoe UI Semibold"/>
                <a:ea typeface="Segoe UI Semibold"/>
                <a:cs typeface="Segoe UI Semibold"/>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731520" y="457200"/>
            <a:ext cx="8229600" cy="274320"/>
          </a:xfrm>
          <a:prstGeom prst="rect">
            <a:avLst/>
          </a:prstGeom>
          <a:noFill/>
          <a:ln/>
        </p:spPr>
        <p:txBody>
          <a:bodyPr wrap="square" lIns="0" tIns="0" rIns="0" bIns="0" rtlCol="0" anchor="t"/>
          <a:lstStyle/>
          <a:p>
            <a:pPr indent="0" marL="0">
              <a:buNone/>
            </a:pPr>
            <a:r>
              <a:rPr lang="en-US" sz="1050" spc="300" kern="0" dirty="0">
                <a:solidFill>
                  <a:srgbClr val="82601A"/>
                </a:solidFill>
                <a:latin typeface="Segoe UI Semibold" pitchFamily="34" charset="0"/>
                <a:ea typeface="Segoe UI Semibold" pitchFamily="34" charset="-122"/>
                <a:cs typeface="Segoe UI Semibold" pitchFamily="34" charset="-120"/>
              </a:rPr>
              <a:t>RESULTS  ·  ROBUSTNESS</a:t>
            </a:r>
            <a:endParaRPr lang="en-US" sz="1050" dirty="0"/>
          </a:p>
        </p:txBody>
      </p:sp>
      <p:sp>
        <p:nvSpPr>
          <p:cNvPr id="3" name="Text 0"/>
          <p:cNvSpPr/>
          <p:nvPr>
            <p:ph idx="101" type="title" hasCustomPrompt="1"/>
          </p:nvPr>
        </p:nvSpPr>
        <p:spPr>
          <a:xfrm>
            <a:off x="731520" y="749808"/>
            <a:ext cx="10728655" cy="731520"/>
          </a:xfrm>
          <a:prstGeom prst="rect">
            <a:avLst/>
          </a:prstGeom>
          <a:noFill/>
          <a:ln/>
        </p:spPr>
        <p:txBody>
          <a:bodyPr wrap="square" lIns="0" tIns="0" rIns="0" bIns="0" rtlCol="0" anchor="t"/>
          <a:lstStyle/>
          <a:p>
            <a:pPr algn="l" indent="0" marL="0">
              <a:buNone/>
            </a:pPr>
            <a:r>
              <a:rPr lang="en-US" sz="2800" dirty="0">
                <a:solidFill>
                  <a:schemeClr val="tx1"/>
                </a:solidFill>
                <a:latin typeface="Georgia" pitchFamily="34" charset="0"/>
                <a:ea typeface="Georgia" pitchFamily="34" charset="-122"/>
                <a:cs typeface="Georgia" pitchFamily="34" charset="-120"/>
              </a:rPr>
              <a:t>Handles light well, struggles with blur and covered faces</a:t>
            </a:r>
            <a:endParaRPr lang="en-US" sz="2800" dirty="0"/>
          </a:p>
        </p:txBody>
      </p:sp>
      <p:graphicFrame>
        <p:nvGraphicFramePr>
          <p:cNvPr id="4" name="Chart 0" descr=""/>
          <p:cNvGraphicFramePr/>
          <p:nvPr/>
        </p:nvGraphicFramePr>
        <p:xfrm>
          <a:off x="640080" y="1600200"/>
          <a:ext cx="3484778" cy="21031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307738" y="1600200"/>
          <a:ext cx="3484778" cy="210312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 2" descr=""/>
          <p:cNvGraphicFramePr/>
          <p:nvPr/>
        </p:nvGraphicFramePr>
        <p:xfrm>
          <a:off x="7975397" y="1600200"/>
          <a:ext cx="3484778" cy="2103120"/>
        </p:xfrm>
        <a:graphic xmlns:a="http://schemas.openxmlformats.org/drawingml/2006/main">
          <a:graphicData uri="http://schemas.openxmlformats.org/drawingml/2006/chart">
            <c:chart xmlns:c="http://schemas.openxmlformats.org/drawingml/2006/chart" r:id="rId3"/>
          </a:graphicData>
        </a:graphic>
      </p:graphicFrame>
      <p:graphicFrame>
        <p:nvGraphicFramePr>
          <p:cNvPr id="7" name="Chart 3" descr=""/>
          <p:cNvGraphicFramePr/>
          <p:nvPr/>
        </p:nvGraphicFramePr>
        <p:xfrm>
          <a:off x="640080" y="3840480"/>
          <a:ext cx="3484778" cy="2103120"/>
        </p:xfrm>
        <a:graphic xmlns:a="http://schemas.openxmlformats.org/drawingml/2006/main">
          <a:graphicData uri="http://schemas.openxmlformats.org/drawingml/2006/chart">
            <c:chart xmlns:c="http://schemas.openxmlformats.org/drawingml/2006/chart" r:id="rId4"/>
          </a:graphicData>
        </a:graphic>
      </p:graphicFrame>
      <p:graphicFrame>
        <p:nvGraphicFramePr>
          <p:cNvPr id="8" name="Chart 4" descr=""/>
          <p:cNvGraphicFramePr/>
          <p:nvPr/>
        </p:nvGraphicFramePr>
        <p:xfrm>
          <a:off x="4307738" y="3840480"/>
          <a:ext cx="3484778" cy="2103120"/>
        </p:xfrm>
        <a:graphic xmlns:a="http://schemas.openxmlformats.org/drawingml/2006/main">
          <a:graphicData uri="http://schemas.openxmlformats.org/drawingml/2006/chart">
            <c:chart xmlns:c="http://schemas.openxmlformats.org/drawingml/2006/chart" r:id="rId5"/>
          </a:graphicData>
        </a:graphic>
      </p:graphicFrame>
      <p:graphicFrame>
        <p:nvGraphicFramePr>
          <p:cNvPr id="9" name="Chart 5" descr=""/>
          <p:cNvGraphicFramePr/>
          <p:nvPr/>
        </p:nvGraphicFramePr>
        <p:xfrm>
          <a:off x="7975397" y="3840480"/>
          <a:ext cx="3484778" cy="2103120"/>
        </p:xfrm>
        <a:graphic xmlns:a="http://schemas.openxmlformats.org/drawingml/2006/main">
          <a:graphicData uri="http://schemas.openxmlformats.org/drawingml/2006/chart">
            <c:chart xmlns:c="http://schemas.openxmlformats.org/drawingml/2006/chart" r:id="rId6"/>
          </a:graphicData>
        </a:graphic>
      </p:graphicFrame>
      <p:sp>
        <p:nvSpPr>
          <p:cNvPr id="10" name="Text 2"/>
          <p:cNvSpPr txBox="1"/>
          <p:nvPr/>
        </p:nvSpPr>
        <p:spPr>
          <a:xfrm>
            <a:off x="731520" y="6016752"/>
            <a:ext cx="10728655" cy="320040"/>
          </a:xfrm>
          <a:prstGeom prst="rect">
            <a:avLst/>
          </a:prstGeom>
          <a:noFill/>
          <a:ln/>
        </p:spPr>
        <p:txBody>
          <a:bodyPr wrap="square" lIns="0" tIns="0" rIns="0" bIns="0" rtlCol="0" anchor="t"/>
          <a:lstStyle/>
          <a:p>
            <a:pPr indent="0" marL="0">
              <a:buNone/>
            </a:pPr>
            <a:r>
              <a:rPr lang="en-US" sz="1050" dirty="0">
                <a:solidFill>
                  <a:schemeClr val="accent4"/>
                </a:solidFill>
                <a:latin typeface="Segoe UI" pitchFamily="34" charset="0"/>
                <a:ea typeface="Segoe UI" pitchFamily="34" charset="-122"/>
                <a:cs typeface="Segoe UI" pitchFamily="34" charset="-120"/>
              </a:rPr>
              <a:t>Correct identification rate at threshold 0.35, 6 identities, one point per level. Degradation increases to the right, except exposure: 1 = normal, darker to the left, brighter to the right.</a:t>
            </a:r>
            <a:endParaRPr lang="en-US" sz="1050" dirty="0"/>
          </a:p>
        </p:txBody>
      </p:sp>
      <p:sp>
        <p:nvSpPr>
          <p:cNvPr id="25" name="Slide Number Placeholder 0"/>
          <p:cNvSpPr>
            <a:spLocks noGrp="1"/>
          </p:cNvSpPr>
          <p:nvPr>
            <p:ph type="sldNum" sz="quarter" idx="4294967295"/>
          </p:nvPr>
        </p:nvSpPr>
        <p:spPr>
          <a:xfrm>
            <a:off x="10911535" y="6400800"/>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6E645B"/>
                </a:solidFill>
                <a:latin typeface="Segoe UI Semibold"/>
                <a:ea typeface="Segoe UI Semibold"/>
                <a:cs typeface="Segoe UI Semibold"/>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731520" y="457200"/>
            <a:ext cx="8229600" cy="274320"/>
          </a:xfrm>
          <a:prstGeom prst="rect">
            <a:avLst/>
          </a:prstGeom>
          <a:noFill/>
          <a:ln/>
        </p:spPr>
        <p:txBody>
          <a:bodyPr wrap="square" lIns="0" tIns="0" rIns="0" bIns="0" rtlCol="0" anchor="t"/>
          <a:lstStyle/>
          <a:p>
            <a:pPr indent="0" marL="0">
              <a:buNone/>
            </a:pPr>
            <a:r>
              <a:rPr lang="en-US" sz="1050" spc="300" kern="0" dirty="0">
                <a:solidFill>
                  <a:srgbClr val="82601A"/>
                </a:solidFill>
                <a:latin typeface="Segoe UI Semibold" pitchFamily="34" charset="0"/>
                <a:ea typeface="Segoe UI Semibold" pitchFamily="34" charset="-122"/>
                <a:cs typeface="Segoe UI Semibold" pitchFamily="34" charset="-120"/>
              </a:rPr>
              <a:t>RESULTS  ·  ACCURACY</a:t>
            </a:r>
            <a:endParaRPr lang="en-US" sz="1050" dirty="0"/>
          </a:p>
        </p:txBody>
      </p:sp>
      <p:sp>
        <p:nvSpPr>
          <p:cNvPr id="3" name="Text 0"/>
          <p:cNvSpPr/>
          <p:nvPr>
            <p:ph idx="101" type="title" hasCustomPrompt="1"/>
          </p:nvPr>
        </p:nvSpPr>
        <p:spPr>
          <a:xfrm>
            <a:off x="731520" y="749808"/>
            <a:ext cx="10728655" cy="731520"/>
          </a:xfrm>
          <a:prstGeom prst="rect">
            <a:avLst/>
          </a:prstGeom>
          <a:noFill/>
          <a:ln/>
        </p:spPr>
        <p:txBody>
          <a:bodyPr wrap="square" lIns="0" tIns="0" rIns="0" bIns="0" rtlCol="0" anchor="t"/>
          <a:lstStyle/>
          <a:p>
            <a:pPr algn="l" indent="0" marL="0">
              <a:buNone/>
            </a:pPr>
            <a:r>
              <a:rPr lang="en-US" sz="2800" dirty="0">
                <a:solidFill>
                  <a:schemeClr val="tx1"/>
                </a:solidFill>
                <a:latin typeface="Georgia" pitchFamily="34" charset="0"/>
                <a:ea typeface="Georgia" pitchFamily="34" charset="-122"/>
                <a:cs typeface="Georgia" pitchFamily="34" charset="-120"/>
              </a:rPr>
              <a:t>At threshold 0.35: 0% false accepts, 11.7% false rejects</a:t>
            </a:r>
            <a:endParaRPr lang="en-US" sz="2800" dirty="0"/>
          </a:p>
        </p:txBody>
      </p:sp>
      <p:graphicFrame>
        <p:nvGraphicFramePr>
          <p:cNvPr id="4" name="Chart 0" descr=""/>
          <p:cNvGraphicFramePr/>
          <p:nvPr/>
        </p:nvGraphicFramePr>
        <p:xfrm>
          <a:off x="640080" y="1600200"/>
          <a:ext cx="5577840" cy="41605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537960" y="1600200"/>
          <a:ext cx="4937760" cy="324612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6675120" y="4983480"/>
            <a:ext cx="4782312" cy="914400"/>
          </a:xfrm>
          <a:prstGeom prst="rect">
            <a:avLst/>
          </a:prstGeom>
          <a:noFill/>
          <a:ln/>
        </p:spPr>
        <p:txBody>
          <a:bodyPr wrap="square" lIns="0" tIns="0" rIns="0" bIns="0" rtlCol="0" anchor="t"/>
          <a:lstStyle/>
          <a:p>
            <a:pPr indent="0" marL="0">
              <a:buNone/>
            </a:pPr>
            <a:r>
              <a:rPr lang="en-US" sz="1300" dirty="0">
                <a:solidFill>
                  <a:schemeClr val="tx1"/>
                </a:solidFill>
                <a:latin typeface="Segoe UI" pitchFamily="34" charset="0"/>
                <a:ea typeface="Segoe UI" pitchFamily="34" charset="-122"/>
                <a:cs typeface="Segoe UI" pitchFamily="34" charset="-120"/>
              </a:rPr>
              <a:t>The two groups are well apart: other people never go above 0.24 similarity. Threshold 0.35 favors never showing the wrong card: better an “Inconnu” than the wrong name.</a:t>
            </a:r>
            <a:endParaRPr lang="en-US" sz="1300" dirty="0"/>
          </a:p>
        </p:txBody>
      </p:sp>
      <p:sp>
        <p:nvSpPr>
          <p:cNvPr id="7" name="Text 3"/>
          <p:cNvSpPr txBox="1"/>
          <p:nvPr/>
        </p:nvSpPr>
        <p:spPr>
          <a:xfrm>
            <a:off x="731520" y="5852160"/>
            <a:ext cx="5486400" cy="411480"/>
          </a:xfrm>
          <a:prstGeom prst="rect">
            <a:avLst/>
          </a:prstGeom>
          <a:noFill/>
          <a:ln/>
        </p:spPr>
        <p:txBody>
          <a:bodyPr wrap="square" lIns="0" tIns="0" rIns="0" bIns="0" rtlCol="0" anchor="t"/>
          <a:lstStyle/>
          <a:p>
            <a:pPr indent="0" marL="0">
              <a:buNone/>
            </a:pPr>
            <a:r>
              <a:rPr lang="en-US" sz="1050" dirty="0">
                <a:solidFill>
                  <a:schemeClr val="accent4"/>
                </a:solidFill>
                <a:latin typeface="Segoe UI" pitchFamily="34" charset="0"/>
                <a:ea typeface="Segoe UI" pitchFamily="34" charset="-122"/>
                <a:cs typeface="Segoe UI" pitchFamily="34" charset="-120"/>
              </a:rPr>
              <a:t>Indicative evaluation: 6 identities, same source photo for enrollment and test, all degraded conditions combined.</a:t>
            </a:r>
            <a:endParaRPr lang="en-US" sz="1050" dirty="0"/>
          </a:p>
        </p:txBody>
      </p:sp>
      <p:sp>
        <p:nvSpPr>
          <p:cNvPr id="25" name="Slide Number Placeholder 0"/>
          <p:cNvSpPr>
            <a:spLocks noGrp="1"/>
          </p:cNvSpPr>
          <p:nvPr>
            <p:ph type="sldNum" sz="quarter" idx="4294967295"/>
          </p:nvPr>
        </p:nvSpPr>
        <p:spPr>
          <a:xfrm>
            <a:off x="10911535" y="6400800"/>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6E645B"/>
                </a:solidFill>
                <a:latin typeface="Segoe UI Semibold"/>
                <a:ea typeface="Segoe UI Semibold"/>
                <a:cs typeface="Segoe UI Semibold"/>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731520" y="457200"/>
            <a:ext cx="8229600" cy="274320"/>
          </a:xfrm>
          <a:prstGeom prst="rect">
            <a:avLst/>
          </a:prstGeom>
          <a:noFill/>
          <a:ln/>
        </p:spPr>
        <p:txBody>
          <a:bodyPr wrap="square" lIns="0" tIns="0" rIns="0" bIns="0" rtlCol="0" anchor="t"/>
          <a:lstStyle/>
          <a:p>
            <a:pPr indent="0" marL="0">
              <a:buNone/>
            </a:pPr>
            <a:r>
              <a:rPr lang="en-US" sz="1050" spc="300" kern="0" dirty="0">
                <a:solidFill>
                  <a:srgbClr val="D2B57A"/>
                </a:solidFill>
                <a:latin typeface="Segoe UI Semibold" pitchFamily="34" charset="0"/>
                <a:ea typeface="Segoe UI Semibold" pitchFamily="34" charset="-122"/>
                <a:cs typeface="Segoe UI Semibold" pitchFamily="34" charset="-120"/>
              </a:rPr>
              <a:t>LIVE DEMO</a:t>
            </a:r>
            <a:endParaRPr lang="en-US" sz="1050" dirty="0"/>
          </a:p>
        </p:txBody>
      </p:sp>
      <p:sp>
        <p:nvSpPr>
          <p:cNvPr id="3" name="Text 0"/>
          <p:cNvSpPr/>
          <p:nvPr>
            <p:ph idx="101" type="title" hasCustomPrompt="1"/>
          </p:nvPr>
        </p:nvSpPr>
        <p:spPr>
          <a:xfrm>
            <a:off x="731520" y="749808"/>
            <a:ext cx="10728655" cy="731520"/>
          </a:xfrm>
          <a:prstGeom prst="rect">
            <a:avLst/>
          </a:prstGeom>
          <a:noFill/>
          <a:ln/>
        </p:spPr>
        <p:txBody>
          <a:bodyPr wrap="square" lIns="0" tIns="0" rIns="0" bIns="0" rtlCol="0" anchor="t"/>
          <a:lstStyle/>
          <a:p>
            <a:pPr algn="l" indent="0" marL="0">
              <a:buNone/>
            </a:pPr>
            <a:r>
              <a:rPr lang="en-US" sz="2800" dirty="0">
                <a:solidFill>
                  <a:srgbClr val="F5EFE6"/>
                </a:solidFill>
                <a:latin typeface="Georgia" pitchFamily="34" charset="0"/>
                <a:ea typeface="Georgia" pitchFamily="34" charset="-122"/>
                <a:cs typeface="Georgia" pitchFamily="34" charset="-120"/>
              </a:rPr>
              <a:t>From sign-up to welcome in four minutes</a:t>
            </a:r>
            <a:endParaRPr lang="en-US" sz="2800" dirty="0"/>
          </a:p>
        </p:txBody>
      </p:sp>
      <p:sp>
        <p:nvSpPr>
          <p:cNvPr id="4" name="ligne-temps"/>
          <p:cNvSpPr/>
          <p:nvPr/>
        </p:nvSpPr>
        <p:spPr>
          <a:xfrm>
            <a:off x="1920240" y="1874520"/>
            <a:ext cx="0" cy="3657600"/>
          </a:xfrm>
          <a:prstGeom prst="line">
            <a:avLst/>
          </a:prstGeom>
          <a:noFill/>
          <a:ln w="15875">
            <a:solidFill>
              <a:srgbClr val="3D342D"/>
            </a:solidFill>
            <a:prstDash val="solid"/>
          </a:ln>
        </p:spPr>
      </p:sp>
      <p:sp>
        <p:nvSpPr>
          <p:cNvPr id="5" name="Text 3"/>
          <p:cNvSpPr txBox="1"/>
          <p:nvPr/>
        </p:nvSpPr>
        <p:spPr>
          <a:xfrm>
            <a:off x="731520" y="1682496"/>
            <a:ext cx="960120" cy="411480"/>
          </a:xfrm>
          <a:prstGeom prst="rect">
            <a:avLst/>
          </a:prstGeom>
          <a:noFill/>
          <a:ln/>
        </p:spPr>
        <p:txBody>
          <a:bodyPr wrap="square" lIns="0" tIns="0" rIns="0" bIns="0" rtlCol="0" anchor="t"/>
          <a:lstStyle/>
          <a:p>
            <a:pPr algn="r" indent="0" marL="0">
              <a:buNone/>
            </a:pPr>
            <a:r>
              <a:rPr lang="en-US" sz="2600" dirty="0">
                <a:solidFill>
                  <a:srgbClr val="D2B57A"/>
                </a:solidFill>
                <a:latin typeface="Bodoni MT" pitchFamily="34" charset="0"/>
                <a:ea typeface="Bodoni MT" pitchFamily="34" charset="-122"/>
                <a:cs typeface="Bodoni MT" pitchFamily="34" charset="-120"/>
              </a:rPr>
              <a:t>0:00</a:t>
            </a:r>
            <a:endParaRPr lang="en-US" sz="2600" dirty="0"/>
          </a:p>
        </p:txBody>
      </p:sp>
      <p:sp>
        <p:nvSpPr>
          <p:cNvPr id="6" name="etape-0"/>
          <p:cNvSpPr/>
          <p:nvPr/>
        </p:nvSpPr>
        <p:spPr>
          <a:xfrm>
            <a:off x="1856232" y="1828800"/>
            <a:ext cx="128016" cy="128016"/>
          </a:xfrm>
          <a:prstGeom prst="ellipse">
            <a:avLst/>
          </a:prstGeom>
          <a:solidFill>
            <a:srgbClr val="D2B57A"/>
          </a:solidFill>
          <a:ln w="19050">
            <a:solidFill>
              <a:srgbClr val="14110F"/>
            </a:solidFill>
            <a:prstDash val="solid"/>
          </a:ln>
        </p:spPr>
      </p:sp>
      <p:sp>
        <p:nvSpPr>
          <p:cNvPr id="7" name="Text 5"/>
          <p:cNvSpPr txBox="1"/>
          <p:nvPr/>
        </p:nvSpPr>
        <p:spPr>
          <a:xfrm>
            <a:off x="2240280" y="1737360"/>
            <a:ext cx="5120640" cy="320040"/>
          </a:xfrm>
          <a:prstGeom prst="rect">
            <a:avLst/>
          </a:prstGeom>
          <a:noFill/>
          <a:ln/>
        </p:spPr>
        <p:txBody>
          <a:bodyPr wrap="square" lIns="0" tIns="0" rIns="0" bIns="0" rtlCol="0" anchor="t"/>
          <a:lstStyle/>
          <a:p>
            <a:pPr indent="0" marL="0">
              <a:buNone/>
            </a:pPr>
            <a:r>
              <a:rPr lang="en-US" sz="1700" dirty="0">
                <a:solidFill>
                  <a:srgbClr val="F5EFE6"/>
                </a:solidFill>
                <a:latin typeface="Segoe UI Semibold" pitchFamily="34" charset="0"/>
                <a:ea typeface="Segoe UI Semibold" pitchFamily="34" charset="-122"/>
                <a:cs typeface="Segoe UI Semibold" pitchFamily="34" charset="-120"/>
              </a:rPr>
              <a:t>Sign up a client</a:t>
            </a:r>
            <a:endParaRPr lang="en-US" sz="1700" dirty="0"/>
          </a:p>
        </p:txBody>
      </p:sp>
      <p:sp>
        <p:nvSpPr>
          <p:cNvPr id="8" name="Text 6"/>
          <p:cNvSpPr txBox="1"/>
          <p:nvPr/>
        </p:nvSpPr>
        <p:spPr>
          <a:xfrm>
            <a:off x="2240280" y="2075688"/>
            <a:ext cx="5120640" cy="502920"/>
          </a:xfrm>
          <a:prstGeom prst="rect">
            <a:avLst/>
          </a:prstGeom>
          <a:noFill/>
          <a:ln/>
        </p:spPr>
        <p:txBody>
          <a:bodyPr wrap="square" lIns="0" tIns="0" rIns="0" bIns="0" rtlCol="0" anchor="t"/>
          <a:lstStyle/>
          <a:p>
            <a:pPr indent="0" marL="0">
              <a:buNone/>
            </a:pPr>
            <a:r>
              <a:rPr lang="en-US" sz="1250" dirty="0">
                <a:solidFill>
                  <a:srgbClr val="B3A797"/>
                </a:solidFill>
                <a:latin typeface="Segoe UI" pitchFamily="34" charset="0"/>
                <a:ea typeface="Segoe UI" pitchFamily="34" charset="-122"/>
                <a:cs typeface="Segoe UI" pitchFamily="34" charset="-120"/>
              </a:rPr>
              <a:t>Clients page: the person types J'ACCEPTE, then 25 images are captured across 5 poses.</a:t>
            </a:r>
            <a:endParaRPr lang="en-US" sz="1250" dirty="0"/>
          </a:p>
        </p:txBody>
      </p:sp>
      <p:sp>
        <p:nvSpPr>
          <p:cNvPr id="9" name="Text 7"/>
          <p:cNvSpPr txBox="1"/>
          <p:nvPr/>
        </p:nvSpPr>
        <p:spPr>
          <a:xfrm>
            <a:off x="731520" y="2596896"/>
            <a:ext cx="960120" cy="411480"/>
          </a:xfrm>
          <a:prstGeom prst="rect">
            <a:avLst/>
          </a:prstGeom>
          <a:noFill/>
          <a:ln/>
        </p:spPr>
        <p:txBody>
          <a:bodyPr wrap="square" lIns="0" tIns="0" rIns="0" bIns="0" rtlCol="0" anchor="t"/>
          <a:lstStyle/>
          <a:p>
            <a:pPr algn="r" indent="0" marL="0">
              <a:buNone/>
            </a:pPr>
            <a:r>
              <a:rPr lang="en-US" sz="2600" dirty="0">
                <a:solidFill>
                  <a:srgbClr val="D2B57A"/>
                </a:solidFill>
                <a:latin typeface="Bodoni MT" pitchFamily="34" charset="0"/>
                <a:ea typeface="Bodoni MT" pitchFamily="34" charset="-122"/>
                <a:cs typeface="Bodoni MT" pitchFamily="34" charset="-120"/>
              </a:rPr>
              <a:t>1:15</a:t>
            </a:r>
            <a:endParaRPr lang="en-US" sz="2600" dirty="0"/>
          </a:p>
        </p:txBody>
      </p:sp>
      <p:sp>
        <p:nvSpPr>
          <p:cNvPr id="10" name="etape-1"/>
          <p:cNvSpPr/>
          <p:nvPr/>
        </p:nvSpPr>
        <p:spPr>
          <a:xfrm>
            <a:off x="1856232" y="2743200"/>
            <a:ext cx="128016" cy="128016"/>
          </a:xfrm>
          <a:prstGeom prst="ellipse">
            <a:avLst/>
          </a:prstGeom>
          <a:solidFill>
            <a:srgbClr val="D2B57A"/>
          </a:solidFill>
          <a:ln w="19050">
            <a:solidFill>
              <a:srgbClr val="14110F"/>
            </a:solidFill>
            <a:prstDash val="solid"/>
          </a:ln>
        </p:spPr>
      </p:sp>
      <p:sp>
        <p:nvSpPr>
          <p:cNvPr id="11" name="Text 9"/>
          <p:cNvSpPr txBox="1"/>
          <p:nvPr/>
        </p:nvSpPr>
        <p:spPr>
          <a:xfrm>
            <a:off x="2240280" y="2651760"/>
            <a:ext cx="5120640" cy="320040"/>
          </a:xfrm>
          <a:prstGeom prst="rect">
            <a:avLst/>
          </a:prstGeom>
          <a:noFill/>
          <a:ln/>
        </p:spPr>
        <p:txBody>
          <a:bodyPr wrap="square" lIns="0" tIns="0" rIns="0" bIns="0" rtlCol="0" anchor="t"/>
          <a:lstStyle/>
          <a:p>
            <a:pPr indent="0" marL="0">
              <a:buNone/>
            </a:pPr>
            <a:r>
              <a:rPr lang="en-US" sz="1700" dirty="0">
                <a:solidFill>
                  <a:srgbClr val="F5EFE6"/>
                </a:solidFill>
                <a:latin typeface="Segoe UI Semibold" pitchFamily="34" charset="0"/>
                <a:ea typeface="Segoe UI Semibold" pitchFamily="34" charset="-122"/>
                <a:cs typeface="Segoe UI Semibold" pitchFamily="34" charset="-120"/>
              </a:rPr>
              <a:t>Fill in the card</a:t>
            </a:r>
            <a:endParaRPr lang="en-US" sz="1700" dirty="0"/>
          </a:p>
        </p:txBody>
      </p:sp>
      <p:sp>
        <p:nvSpPr>
          <p:cNvPr id="12" name="Text 10"/>
          <p:cNvSpPr txBox="1"/>
          <p:nvPr/>
        </p:nvSpPr>
        <p:spPr>
          <a:xfrm>
            <a:off x="2240280" y="2990088"/>
            <a:ext cx="5120640" cy="502920"/>
          </a:xfrm>
          <a:prstGeom prst="rect">
            <a:avLst/>
          </a:prstGeom>
          <a:noFill/>
          <a:ln/>
        </p:spPr>
        <p:txBody>
          <a:bodyPr wrap="square" lIns="0" tIns="0" rIns="0" bIns="0" rtlCol="0" anchor="t"/>
          <a:lstStyle/>
          <a:p>
            <a:pPr indent="0" marL="0">
              <a:buNone/>
            </a:pPr>
            <a:r>
              <a:rPr lang="en-US" sz="1250" dirty="0">
                <a:solidFill>
                  <a:srgbClr val="B3A797"/>
                </a:solidFill>
                <a:latin typeface="Segoe UI" pitchFamily="34" charset="0"/>
                <a:ea typeface="Segoe UI" pitchFamily="34" charset="-122"/>
                <a:cs typeface="Segoe UI" pitchFamily="34" charset="-120"/>
              </a:rPr>
              <a:t>Drink, sugar, milk, style, recent purchases, next appointment.</a:t>
            </a:r>
            <a:endParaRPr lang="en-US" sz="1250" dirty="0"/>
          </a:p>
        </p:txBody>
      </p:sp>
      <p:sp>
        <p:nvSpPr>
          <p:cNvPr id="13" name="Text 11"/>
          <p:cNvSpPr txBox="1"/>
          <p:nvPr/>
        </p:nvSpPr>
        <p:spPr>
          <a:xfrm>
            <a:off x="731520" y="3511296"/>
            <a:ext cx="960120" cy="411480"/>
          </a:xfrm>
          <a:prstGeom prst="rect">
            <a:avLst/>
          </a:prstGeom>
          <a:noFill/>
          <a:ln/>
        </p:spPr>
        <p:txBody>
          <a:bodyPr wrap="square" lIns="0" tIns="0" rIns="0" bIns="0" rtlCol="0" anchor="t"/>
          <a:lstStyle/>
          <a:p>
            <a:pPr algn="r" indent="0" marL="0">
              <a:buNone/>
            </a:pPr>
            <a:r>
              <a:rPr lang="en-US" sz="2600" dirty="0">
                <a:solidFill>
                  <a:srgbClr val="D2B57A"/>
                </a:solidFill>
                <a:latin typeface="Bodoni MT" pitchFamily="34" charset="0"/>
                <a:ea typeface="Bodoni MT" pitchFamily="34" charset="-122"/>
                <a:cs typeface="Bodoni MT" pitchFamily="34" charset="-120"/>
              </a:rPr>
              <a:t>2:15</a:t>
            </a:r>
            <a:endParaRPr lang="en-US" sz="2600" dirty="0"/>
          </a:p>
        </p:txBody>
      </p:sp>
      <p:sp>
        <p:nvSpPr>
          <p:cNvPr id="14" name="etape-2"/>
          <p:cNvSpPr/>
          <p:nvPr/>
        </p:nvSpPr>
        <p:spPr>
          <a:xfrm>
            <a:off x="1856232" y="3657600"/>
            <a:ext cx="128016" cy="128016"/>
          </a:xfrm>
          <a:prstGeom prst="ellipse">
            <a:avLst/>
          </a:prstGeom>
          <a:solidFill>
            <a:srgbClr val="D2B57A"/>
          </a:solidFill>
          <a:ln w="19050">
            <a:solidFill>
              <a:srgbClr val="14110F"/>
            </a:solidFill>
            <a:prstDash val="solid"/>
          </a:ln>
        </p:spPr>
      </p:sp>
      <p:sp>
        <p:nvSpPr>
          <p:cNvPr id="15" name="Text 13"/>
          <p:cNvSpPr txBox="1"/>
          <p:nvPr/>
        </p:nvSpPr>
        <p:spPr>
          <a:xfrm>
            <a:off x="2240280" y="3566160"/>
            <a:ext cx="5120640" cy="320040"/>
          </a:xfrm>
          <a:prstGeom prst="rect">
            <a:avLst/>
          </a:prstGeom>
          <a:noFill/>
          <a:ln/>
        </p:spPr>
        <p:txBody>
          <a:bodyPr wrap="square" lIns="0" tIns="0" rIns="0" bIns="0" rtlCol="0" anchor="t"/>
          <a:lstStyle/>
          <a:p>
            <a:pPr indent="0" marL="0">
              <a:buNone/>
            </a:pPr>
            <a:r>
              <a:rPr lang="en-US" sz="1700" dirty="0">
                <a:solidFill>
                  <a:srgbClr val="F5EFE6"/>
                </a:solidFill>
                <a:latin typeface="Segoe UI Semibold" pitchFamily="34" charset="0"/>
                <a:ea typeface="Segoe UI Semibold" pitchFamily="34" charset="-122"/>
                <a:cs typeface="Segoe UI Semibold" pitchFamily="34" charset="-120"/>
              </a:rPr>
              <a:t>Recognize them</a:t>
            </a:r>
            <a:endParaRPr lang="en-US" sz="1700" dirty="0"/>
          </a:p>
        </p:txBody>
      </p:sp>
      <p:sp>
        <p:nvSpPr>
          <p:cNvPr id="16" name="Text 14"/>
          <p:cNvSpPr txBox="1"/>
          <p:nvPr/>
        </p:nvSpPr>
        <p:spPr>
          <a:xfrm>
            <a:off x="2240280" y="3904488"/>
            <a:ext cx="5120640" cy="502920"/>
          </a:xfrm>
          <a:prstGeom prst="rect">
            <a:avLst/>
          </a:prstGeom>
          <a:noFill/>
          <a:ln/>
        </p:spPr>
        <p:txBody>
          <a:bodyPr wrap="square" lIns="0" tIns="0" rIns="0" bIns="0" rtlCol="0" anchor="t"/>
          <a:lstStyle/>
          <a:p>
            <a:pPr indent="0" marL="0">
              <a:buNone/>
            </a:pPr>
            <a:r>
              <a:rPr lang="en-US" sz="1250" dirty="0">
                <a:solidFill>
                  <a:srgbClr val="B3A797"/>
                </a:solidFill>
                <a:latin typeface="Segoe UI" pitchFamily="34" charset="0"/>
                <a:ea typeface="Segoe UI" pitchFamily="34" charset="-122"/>
                <a:cs typeface="Segoe UI" pitchFamily="34" charset="-120"/>
              </a:rPr>
              <a:t>Recognition page: the person steps in and the card appears. Another team member stays “Inconnu”.</a:t>
            </a:r>
            <a:endParaRPr lang="en-US" sz="1250" dirty="0"/>
          </a:p>
        </p:txBody>
      </p:sp>
      <p:sp>
        <p:nvSpPr>
          <p:cNvPr id="17" name="Text 15"/>
          <p:cNvSpPr txBox="1"/>
          <p:nvPr/>
        </p:nvSpPr>
        <p:spPr>
          <a:xfrm>
            <a:off x="731520" y="4425696"/>
            <a:ext cx="960120" cy="411480"/>
          </a:xfrm>
          <a:prstGeom prst="rect">
            <a:avLst/>
          </a:prstGeom>
          <a:noFill/>
          <a:ln/>
        </p:spPr>
        <p:txBody>
          <a:bodyPr wrap="square" lIns="0" tIns="0" rIns="0" bIns="0" rtlCol="0" anchor="t"/>
          <a:lstStyle/>
          <a:p>
            <a:pPr algn="r" indent="0" marL="0">
              <a:buNone/>
            </a:pPr>
            <a:r>
              <a:rPr lang="en-US" sz="2600" dirty="0">
                <a:solidFill>
                  <a:srgbClr val="D2B57A"/>
                </a:solidFill>
                <a:latin typeface="Bodoni MT" pitchFamily="34" charset="0"/>
                <a:ea typeface="Bodoni MT" pitchFamily="34" charset="-122"/>
                <a:cs typeface="Bodoni MT" pitchFamily="34" charset="-120"/>
              </a:rPr>
              <a:t>3:15</a:t>
            </a:r>
            <a:endParaRPr lang="en-US" sz="2600" dirty="0"/>
          </a:p>
        </p:txBody>
      </p:sp>
      <p:sp>
        <p:nvSpPr>
          <p:cNvPr id="18" name="etape-3"/>
          <p:cNvSpPr/>
          <p:nvPr/>
        </p:nvSpPr>
        <p:spPr>
          <a:xfrm>
            <a:off x="1856232" y="4572000"/>
            <a:ext cx="128016" cy="128016"/>
          </a:xfrm>
          <a:prstGeom prst="ellipse">
            <a:avLst/>
          </a:prstGeom>
          <a:solidFill>
            <a:srgbClr val="D2B57A"/>
          </a:solidFill>
          <a:ln w="19050">
            <a:solidFill>
              <a:srgbClr val="14110F"/>
            </a:solidFill>
            <a:prstDash val="solid"/>
          </a:ln>
        </p:spPr>
      </p:sp>
      <p:sp>
        <p:nvSpPr>
          <p:cNvPr id="19" name="Text 17"/>
          <p:cNvSpPr txBox="1"/>
          <p:nvPr/>
        </p:nvSpPr>
        <p:spPr>
          <a:xfrm>
            <a:off x="2240280" y="4480560"/>
            <a:ext cx="5120640" cy="320040"/>
          </a:xfrm>
          <a:prstGeom prst="rect">
            <a:avLst/>
          </a:prstGeom>
          <a:noFill/>
          <a:ln/>
        </p:spPr>
        <p:txBody>
          <a:bodyPr wrap="square" lIns="0" tIns="0" rIns="0" bIns="0" rtlCol="0" anchor="t"/>
          <a:lstStyle/>
          <a:p>
            <a:pPr indent="0" marL="0">
              <a:buNone/>
            </a:pPr>
            <a:r>
              <a:rPr lang="en-US" sz="1700" dirty="0">
                <a:solidFill>
                  <a:srgbClr val="F5EFE6"/>
                </a:solidFill>
                <a:latin typeface="Segoe UI Semibold" pitchFamily="34" charset="0"/>
                <a:ea typeface="Segoe UI Semibold" pitchFamily="34" charset="-122"/>
                <a:cs typeface="Segoe UI Semibold" pitchFamily="34" charset="-120"/>
              </a:rPr>
              <a:t>Read the indicators</a:t>
            </a:r>
            <a:endParaRPr lang="en-US" sz="1700" dirty="0"/>
          </a:p>
        </p:txBody>
      </p:sp>
      <p:sp>
        <p:nvSpPr>
          <p:cNvPr id="20" name="Text 18"/>
          <p:cNvSpPr txBox="1"/>
          <p:nvPr/>
        </p:nvSpPr>
        <p:spPr>
          <a:xfrm>
            <a:off x="2240280" y="4818888"/>
            <a:ext cx="5120640" cy="502920"/>
          </a:xfrm>
          <a:prstGeom prst="rect">
            <a:avLst/>
          </a:prstGeom>
          <a:noFill/>
          <a:ln/>
        </p:spPr>
        <p:txBody>
          <a:bodyPr wrap="square" lIns="0" tIns="0" rIns="0" bIns="0" rtlCol="0" anchor="t"/>
          <a:lstStyle/>
          <a:p>
            <a:pPr indent="0" marL="0">
              <a:buNone/>
            </a:pPr>
            <a:r>
              <a:rPr lang="en-US" sz="1250" dirty="0">
                <a:solidFill>
                  <a:srgbClr val="B3A797"/>
                </a:solidFill>
                <a:latin typeface="Segoe UI" pitchFamily="34" charset="0"/>
                <a:ea typeface="Segoe UI" pitchFamily="34" charset="-122"/>
                <a:cs typeface="Segoe UI" pitchFamily="34" charset="-120"/>
              </a:rPr>
              <a:t>Delay, time per stage, enrollment quality.</a:t>
            </a:r>
            <a:endParaRPr lang="en-US" sz="1250" dirty="0"/>
          </a:p>
        </p:txBody>
      </p:sp>
      <p:sp>
        <p:nvSpPr>
          <p:cNvPr id="21" name="Text 19"/>
          <p:cNvSpPr txBox="1"/>
          <p:nvPr/>
        </p:nvSpPr>
        <p:spPr>
          <a:xfrm>
            <a:off x="731520" y="5340096"/>
            <a:ext cx="960120" cy="411480"/>
          </a:xfrm>
          <a:prstGeom prst="rect">
            <a:avLst/>
          </a:prstGeom>
          <a:noFill/>
          <a:ln/>
        </p:spPr>
        <p:txBody>
          <a:bodyPr wrap="square" lIns="0" tIns="0" rIns="0" bIns="0" rtlCol="0" anchor="t"/>
          <a:lstStyle/>
          <a:p>
            <a:pPr algn="r" indent="0" marL="0">
              <a:buNone/>
            </a:pPr>
            <a:r>
              <a:rPr lang="en-US" sz="2600" dirty="0">
                <a:solidFill>
                  <a:srgbClr val="D2B57A"/>
                </a:solidFill>
                <a:latin typeface="Bodoni MT" pitchFamily="34" charset="0"/>
                <a:ea typeface="Bodoni MT" pitchFamily="34" charset="-122"/>
                <a:cs typeface="Bodoni MT" pitchFamily="34" charset="-120"/>
              </a:rPr>
              <a:t>4:00</a:t>
            </a:r>
            <a:endParaRPr lang="en-US" sz="2600" dirty="0"/>
          </a:p>
        </p:txBody>
      </p:sp>
      <p:sp>
        <p:nvSpPr>
          <p:cNvPr id="22" name="etape-4"/>
          <p:cNvSpPr/>
          <p:nvPr/>
        </p:nvSpPr>
        <p:spPr>
          <a:xfrm>
            <a:off x="1856232" y="5486400"/>
            <a:ext cx="128016" cy="128016"/>
          </a:xfrm>
          <a:prstGeom prst="ellipse">
            <a:avLst/>
          </a:prstGeom>
          <a:solidFill>
            <a:srgbClr val="D2B57A"/>
          </a:solidFill>
          <a:ln w="19050">
            <a:solidFill>
              <a:srgbClr val="14110F"/>
            </a:solidFill>
            <a:prstDash val="solid"/>
          </a:ln>
        </p:spPr>
      </p:sp>
      <p:sp>
        <p:nvSpPr>
          <p:cNvPr id="23" name="Text 21"/>
          <p:cNvSpPr txBox="1"/>
          <p:nvPr/>
        </p:nvSpPr>
        <p:spPr>
          <a:xfrm>
            <a:off x="2240280" y="5394960"/>
            <a:ext cx="5120640" cy="320040"/>
          </a:xfrm>
          <a:prstGeom prst="rect">
            <a:avLst/>
          </a:prstGeom>
          <a:noFill/>
          <a:ln/>
        </p:spPr>
        <p:txBody>
          <a:bodyPr wrap="square" lIns="0" tIns="0" rIns="0" bIns="0" rtlCol="0" anchor="t"/>
          <a:lstStyle/>
          <a:p>
            <a:pPr indent="0" marL="0">
              <a:buNone/>
            </a:pPr>
            <a:r>
              <a:rPr lang="en-US" sz="1700" dirty="0">
                <a:solidFill>
                  <a:srgbClr val="F5EFE6"/>
                </a:solidFill>
                <a:latin typeface="Segoe UI Semibold" pitchFamily="34" charset="0"/>
                <a:ea typeface="Segoe UI Semibold" pitchFamily="34" charset="-122"/>
                <a:cs typeface="Segoe UI Semibold" pitchFamily="34" charset="-120"/>
              </a:rPr>
              <a:t>Questions</a:t>
            </a:r>
            <a:endParaRPr lang="en-US" sz="1700" dirty="0"/>
          </a:p>
        </p:txBody>
      </p:sp>
      <p:sp>
        <p:nvSpPr>
          <p:cNvPr id="24" name="qr-fond"/>
          <p:cNvSpPr/>
          <p:nvPr/>
        </p:nvSpPr>
        <p:spPr>
          <a:xfrm>
            <a:off x="8915400" y="1965960"/>
            <a:ext cx="1920240" cy="1920240"/>
          </a:xfrm>
          <a:prstGeom prst="rect">
            <a:avLst/>
          </a:prstGeom>
          <a:solidFill>
            <a:srgbClr val="FFFFFF"/>
          </a:solidFill>
          <a:ln w="12700">
            <a:solidFill>
              <a:srgbClr val="FFFFFF"/>
            </a:solidFill>
            <a:prstDash val="solid"/>
          </a:ln>
        </p:spPr>
      </p:sp>
      <p:pic>
        <p:nvPicPr>
          <p:cNvPr id="25" name="qr-demo" descr="QR code to the live demo">    </p:cNvPr>
          <p:cNvPicPr>
            <a:picLocks noChangeAspect="1"/>
          </p:cNvPicPr>
          <p:nvPr/>
        </p:nvPicPr>
        <p:blipFill>
          <a:blip r:embed="rId1"/>
          <a:stretch>
            <a:fillRect/>
          </a:stretch>
        </p:blipFill>
        <p:spPr>
          <a:xfrm>
            <a:off x="9006840" y="2057400"/>
            <a:ext cx="1737360" cy="1737360"/>
          </a:xfrm>
          <a:prstGeom prst="rect">
            <a:avLst/>
          </a:prstGeom>
        </p:spPr>
      </p:pic>
      <p:sp>
        <p:nvSpPr>
          <p:cNvPr id="26" name="cadre-qr-coin-1"/>
          <p:cNvSpPr/>
          <p:nvPr/>
        </p:nvSpPr>
        <p:spPr>
          <a:xfrm>
            <a:off x="8750808" y="1801368"/>
            <a:ext cx="292608" cy="32004"/>
          </a:xfrm>
          <a:prstGeom prst="rect">
            <a:avLst/>
          </a:prstGeom>
          <a:solidFill>
            <a:schemeClr val="accent2"/>
          </a:solidFill>
          <a:ln w="12700">
            <a:solidFill>
              <a:schemeClr val="accent2"/>
            </a:solidFill>
            <a:prstDash val="solid"/>
          </a:ln>
        </p:spPr>
      </p:sp>
      <p:sp>
        <p:nvSpPr>
          <p:cNvPr id="27" name="cadre-qr-coin-2"/>
          <p:cNvSpPr/>
          <p:nvPr/>
        </p:nvSpPr>
        <p:spPr>
          <a:xfrm>
            <a:off x="8750808" y="1801368"/>
            <a:ext cx="32004" cy="292608"/>
          </a:xfrm>
          <a:prstGeom prst="rect">
            <a:avLst/>
          </a:prstGeom>
          <a:solidFill>
            <a:schemeClr val="accent2"/>
          </a:solidFill>
          <a:ln w="12700">
            <a:solidFill>
              <a:schemeClr val="accent2"/>
            </a:solidFill>
            <a:prstDash val="solid"/>
          </a:ln>
        </p:spPr>
      </p:sp>
      <p:sp>
        <p:nvSpPr>
          <p:cNvPr id="28" name="cadre-qr-coin-3"/>
          <p:cNvSpPr/>
          <p:nvPr/>
        </p:nvSpPr>
        <p:spPr>
          <a:xfrm>
            <a:off x="10707624" y="1801368"/>
            <a:ext cx="292608" cy="32004"/>
          </a:xfrm>
          <a:prstGeom prst="rect">
            <a:avLst/>
          </a:prstGeom>
          <a:solidFill>
            <a:schemeClr val="accent2"/>
          </a:solidFill>
          <a:ln w="12700">
            <a:solidFill>
              <a:schemeClr val="accent2"/>
            </a:solidFill>
            <a:prstDash val="solid"/>
          </a:ln>
        </p:spPr>
      </p:sp>
      <p:sp>
        <p:nvSpPr>
          <p:cNvPr id="29" name="cadre-qr-coin-4"/>
          <p:cNvSpPr/>
          <p:nvPr/>
        </p:nvSpPr>
        <p:spPr>
          <a:xfrm>
            <a:off x="10968228" y="1801368"/>
            <a:ext cx="32004" cy="292608"/>
          </a:xfrm>
          <a:prstGeom prst="rect">
            <a:avLst/>
          </a:prstGeom>
          <a:solidFill>
            <a:schemeClr val="accent2"/>
          </a:solidFill>
          <a:ln w="12700">
            <a:solidFill>
              <a:schemeClr val="accent2"/>
            </a:solidFill>
            <a:prstDash val="solid"/>
          </a:ln>
        </p:spPr>
      </p:sp>
      <p:sp>
        <p:nvSpPr>
          <p:cNvPr id="30" name="cadre-qr-coin-5"/>
          <p:cNvSpPr/>
          <p:nvPr/>
        </p:nvSpPr>
        <p:spPr>
          <a:xfrm>
            <a:off x="8750808" y="4018788"/>
            <a:ext cx="292608" cy="32004"/>
          </a:xfrm>
          <a:prstGeom prst="rect">
            <a:avLst/>
          </a:prstGeom>
          <a:solidFill>
            <a:schemeClr val="accent2"/>
          </a:solidFill>
          <a:ln w="12700">
            <a:solidFill>
              <a:schemeClr val="accent2"/>
            </a:solidFill>
            <a:prstDash val="solid"/>
          </a:ln>
        </p:spPr>
      </p:sp>
      <p:sp>
        <p:nvSpPr>
          <p:cNvPr id="31" name="cadre-qr-coin-6"/>
          <p:cNvSpPr/>
          <p:nvPr/>
        </p:nvSpPr>
        <p:spPr>
          <a:xfrm>
            <a:off x="8750808" y="3758184"/>
            <a:ext cx="32004" cy="292608"/>
          </a:xfrm>
          <a:prstGeom prst="rect">
            <a:avLst/>
          </a:prstGeom>
          <a:solidFill>
            <a:schemeClr val="accent2"/>
          </a:solidFill>
          <a:ln w="12700">
            <a:solidFill>
              <a:schemeClr val="accent2"/>
            </a:solidFill>
            <a:prstDash val="solid"/>
          </a:ln>
        </p:spPr>
      </p:sp>
      <p:sp>
        <p:nvSpPr>
          <p:cNvPr id="32" name="cadre-qr-coin-7"/>
          <p:cNvSpPr/>
          <p:nvPr/>
        </p:nvSpPr>
        <p:spPr>
          <a:xfrm>
            <a:off x="10707624" y="4018788"/>
            <a:ext cx="292608" cy="32004"/>
          </a:xfrm>
          <a:prstGeom prst="rect">
            <a:avLst/>
          </a:prstGeom>
          <a:solidFill>
            <a:schemeClr val="accent2"/>
          </a:solidFill>
          <a:ln w="12700">
            <a:solidFill>
              <a:schemeClr val="accent2"/>
            </a:solidFill>
            <a:prstDash val="solid"/>
          </a:ln>
        </p:spPr>
      </p:sp>
      <p:sp>
        <p:nvSpPr>
          <p:cNvPr id="33" name="cadre-qr-coin-8"/>
          <p:cNvSpPr/>
          <p:nvPr/>
        </p:nvSpPr>
        <p:spPr>
          <a:xfrm>
            <a:off x="10968228" y="3758184"/>
            <a:ext cx="32004" cy="292608"/>
          </a:xfrm>
          <a:prstGeom prst="rect">
            <a:avLst/>
          </a:prstGeom>
          <a:solidFill>
            <a:schemeClr val="accent2"/>
          </a:solidFill>
          <a:ln w="12700">
            <a:solidFill>
              <a:schemeClr val="accent2"/>
            </a:solidFill>
            <a:prstDash val="solid"/>
          </a:ln>
        </p:spPr>
      </p:sp>
      <p:sp>
        <p:nvSpPr>
          <p:cNvPr id="34" name="cadre-qr-etiquette-fond"/>
          <p:cNvSpPr/>
          <p:nvPr/>
        </p:nvSpPr>
        <p:spPr>
          <a:xfrm>
            <a:off x="8750808" y="1508760"/>
            <a:ext cx="722376" cy="292608"/>
          </a:xfrm>
          <a:prstGeom prst="rect">
            <a:avLst/>
          </a:prstGeom>
          <a:solidFill>
            <a:schemeClr val="accent2"/>
          </a:solidFill>
          <a:ln w="12700">
            <a:solidFill>
              <a:schemeClr val="accent2"/>
            </a:solidFill>
            <a:prstDash val="solid"/>
          </a:ln>
        </p:spPr>
      </p:sp>
      <p:sp>
        <p:nvSpPr>
          <p:cNvPr id="35" name="cadre-qr-etiquette"/>
          <p:cNvSpPr txBox="1"/>
          <p:nvPr/>
        </p:nvSpPr>
        <p:spPr>
          <a:xfrm>
            <a:off x="8750808" y="1508760"/>
            <a:ext cx="722376" cy="292608"/>
          </a:xfrm>
          <a:prstGeom prst="rect">
            <a:avLst/>
          </a:prstGeom>
          <a:no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Try it</a:t>
            </a:r>
            <a:endParaRPr lang="en-US" sz="1100" dirty="0"/>
          </a:p>
        </p:txBody>
      </p:sp>
      <p:sp>
        <p:nvSpPr>
          <p:cNvPr id="36" name="Text 33"/>
          <p:cNvSpPr txBox="1"/>
          <p:nvPr/>
        </p:nvSpPr>
        <p:spPr>
          <a:xfrm>
            <a:off x="8750808" y="4160520"/>
            <a:ext cx="2249424" cy="457200"/>
          </a:xfrm>
          <a:prstGeom prst="rect">
            <a:avLst/>
          </a:prstGeom>
          <a:noFill/>
          <a:ln/>
        </p:spPr>
        <p:txBody>
          <a:bodyPr wrap="square" lIns="0" tIns="0" rIns="0" bIns="0" rtlCol="0" anchor="t"/>
          <a:lstStyle/>
          <a:p>
            <a:pPr algn="ctr" indent="0" marL="0">
              <a:buNone/>
            </a:pPr>
            <a:r>
              <a:rPr lang="en-US" sz="1150" dirty="0">
                <a:solidFill>
                  <a:srgbClr val="B3A797"/>
                </a:solidFill>
                <a:latin typeface="Segoe UI" pitchFamily="34" charset="0"/>
                <a:ea typeface="Segoe UI" pitchFamily="34" charset="-122"/>
                <a:cs typeface="Segoe UI" pitchFamily="34" charset="-120"/>
              </a:rPr>
              <a:t>Open the demo on your phone while we run it.</a:t>
            </a:r>
            <a:endParaRPr lang="en-US" sz="1150" dirty="0"/>
          </a:p>
        </p:txBody>
      </p:sp>
      <p:sp>
        <p:nvSpPr>
          <p:cNvPr id="37" name="filet-plan-b"/>
          <p:cNvSpPr/>
          <p:nvPr/>
        </p:nvSpPr>
        <p:spPr>
          <a:xfrm>
            <a:off x="8412480" y="4846320"/>
            <a:ext cx="3047695" cy="0"/>
          </a:xfrm>
          <a:prstGeom prst="line">
            <a:avLst/>
          </a:prstGeom>
          <a:noFill/>
          <a:ln w="9525">
            <a:solidFill>
              <a:srgbClr val="3D342D"/>
            </a:solidFill>
            <a:prstDash val="solid"/>
          </a:ln>
        </p:spPr>
      </p:sp>
      <p:sp>
        <p:nvSpPr>
          <p:cNvPr id="38" name="Text 35"/>
          <p:cNvSpPr txBox="1"/>
          <p:nvPr/>
        </p:nvSpPr>
        <p:spPr>
          <a:xfrm>
            <a:off x="8412480" y="4956048"/>
            <a:ext cx="3017520" cy="256032"/>
          </a:xfrm>
          <a:prstGeom prst="rect">
            <a:avLst/>
          </a:prstGeom>
          <a:noFill/>
          <a:ln/>
        </p:spPr>
        <p:txBody>
          <a:bodyPr wrap="square" lIns="0" tIns="0" rIns="0" bIns="0" rtlCol="0" anchor="t"/>
          <a:lstStyle/>
          <a:p>
            <a:pPr indent="0" marL="0">
              <a:buNone/>
            </a:pPr>
            <a:r>
              <a:rPr lang="en-US" sz="950" spc="250" kern="0" dirty="0">
                <a:solidFill>
                  <a:srgbClr val="D2B57A"/>
                </a:solidFill>
                <a:latin typeface="Segoe UI Semibold" pitchFamily="34" charset="0"/>
                <a:ea typeface="Segoe UI Semibold" pitchFamily="34" charset="-122"/>
                <a:cs typeface="Segoe UI Semibold" pitchFamily="34" charset="-120"/>
              </a:rPr>
              <a:t>PLAN B</a:t>
            </a:r>
            <a:endParaRPr lang="en-US" sz="950" dirty="0"/>
          </a:p>
        </p:txBody>
      </p:sp>
      <p:sp>
        <p:nvSpPr>
          <p:cNvPr id="39" name="Text 36"/>
          <p:cNvSpPr txBox="1"/>
          <p:nvPr/>
        </p:nvSpPr>
        <p:spPr>
          <a:xfrm>
            <a:off x="8412480" y="5230368"/>
            <a:ext cx="3047695" cy="777240"/>
          </a:xfrm>
          <a:prstGeom prst="rect">
            <a:avLst/>
          </a:prstGeom>
          <a:noFill/>
          <a:ln/>
        </p:spPr>
        <p:txBody>
          <a:bodyPr wrap="square" lIns="0" tIns="0" rIns="0" bIns="0" rtlCol="0" anchor="t"/>
          <a:lstStyle/>
          <a:p>
            <a:pPr indent="0" marL="0">
              <a:spcAft>
                <a:spcPts val="300"/>
              </a:spcAft>
              <a:buNone/>
            </a:pPr>
            <a:r>
              <a:rPr lang="en-US" sz="1150" dirty="0">
                <a:solidFill>
                  <a:srgbClr val="B3A797"/>
                </a:solidFill>
                <a:latin typeface="Segoe UI" pitchFamily="34" charset="0"/>
                <a:ea typeface="Segoe UI" pitchFamily="34" charset="-122"/>
                <a:cs typeface="Segoe UI" pitchFamily="34" charset="-120"/>
              </a:rPr>
              <a:t>Open with ?moteur=wasm to use the CPU.</a:t>
            </a:r>
            <a:endParaRPr lang="en-US" sz="1150" dirty="0"/>
          </a:p>
          <a:p>
            <a:pPr indent="0" marL="0">
              <a:spcAft>
                <a:spcPts val="300"/>
              </a:spcAft>
              <a:buNone/>
            </a:pPr>
            <a:r>
              <a:rPr lang="en-US" sz="1150" dirty="0">
                <a:solidFill>
                  <a:srgbClr val="B3A797"/>
                </a:solidFill>
                <a:latin typeface="Segoe UI" pitchFamily="34" charset="0"/>
                <a:ea typeface="Segoe UI" pitchFamily="34" charset="-122"/>
                <a:cs typeface="Segoe UI" pitchFamily="34" charset="-120"/>
              </a:rPr>
              <a:t>Import the prepared JSON backup.</a:t>
            </a:r>
            <a:endParaRPr lang="en-US" sz="1150" dirty="0"/>
          </a:p>
          <a:p>
            <a:pPr indent="0" marL="0">
              <a:spcAft>
                <a:spcPts val="300"/>
              </a:spcAft>
              <a:buNone/>
            </a:pPr>
            <a:r>
              <a:rPr lang="en-US" sz="1150" dirty="0">
                <a:solidFill>
                  <a:srgbClr val="B3A797"/>
                </a:solidFill>
                <a:latin typeface="Segoe UI" pitchFamily="34" charset="0"/>
                <a:ea typeface="Segoe UI" pitchFamily="34" charset="-122"/>
                <a:cs typeface="Segoe UI" pitchFamily="34" charset="-120"/>
              </a:rPr>
              <a:t>Next slide: the same flow in screenshots.</a:t>
            </a:r>
            <a:endParaRPr lang="en-US" sz="1150" dirty="0"/>
          </a:p>
        </p:txBody>
      </p:sp>
      <p:sp>
        <p:nvSpPr>
          <p:cNvPr id="25" name="Slide Number Placeholder 0"/>
          <p:cNvSpPr>
            <a:spLocks noGrp="1"/>
          </p:cNvSpPr>
          <p:nvPr>
            <p:ph type="sldNum" sz="quarter" idx="4294967295"/>
          </p:nvPr>
        </p:nvSpPr>
        <p:spPr>
          <a:xfrm>
            <a:off x="10911535" y="6400800"/>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B3A797"/>
                </a:solidFill>
                <a:latin typeface="Segoe UI Semibold"/>
                <a:ea typeface="Segoe UI Semibold"/>
                <a:cs typeface="Segoe UI Semibold"/>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731520" y="457200"/>
            <a:ext cx="8229600" cy="274320"/>
          </a:xfrm>
          <a:prstGeom prst="rect">
            <a:avLst/>
          </a:prstGeom>
          <a:noFill/>
          <a:ln/>
        </p:spPr>
        <p:txBody>
          <a:bodyPr wrap="square" lIns="0" tIns="0" rIns="0" bIns="0" rtlCol="0" anchor="t"/>
          <a:lstStyle/>
          <a:p>
            <a:pPr indent="0" marL="0">
              <a:buNone/>
            </a:pPr>
            <a:r>
              <a:rPr lang="en-US" sz="1050" spc="300" kern="0" dirty="0">
                <a:solidFill>
                  <a:srgbClr val="82601A"/>
                </a:solidFill>
                <a:latin typeface="Segoe UI Semibold" pitchFamily="34" charset="0"/>
                <a:ea typeface="Segoe UI Semibold" pitchFamily="34" charset="-122"/>
                <a:cs typeface="Segoe UI Semibold" pitchFamily="34" charset="-120"/>
              </a:rPr>
              <a:t>DEMO  ·  BACKUP</a:t>
            </a:r>
            <a:endParaRPr lang="en-US" sz="1050" dirty="0"/>
          </a:p>
        </p:txBody>
      </p:sp>
      <p:sp>
        <p:nvSpPr>
          <p:cNvPr id="3" name="Text 0"/>
          <p:cNvSpPr/>
          <p:nvPr>
            <p:ph idx="101" type="title" hasCustomPrompt="1"/>
          </p:nvPr>
        </p:nvSpPr>
        <p:spPr>
          <a:xfrm>
            <a:off x="731520" y="749808"/>
            <a:ext cx="10728655" cy="731520"/>
          </a:xfrm>
          <a:prstGeom prst="rect">
            <a:avLst/>
          </a:prstGeom>
          <a:noFill/>
          <a:ln/>
        </p:spPr>
        <p:txBody>
          <a:bodyPr wrap="square" lIns="0" tIns="0" rIns="0" bIns="0" rtlCol="0" anchor="t"/>
          <a:lstStyle/>
          <a:p>
            <a:pPr algn="l" indent="0" marL="0">
              <a:buNone/>
            </a:pPr>
            <a:r>
              <a:rPr lang="en-US" sz="2800" dirty="0">
                <a:solidFill>
                  <a:schemeClr val="tx1"/>
                </a:solidFill>
                <a:latin typeface="Georgia" pitchFamily="34" charset="0"/>
                <a:ea typeface="Georgia" pitchFamily="34" charset="-122"/>
                <a:cs typeface="Georgia" pitchFamily="34" charset="-120"/>
              </a:rPr>
              <a:t>The same flow in screenshots</a:t>
            </a:r>
            <a:endParaRPr lang="en-US" sz="2800" dirty="0"/>
          </a:p>
        </p:txBody>
      </p:sp>
      <p:pic>
        <p:nvPicPr>
          <p:cNvPr id="4" name="vue-0" descr="Clients page during capture">    </p:cNvPr>
          <p:cNvPicPr>
            <a:picLocks noChangeAspect="1"/>
          </p:cNvPicPr>
          <p:nvPr/>
        </p:nvPicPr>
        <p:blipFill>
          <a:blip r:embed="rId1"/>
          <a:stretch>
            <a:fillRect/>
          </a:stretch>
        </p:blipFill>
        <p:spPr>
          <a:xfrm>
            <a:off x="731520" y="1600200"/>
            <a:ext cx="6979615" cy="3926034"/>
          </a:xfrm>
          <a:prstGeom prst="rect">
            <a:avLst/>
          </a:prstGeom>
        </p:spPr>
      </p:pic>
      <p:sp>
        <p:nvSpPr>
          <p:cNvPr id="5" name="vue-0-bord"/>
          <p:cNvSpPr/>
          <p:nvPr/>
        </p:nvSpPr>
        <p:spPr>
          <a:xfrm>
            <a:off x="731520" y="1600200"/>
            <a:ext cx="6979615" cy="3926034"/>
          </a:xfrm>
          <a:prstGeom prst="rect">
            <a:avLst/>
          </a:prstGeom>
          <a:ln w="9525">
            <a:solidFill>
              <a:srgbClr val="DCD0BD"/>
            </a:solidFill>
            <a:prstDash val="solid"/>
          </a:ln>
        </p:spPr>
      </p:sp>
      <p:sp>
        <p:nvSpPr>
          <p:cNvPr id="6" name="Text 3"/>
          <p:cNvSpPr txBox="1"/>
          <p:nvPr/>
        </p:nvSpPr>
        <p:spPr>
          <a:xfrm>
            <a:off x="731520" y="5635962"/>
            <a:ext cx="6979615" cy="32004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1. Consent first, then guided capture in 5 poses</a:t>
            </a:r>
            <a:endParaRPr lang="en-US" sz="1400" dirty="0"/>
          </a:p>
        </p:txBody>
      </p:sp>
      <p:sp>
        <p:nvSpPr>
          <p:cNvPr id="7" name="Text 4"/>
          <p:cNvSpPr txBox="1"/>
          <p:nvPr/>
        </p:nvSpPr>
        <p:spPr>
          <a:xfrm>
            <a:off x="731520" y="5897880"/>
            <a:ext cx="6979615" cy="274320"/>
          </a:xfrm>
          <a:prstGeom prst="rect">
            <a:avLst/>
          </a:prstGeom>
          <a:noFill/>
          <a:ln/>
        </p:spPr>
        <p:txBody>
          <a:bodyPr wrap="square" lIns="0" tIns="0" rIns="0" bIns="0" rtlCol="0" anchor="t"/>
          <a:lstStyle/>
          <a:p>
            <a:pPr indent="0" marL="0">
              <a:buNone/>
            </a:pPr>
            <a:r>
              <a:rPr lang="en-US" sz="1050" dirty="0">
                <a:solidFill>
                  <a:schemeClr val="accent4"/>
                </a:solidFill>
                <a:latin typeface="Segoe UI" pitchFamily="34" charset="0"/>
                <a:ea typeface="Segoe UI" pitchFamily="34" charset="-122"/>
                <a:cs typeface="Segoe UI" pitchFamily="34" charset="-120"/>
              </a:rPr>
              <a:t>Recognition itself is on slide 3. Simulated camera, faces pixelated.</a:t>
            </a:r>
            <a:endParaRPr lang="en-US" sz="1050" dirty="0"/>
          </a:p>
        </p:txBody>
      </p:sp>
      <p:pic>
        <p:nvPicPr>
          <p:cNvPr id="8" name="vue-1" descr="Client card form">    </p:cNvPr>
          <p:cNvPicPr>
            <a:picLocks noChangeAspect="1"/>
          </p:cNvPicPr>
          <p:nvPr/>
        </p:nvPicPr>
        <p:blipFill>
          <a:blip r:embed="rId2"/>
          <a:stretch>
            <a:fillRect/>
          </a:stretch>
        </p:blipFill>
        <p:spPr>
          <a:xfrm>
            <a:off x="8031175" y="1600200"/>
            <a:ext cx="3429000" cy="1928813"/>
          </a:xfrm>
          <a:prstGeom prst="rect">
            <a:avLst/>
          </a:prstGeom>
        </p:spPr>
      </p:pic>
      <p:sp>
        <p:nvSpPr>
          <p:cNvPr id="9" name="vue-1-bord"/>
          <p:cNvSpPr/>
          <p:nvPr/>
        </p:nvSpPr>
        <p:spPr>
          <a:xfrm>
            <a:off x="8031175" y="1600200"/>
            <a:ext cx="3429000" cy="1928813"/>
          </a:xfrm>
          <a:prstGeom prst="rect">
            <a:avLst/>
          </a:prstGeom>
          <a:ln w="9525">
            <a:solidFill>
              <a:srgbClr val="DCD0BD"/>
            </a:solidFill>
            <a:prstDash val="solid"/>
          </a:ln>
        </p:spPr>
      </p:sp>
      <p:sp>
        <p:nvSpPr>
          <p:cNvPr id="10" name="Text 6"/>
          <p:cNvSpPr txBox="1"/>
          <p:nvPr/>
        </p:nvSpPr>
        <p:spPr>
          <a:xfrm>
            <a:off x="8031175" y="3602165"/>
            <a:ext cx="3429000" cy="274320"/>
          </a:xfrm>
          <a:prstGeom prst="rect">
            <a:avLst/>
          </a:prstGeom>
          <a:noFill/>
          <a:ln/>
        </p:spPr>
        <p:txBody>
          <a:bodyPr wrap="square" lIns="0" tIns="0" rIns="0" bIns="0" rtlCol="0" anchor="t"/>
          <a:lstStyle/>
          <a:p>
            <a:pPr indent="0" marL="0">
              <a:buNone/>
            </a:pPr>
            <a:r>
              <a:rPr lang="en-US" sz="1200" dirty="0">
                <a:solidFill>
                  <a:schemeClr val="tx1"/>
                </a:solidFill>
                <a:latin typeface="Segoe UI Semibold" pitchFamily="34" charset="0"/>
                <a:ea typeface="Segoe UI Semibold" pitchFamily="34" charset="-122"/>
                <a:cs typeface="Segoe UI Semibold" pitchFamily="34" charset="-120"/>
              </a:rPr>
              <a:t>2. Card: preferences, purchases, appointment</a:t>
            </a:r>
            <a:endParaRPr lang="en-US" sz="1200" dirty="0"/>
          </a:p>
        </p:txBody>
      </p:sp>
      <p:pic>
        <p:nvPicPr>
          <p:cNvPr id="11" name="vue-2" descr="Indicators dashboard">    </p:cNvPr>
          <p:cNvPicPr>
            <a:picLocks noChangeAspect="1"/>
          </p:cNvPicPr>
          <p:nvPr/>
        </p:nvPicPr>
        <p:blipFill>
          <a:blip r:embed="rId3"/>
          <a:stretch>
            <a:fillRect/>
          </a:stretch>
        </p:blipFill>
        <p:spPr>
          <a:xfrm>
            <a:off x="8031175" y="3886200"/>
            <a:ext cx="3429000" cy="1928813"/>
          </a:xfrm>
          <a:prstGeom prst="rect">
            <a:avLst/>
          </a:prstGeom>
        </p:spPr>
      </p:pic>
      <p:sp>
        <p:nvSpPr>
          <p:cNvPr id="12" name="vue-2-bord"/>
          <p:cNvSpPr/>
          <p:nvPr/>
        </p:nvSpPr>
        <p:spPr>
          <a:xfrm>
            <a:off x="8031175" y="3886200"/>
            <a:ext cx="3429000" cy="1928813"/>
          </a:xfrm>
          <a:prstGeom prst="rect">
            <a:avLst/>
          </a:prstGeom>
          <a:ln w="9525">
            <a:solidFill>
              <a:srgbClr val="DCD0BD"/>
            </a:solidFill>
            <a:prstDash val="solid"/>
          </a:ln>
        </p:spPr>
      </p:sp>
      <p:sp>
        <p:nvSpPr>
          <p:cNvPr id="13" name="Text 8"/>
          <p:cNvSpPr txBox="1"/>
          <p:nvPr/>
        </p:nvSpPr>
        <p:spPr>
          <a:xfrm>
            <a:off x="8031175" y="5888165"/>
            <a:ext cx="3429000" cy="274320"/>
          </a:xfrm>
          <a:prstGeom prst="rect">
            <a:avLst/>
          </a:prstGeom>
          <a:noFill/>
          <a:ln/>
        </p:spPr>
        <p:txBody>
          <a:bodyPr wrap="square" lIns="0" tIns="0" rIns="0" bIns="0" rtlCol="0" anchor="t"/>
          <a:lstStyle/>
          <a:p>
            <a:pPr indent="0" marL="0">
              <a:buNone/>
            </a:pPr>
            <a:r>
              <a:rPr lang="en-US" sz="1200" dirty="0">
                <a:solidFill>
                  <a:schemeClr val="tx1"/>
                </a:solidFill>
                <a:latin typeface="Segoe UI Semibold" pitchFamily="34" charset="0"/>
                <a:ea typeface="Segoe UI Semibold" pitchFamily="34" charset="-122"/>
                <a:cs typeface="Segoe UI Semibold" pitchFamily="34" charset="-120"/>
              </a:rPr>
              <a:t>3. Indicators measured during the demo</a:t>
            </a:r>
            <a:endParaRPr lang="en-US" sz="1200" dirty="0"/>
          </a:p>
        </p:txBody>
      </p:sp>
      <p:sp>
        <p:nvSpPr>
          <p:cNvPr id="25" name="Slide Number Placeholder 0"/>
          <p:cNvSpPr>
            <a:spLocks noGrp="1"/>
          </p:cNvSpPr>
          <p:nvPr>
            <p:ph type="sldNum" sz="quarter" idx="4294967295"/>
          </p:nvPr>
        </p:nvSpPr>
        <p:spPr>
          <a:xfrm>
            <a:off x="10911535" y="6400800"/>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6E645B"/>
                </a:solidFill>
                <a:latin typeface="Segoe UI Semibold"/>
                <a:ea typeface="Segoe UI Semibold"/>
                <a:cs typeface="Segoe UI Semibold"/>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731520" y="457200"/>
            <a:ext cx="8229600" cy="274320"/>
          </a:xfrm>
          <a:prstGeom prst="rect">
            <a:avLst/>
          </a:prstGeom>
          <a:noFill/>
          <a:ln/>
        </p:spPr>
        <p:txBody>
          <a:bodyPr wrap="square" lIns="0" tIns="0" rIns="0" bIns="0" rtlCol="0" anchor="t"/>
          <a:lstStyle/>
          <a:p>
            <a:pPr indent="0" marL="0">
              <a:buNone/>
            </a:pPr>
            <a:r>
              <a:rPr lang="en-US" sz="1050" spc="300" kern="0" dirty="0">
                <a:solidFill>
                  <a:srgbClr val="82601A"/>
                </a:solidFill>
                <a:latin typeface="Segoe UI Semibold" pitchFamily="34" charset="0"/>
                <a:ea typeface="Segoe UI Semibold" pitchFamily="34" charset="-122"/>
                <a:cs typeface="Segoe UI Semibold" pitchFamily="34" charset="-120"/>
              </a:rPr>
              <a:t>LIMITS  ·  TECHNICAL</a:t>
            </a:r>
            <a:endParaRPr lang="en-US" sz="1050" dirty="0"/>
          </a:p>
        </p:txBody>
      </p:sp>
      <p:sp>
        <p:nvSpPr>
          <p:cNvPr id="3" name="Text 0"/>
          <p:cNvSpPr/>
          <p:nvPr>
            <p:ph idx="101" type="title" hasCustomPrompt="1"/>
          </p:nvPr>
        </p:nvSpPr>
        <p:spPr>
          <a:xfrm>
            <a:off x="731520" y="749808"/>
            <a:ext cx="10728655" cy="731520"/>
          </a:xfrm>
          <a:prstGeom prst="rect">
            <a:avLst/>
          </a:prstGeom>
          <a:noFill/>
          <a:ln/>
        </p:spPr>
        <p:txBody>
          <a:bodyPr wrap="square" lIns="0" tIns="0" rIns="0" bIns="0" rtlCol="0" anchor="t"/>
          <a:lstStyle/>
          <a:p>
            <a:pPr algn="l" indent="0" marL="0">
              <a:buNone/>
            </a:pPr>
            <a:r>
              <a:rPr lang="en-US" sz="2800" dirty="0">
                <a:solidFill>
                  <a:schemeClr val="tx1"/>
                </a:solidFill>
                <a:latin typeface="Georgia" pitchFamily="34" charset="0"/>
                <a:ea typeface="Georgia" pitchFamily="34" charset="-122"/>
                <a:cs typeface="Georgia" pitchFamily="34" charset="-120"/>
              </a:rPr>
              <a:t>Technical limits, and what we would do next</a:t>
            </a:r>
            <a:endParaRPr lang="en-US" sz="2800" dirty="0"/>
          </a:p>
        </p:txBody>
      </p:sp>
      <p:sp>
        <p:nvSpPr>
          <p:cNvPr id="4" name="Text 2"/>
          <p:cNvSpPr txBox="1"/>
          <p:nvPr/>
        </p:nvSpPr>
        <p:spPr>
          <a:xfrm>
            <a:off x="1280160" y="1737360"/>
            <a:ext cx="4572000" cy="256032"/>
          </a:xfrm>
          <a:prstGeom prst="rect">
            <a:avLst/>
          </a:prstGeom>
          <a:noFill/>
          <a:ln/>
        </p:spPr>
        <p:txBody>
          <a:bodyPr wrap="square" lIns="0" tIns="0" rIns="0" bIns="0" rtlCol="0" anchor="t"/>
          <a:lstStyle/>
          <a:p>
            <a:pPr indent="0" marL="0">
              <a:buNone/>
            </a:pPr>
            <a:r>
              <a:rPr lang="en-US" sz="950" spc="250" kern="0" dirty="0">
                <a:solidFill>
                  <a:srgbClr val="A8412F"/>
                </a:solidFill>
                <a:latin typeface="Segoe UI Semibold" pitchFamily="34" charset="0"/>
                <a:ea typeface="Segoe UI Semibold" pitchFamily="34" charset="-122"/>
                <a:cs typeface="Segoe UI Semibold" pitchFamily="34" charset="-120"/>
              </a:rPr>
              <a:t>WHAT WE SAW</a:t>
            </a:r>
            <a:endParaRPr lang="en-US" sz="950" dirty="0"/>
          </a:p>
        </p:txBody>
      </p:sp>
      <p:sp>
        <p:nvSpPr>
          <p:cNvPr id="5" name="Text 3"/>
          <p:cNvSpPr txBox="1"/>
          <p:nvPr/>
        </p:nvSpPr>
        <p:spPr>
          <a:xfrm>
            <a:off x="6355080" y="1737360"/>
            <a:ext cx="4572000" cy="256032"/>
          </a:xfrm>
          <a:prstGeom prst="rect">
            <a:avLst/>
          </a:prstGeom>
          <a:noFill/>
          <a:ln/>
        </p:spPr>
        <p:txBody>
          <a:bodyPr wrap="square" lIns="0" tIns="0" rIns="0" bIns="0" rtlCol="0" anchor="t"/>
          <a:lstStyle/>
          <a:p>
            <a:pPr indent="0" marL="0">
              <a:buNone/>
            </a:pPr>
            <a:r>
              <a:rPr lang="en-US" sz="950" spc="250" kern="0" dirty="0">
                <a:solidFill>
                  <a:srgbClr val="2F6E46"/>
                </a:solidFill>
                <a:latin typeface="Segoe UI Semibold" pitchFamily="34" charset="0"/>
                <a:ea typeface="Segoe UI Semibold" pitchFamily="34" charset="-122"/>
                <a:cs typeface="Segoe UI Semibold" pitchFamily="34" charset="-120"/>
              </a:rPr>
              <a:t>WHAT WE WOULD DO</a:t>
            </a:r>
            <a:endParaRPr lang="en-US" sz="950" dirty="0"/>
          </a:p>
        </p:txBody>
      </p:sp>
      <p:sp>
        <p:nvSpPr>
          <p:cNvPr id="6" name="limite-filet-0"/>
          <p:cNvSpPr/>
          <p:nvPr/>
        </p:nvSpPr>
        <p:spPr>
          <a:xfrm>
            <a:off x="731520" y="2103120"/>
            <a:ext cx="10728655" cy="0"/>
          </a:xfrm>
          <a:prstGeom prst="line">
            <a:avLst/>
          </a:prstGeom>
          <a:noFill/>
          <a:ln w="9525">
            <a:solidFill>
              <a:srgbClr val="DCD0BD"/>
            </a:solidFill>
            <a:prstDash val="solid"/>
          </a:ln>
        </p:spPr>
      </p:sp>
      <p:sp>
        <p:nvSpPr>
          <p:cNvPr id="7" name="Text 5"/>
          <p:cNvSpPr txBox="1"/>
          <p:nvPr/>
        </p:nvSpPr>
        <p:spPr>
          <a:xfrm>
            <a:off x="731520" y="2212848"/>
            <a:ext cx="457200" cy="457200"/>
          </a:xfrm>
          <a:prstGeom prst="rect">
            <a:avLst/>
          </a:prstGeom>
          <a:noFill/>
          <a:ln/>
        </p:spPr>
        <p:txBody>
          <a:bodyPr wrap="square" lIns="0" tIns="0" rIns="0" bIns="0" rtlCol="0" anchor="ctr"/>
          <a:lstStyle/>
          <a:p>
            <a:pPr indent="0" marL="0">
              <a:buNone/>
            </a:pPr>
            <a:r>
              <a:rPr lang="en-US" sz="1700" dirty="0">
                <a:solidFill>
                  <a:srgbClr val="82601A"/>
                </a:solidFill>
                <a:latin typeface="Bodoni MT" pitchFamily="34" charset="0"/>
                <a:ea typeface="Bodoni MT" pitchFamily="34" charset="-122"/>
                <a:cs typeface="Bodoni MT" pitchFamily="34" charset="-120"/>
              </a:rPr>
              <a:t>01</a:t>
            </a:r>
            <a:endParaRPr lang="en-US" sz="1700" dirty="0"/>
          </a:p>
        </p:txBody>
      </p:sp>
      <p:sp>
        <p:nvSpPr>
          <p:cNvPr id="8" name="Text 6"/>
          <p:cNvSpPr txBox="1"/>
          <p:nvPr/>
        </p:nvSpPr>
        <p:spPr>
          <a:xfrm>
            <a:off x="1280160" y="2212848"/>
            <a:ext cx="4800600" cy="457200"/>
          </a:xfrm>
          <a:prstGeom prst="rect">
            <a:avLst/>
          </a:prstGeom>
          <a:noFill/>
          <a:ln/>
        </p:spPr>
        <p:txBody>
          <a:bodyPr wrap="square" lIns="0" tIns="0" rIns="0" bIns="0" rtlCol="0" anchor="ctr"/>
          <a:lstStyle/>
          <a:p>
            <a:pPr indent="0" marL="0">
              <a:buNone/>
            </a:pPr>
            <a:r>
              <a:rPr lang="en-US" sz="1400" dirty="0">
                <a:solidFill>
                  <a:schemeClr val="tx1"/>
                </a:solidFill>
                <a:latin typeface="Segoe UI" pitchFamily="34" charset="0"/>
                <a:ea typeface="Segoe UI" pitchFamily="34" charset="-122"/>
                <a:cs typeface="Segoe UI" pitchFamily="34" charset="-120"/>
              </a:rPr>
              <a:t>Evaluated on 6 identities, one photo per person</a:t>
            </a:r>
            <a:endParaRPr lang="en-US" sz="1400" dirty="0"/>
          </a:p>
        </p:txBody>
      </p:sp>
      <p:sp>
        <p:nvSpPr>
          <p:cNvPr id="9" name="Text 7"/>
          <p:cNvSpPr txBox="1"/>
          <p:nvPr/>
        </p:nvSpPr>
        <p:spPr>
          <a:xfrm>
            <a:off x="6355080" y="2212848"/>
            <a:ext cx="5105095" cy="457200"/>
          </a:xfrm>
          <a:prstGeom prst="rect">
            <a:avLst/>
          </a:prstGeom>
          <a:noFill/>
          <a:ln/>
        </p:spPr>
        <p:txBody>
          <a:bodyPr wrap="square" lIns="0" tIns="0" rIns="0" bIns="0" rtlCol="0" anchor="ctr"/>
          <a:lstStyle/>
          <a:p>
            <a:pPr indent="0" marL="0">
              <a:buNone/>
            </a:pPr>
            <a:r>
              <a:rPr lang="en-US" sz="1400" dirty="0">
                <a:solidFill>
                  <a:schemeClr val="accent4"/>
                </a:solidFill>
                <a:latin typeface="Segoe UI" pitchFamily="34" charset="0"/>
                <a:ea typeface="Segoe UI" pitchFamily="34" charset="-122"/>
                <a:cs typeface="Segoe UI" pitchFamily="34" charset="-120"/>
              </a:rPr>
              <a:t>Test with a volunteer panel over several days, with glasses and different hairstyles</a:t>
            </a:r>
            <a:endParaRPr lang="en-US" sz="1400" dirty="0"/>
          </a:p>
        </p:txBody>
      </p:sp>
      <p:sp>
        <p:nvSpPr>
          <p:cNvPr id="10" name="limite-filet-1"/>
          <p:cNvSpPr/>
          <p:nvPr/>
        </p:nvSpPr>
        <p:spPr>
          <a:xfrm>
            <a:off x="731520" y="2743200"/>
            <a:ext cx="10728655" cy="0"/>
          </a:xfrm>
          <a:prstGeom prst="line">
            <a:avLst/>
          </a:prstGeom>
          <a:noFill/>
          <a:ln w="9525">
            <a:solidFill>
              <a:srgbClr val="DCD0BD"/>
            </a:solidFill>
            <a:prstDash val="solid"/>
          </a:ln>
        </p:spPr>
      </p:sp>
      <p:sp>
        <p:nvSpPr>
          <p:cNvPr id="11" name="Text 9"/>
          <p:cNvSpPr txBox="1"/>
          <p:nvPr/>
        </p:nvSpPr>
        <p:spPr>
          <a:xfrm>
            <a:off x="731520" y="2852928"/>
            <a:ext cx="457200" cy="457200"/>
          </a:xfrm>
          <a:prstGeom prst="rect">
            <a:avLst/>
          </a:prstGeom>
          <a:noFill/>
          <a:ln/>
        </p:spPr>
        <p:txBody>
          <a:bodyPr wrap="square" lIns="0" tIns="0" rIns="0" bIns="0" rtlCol="0" anchor="ctr"/>
          <a:lstStyle/>
          <a:p>
            <a:pPr indent="0" marL="0">
              <a:buNone/>
            </a:pPr>
            <a:r>
              <a:rPr lang="en-US" sz="1700" dirty="0">
                <a:solidFill>
                  <a:srgbClr val="82601A"/>
                </a:solidFill>
                <a:latin typeface="Bodoni MT" pitchFamily="34" charset="0"/>
                <a:ea typeface="Bodoni MT" pitchFamily="34" charset="-122"/>
                <a:cs typeface="Bodoni MT" pitchFamily="34" charset="-120"/>
              </a:rPr>
              <a:t>02</a:t>
            </a:r>
            <a:endParaRPr lang="en-US" sz="1700" dirty="0"/>
          </a:p>
        </p:txBody>
      </p:sp>
      <p:sp>
        <p:nvSpPr>
          <p:cNvPr id="12" name="Text 10"/>
          <p:cNvSpPr txBox="1"/>
          <p:nvPr/>
        </p:nvSpPr>
        <p:spPr>
          <a:xfrm>
            <a:off x="1280160" y="2852928"/>
            <a:ext cx="4800600" cy="457200"/>
          </a:xfrm>
          <a:prstGeom prst="rect">
            <a:avLst/>
          </a:prstGeom>
          <a:noFill/>
          <a:ln/>
        </p:spPr>
        <p:txBody>
          <a:bodyPr wrap="square" lIns="0" tIns="0" rIns="0" bIns="0" rtlCol="0" anchor="ctr"/>
          <a:lstStyle/>
          <a:p>
            <a:pPr indent="0" marL="0">
              <a:buNone/>
            </a:pPr>
            <a:r>
              <a:rPr lang="en-US" sz="1400" dirty="0">
                <a:solidFill>
                  <a:schemeClr val="tx1"/>
                </a:solidFill>
                <a:latin typeface="Segoe UI" pitchFamily="34" charset="0"/>
                <a:ea typeface="Segoe UI" pitchFamily="34" charset="-122"/>
                <a:cs typeface="Segoe UI" pitchFamily="34" charset="-120"/>
              </a:rPr>
              <a:t>No spoofing detection: a photo of a photo works</a:t>
            </a:r>
            <a:endParaRPr lang="en-US" sz="1400" dirty="0"/>
          </a:p>
        </p:txBody>
      </p:sp>
      <p:sp>
        <p:nvSpPr>
          <p:cNvPr id="13" name="Text 11"/>
          <p:cNvSpPr txBox="1"/>
          <p:nvPr/>
        </p:nvSpPr>
        <p:spPr>
          <a:xfrm>
            <a:off x="6355080" y="2852928"/>
            <a:ext cx="5105095" cy="457200"/>
          </a:xfrm>
          <a:prstGeom prst="rect">
            <a:avLst/>
          </a:prstGeom>
          <a:noFill/>
          <a:ln/>
        </p:spPr>
        <p:txBody>
          <a:bodyPr wrap="square" lIns="0" tIns="0" rIns="0" bIns="0" rtlCol="0" anchor="ctr"/>
          <a:lstStyle/>
          <a:p>
            <a:pPr indent="0" marL="0">
              <a:buNone/>
            </a:pPr>
            <a:r>
              <a:rPr lang="en-US" sz="1400" dirty="0">
                <a:solidFill>
                  <a:schemeClr val="accent4"/>
                </a:solidFill>
                <a:latin typeface="Segoe UI" pitchFamily="34" charset="0"/>
                <a:ea typeface="Segoe UI" pitchFamily="34" charset="-122"/>
                <a:cs typeface="Segoe UI" pitchFamily="34" charset="-120"/>
              </a:rPr>
              <a:t>Add liveness detection (blinking, depth)</a:t>
            </a:r>
            <a:endParaRPr lang="en-US" sz="1400" dirty="0"/>
          </a:p>
        </p:txBody>
      </p:sp>
      <p:sp>
        <p:nvSpPr>
          <p:cNvPr id="14" name="limite-filet-2"/>
          <p:cNvSpPr/>
          <p:nvPr/>
        </p:nvSpPr>
        <p:spPr>
          <a:xfrm>
            <a:off x="731520" y="3383280"/>
            <a:ext cx="10728655" cy="0"/>
          </a:xfrm>
          <a:prstGeom prst="line">
            <a:avLst/>
          </a:prstGeom>
          <a:noFill/>
          <a:ln w="9525">
            <a:solidFill>
              <a:srgbClr val="DCD0BD"/>
            </a:solidFill>
            <a:prstDash val="solid"/>
          </a:ln>
        </p:spPr>
      </p:sp>
      <p:sp>
        <p:nvSpPr>
          <p:cNvPr id="15" name="Text 13"/>
          <p:cNvSpPr txBox="1"/>
          <p:nvPr/>
        </p:nvSpPr>
        <p:spPr>
          <a:xfrm>
            <a:off x="731520" y="3493008"/>
            <a:ext cx="457200" cy="457200"/>
          </a:xfrm>
          <a:prstGeom prst="rect">
            <a:avLst/>
          </a:prstGeom>
          <a:noFill/>
          <a:ln/>
        </p:spPr>
        <p:txBody>
          <a:bodyPr wrap="square" lIns="0" tIns="0" rIns="0" bIns="0" rtlCol="0" anchor="ctr"/>
          <a:lstStyle/>
          <a:p>
            <a:pPr indent="0" marL="0">
              <a:buNone/>
            </a:pPr>
            <a:r>
              <a:rPr lang="en-US" sz="1700" dirty="0">
                <a:solidFill>
                  <a:srgbClr val="82601A"/>
                </a:solidFill>
                <a:latin typeface="Bodoni MT" pitchFamily="34" charset="0"/>
                <a:ea typeface="Bodoni MT" pitchFamily="34" charset="-122"/>
                <a:cs typeface="Bodoni MT" pitchFamily="34" charset="-120"/>
              </a:rPr>
              <a:t>03</a:t>
            </a:r>
            <a:endParaRPr lang="en-US" sz="1700" dirty="0"/>
          </a:p>
        </p:txBody>
      </p:sp>
      <p:sp>
        <p:nvSpPr>
          <p:cNvPr id="16" name="Text 14"/>
          <p:cNvSpPr txBox="1"/>
          <p:nvPr/>
        </p:nvSpPr>
        <p:spPr>
          <a:xfrm>
            <a:off x="1280160" y="3493008"/>
            <a:ext cx="4800600" cy="457200"/>
          </a:xfrm>
          <a:prstGeom prst="rect">
            <a:avLst/>
          </a:prstGeom>
          <a:noFill/>
          <a:ln/>
        </p:spPr>
        <p:txBody>
          <a:bodyPr wrap="square" lIns="0" tIns="0" rIns="0" bIns="0" rtlCol="0" anchor="ctr"/>
          <a:lstStyle/>
          <a:p>
            <a:pPr indent="0" marL="0">
              <a:buNone/>
            </a:pPr>
            <a:r>
              <a:rPr lang="en-US" sz="1400" dirty="0">
                <a:solidFill>
                  <a:schemeClr val="tx1"/>
                </a:solidFill>
                <a:latin typeface="Segoe UI" pitchFamily="34" charset="0"/>
                <a:ea typeface="Segoe UI" pitchFamily="34" charset="-122"/>
                <a:cs typeface="Segoe UI" pitchFamily="34" charset="-120"/>
              </a:rPr>
              <a:t>Database stored in a single browser</a:t>
            </a:r>
            <a:endParaRPr lang="en-US" sz="1400" dirty="0"/>
          </a:p>
        </p:txBody>
      </p:sp>
      <p:sp>
        <p:nvSpPr>
          <p:cNvPr id="17" name="Text 15"/>
          <p:cNvSpPr txBox="1"/>
          <p:nvPr/>
        </p:nvSpPr>
        <p:spPr>
          <a:xfrm>
            <a:off x="6355080" y="3493008"/>
            <a:ext cx="5105095" cy="457200"/>
          </a:xfrm>
          <a:prstGeom prst="rect">
            <a:avLst/>
          </a:prstGeom>
          <a:noFill/>
          <a:ln/>
        </p:spPr>
        <p:txBody>
          <a:bodyPr wrap="square" lIns="0" tIns="0" rIns="0" bIns="0" rtlCol="0" anchor="ctr"/>
          <a:lstStyle/>
          <a:p>
            <a:pPr indent="0" marL="0">
              <a:buNone/>
            </a:pPr>
            <a:r>
              <a:rPr lang="en-US" sz="1400" dirty="0">
                <a:solidFill>
                  <a:schemeClr val="accent4"/>
                </a:solidFill>
                <a:latin typeface="Segoe UI" pitchFamily="34" charset="0"/>
                <a:ea typeface="Segoe UI" pitchFamily="34" charset="-122"/>
                <a:cs typeface="Segoe UI" pitchFamily="34" charset="-120"/>
              </a:rPr>
              <a:t>Shared, encrypted database across the boutique's devices</a:t>
            </a:r>
            <a:endParaRPr lang="en-US" sz="1400" dirty="0"/>
          </a:p>
        </p:txBody>
      </p:sp>
      <p:sp>
        <p:nvSpPr>
          <p:cNvPr id="18" name="limite-filet-3"/>
          <p:cNvSpPr/>
          <p:nvPr/>
        </p:nvSpPr>
        <p:spPr>
          <a:xfrm>
            <a:off x="731520" y="4023360"/>
            <a:ext cx="10728655" cy="0"/>
          </a:xfrm>
          <a:prstGeom prst="line">
            <a:avLst/>
          </a:prstGeom>
          <a:noFill/>
          <a:ln w="9525">
            <a:solidFill>
              <a:srgbClr val="DCD0BD"/>
            </a:solidFill>
            <a:prstDash val="solid"/>
          </a:ln>
        </p:spPr>
      </p:sp>
      <p:sp>
        <p:nvSpPr>
          <p:cNvPr id="19" name="Text 17"/>
          <p:cNvSpPr txBox="1"/>
          <p:nvPr/>
        </p:nvSpPr>
        <p:spPr>
          <a:xfrm>
            <a:off x="731520" y="4133088"/>
            <a:ext cx="457200" cy="457200"/>
          </a:xfrm>
          <a:prstGeom prst="rect">
            <a:avLst/>
          </a:prstGeom>
          <a:noFill/>
          <a:ln/>
        </p:spPr>
        <p:txBody>
          <a:bodyPr wrap="square" lIns="0" tIns="0" rIns="0" bIns="0" rtlCol="0" anchor="ctr"/>
          <a:lstStyle/>
          <a:p>
            <a:pPr indent="0" marL="0">
              <a:buNone/>
            </a:pPr>
            <a:r>
              <a:rPr lang="en-US" sz="1700" dirty="0">
                <a:solidFill>
                  <a:srgbClr val="82601A"/>
                </a:solidFill>
                <a:latin typeface="Bodoni MT" pitchFamily="34" charset="0"/>
                <a:ea typeface="Bodoni MT" pitchFamily="34" charset="-122"/>
                <a:cs typeface="Bodoni MT" pitchFamily="34" charset="-120"/>
              </a:rPr>
              <a:t>04</a:t>
            </a:r>
            <a:endParaRPr lang="en-US" sz="1700" dirty="0"/>
          </a:p>
        </p:txBody>
      </p:sp>
      <p:sp>
        <p:nvSpPr>
          <p:cNvPr id="20" name="Text 18"/>
          <p:cNvSpPr txBox="1"/>
          <p:nvPr/>
        </p:nvSpPr>
        <p:spPr>
          <a:xfrm>
            <a:off x="1280160" y="4133088"/>
            <a:ext cx="4800600" cy="457200"/>
          </a:xfrm>
          <a:prstGeom prst="rect">
            <a:avLst/>
          </a:prstGeom>
          <a:noFill/>
          <a:ln/>
        </p:spPr>
        <p:txBody>
          <a:bodyPr wrap="square" lIns="0" tIns="0" rIns="0" bIns="0" rtlCol="0" anchor="ctr"/>
          <a:lstStyle/>
          <a:p>
            <a:pPr indent="0" marL="0">
              <a:buNone/>
            </a:pPr>
            <a:r>
              <a:rPr lang="en-US" sz="1400" dirty="0">
                <a:solidFill>
                  <a:schemeClr val="tx1"/>
                </a:solidFill>
                <a:latin typeface="Segoe UI" pitchFamily="34" charset="0"/>
                <a:ea typeface="Segoe UI" pitchFamily="34" charset="-122"/>
                <a:cs typeface="Segoe UI" pitchFamily="34" charset="-120"/>
              </a:rPr>
              <a:t>Poses are guided but not checked during enrollment</a:t>
            </a:r>
            <a:endParaRPr lang="en-US" sz="1400" dirty="0"/>
          </a:p>
        </p:txBody>
      </p:sp>
      <p:sp>
        <p:nvSpPr>
          <p:cNvPr id="21" name="Text 19"/>
          <p:cNvSpPr txBox="1"/>
          <p:nvPr/>
        </p:nvSpPr>
        <p:spPr>
          <a:xfrm>
            <a:off x="6355080" y="4133088"/>
            <a:ext cx="5105095" cy="457200"/>
          </a:xfrm>
          <a:prstGeom prst="rect">
            <a:avLst/>
          </a:prstGeom>
          <a:noFill/>
          <a:ln/>
        </p:spPr>
        <p:txBody>
          <a:bodyPr wrap="square" lIns="0" tIns="0" rIns="0" bIns="0" rtlCol="0" anchor="ctr"/>
          <a:lstStyle/>
          <a:p>
            <a:pPr indent="0" marL="0">
              <a:buNone/>
            </a:pPr>
            <a:r>
              <a:rPr lang="en-US" sz="1400" dirty="0">
                <a:solidFill>
                  <a:schemeClr val="accent4"/>
                </a:solidFill>
                <a:latin typeface="Segoe UI" pitchFamily="34" charset="0"/>
                <a:ea typeface="Segoe UI" pitchFamily="34" charset="-122"/>
                <a:cs typeface="Segoe UI" pitchFamily="34" charset="-120"/>
              </a:rPr>
              <a:t>Check head angle from the facial landmarks</a:t>
            </a:r>
            <a:endParaRPr lang="en-US" sz="1400" dirty="0"/>
          </a:p>
        </p:txBody>
      </p:sp>
      <p:sp>
        <p:nvSpPr>
          <p:cNvPr id="22" name="limite-filet-4"/>
          <p:cNvSpPr/>
          <p:nvPr/>
        </p:nvSpPr>
        <p:spPr>
          <a:xfrm>
            <a:off x="731520" y="4663440"/>
            <a:ext cx="10728655" cy="0"/>
          </a:xfrm>
          <a:prstGeom prst="line">
            <a:avLst/>
          </a:prstGeom>
          <a:noFill/>
          <a:ln w="9525">
            <a:solidFill>
              <a:srgbClr val="DCD0BD"/>
            </a:solidFill>
            <a:prstDash val="solid"/>
          </a:ln>
        </p:spPr>
      </p:sp>
      <p:sp>
        <p:nvSpPr>
          <p:cNvPr id="23" name="Text 21"/>
          <p:cNvSpPr txBox="1"/>
          <p:nvPr/>
        </p:nvSpPr>
        <p:spPr>
          <a:xfrm>
            <a:off x="731520" y="4773168"/>
            <a:ext cx="457200" cy="457200"/>
          </a:xfrm>
          <a:prstGeom prst="rect">
            <a:avLst/>
          </a:prstGeom>
          <a:noFill/>
          <a:ln/>
        </p:spPr>
        <p:txBody>
          <a:bodyPr wrap="square" lIns="0" tIns="0" rIns="0" bIns="0" rtlCol="0" anchor="ctr"/>
          <a:lstStyle/>
          <a:p>
            <a:pPr indent="0" marL="0">
              <a:buNone/>
            </a:pPr>
            <a:r>
              <a:rPr lang="en-US" sz="1700" dirty="0">
                <a:solidFill>
                  <a:srgbClr val="82601A"/>
                </a:solidFill>
                <a:latin typeface="Bodoni MT" pitchFamily="34" charset="0"/>
                <a:ea typeface="Bodoni MT" pitchFamily="34" charset="-122"/>
                <a:cs typeface="Bodoni MT" pitchFamily="34" charset="-120"/>
              </a:rPr>
              <a:t>05</a:t>
            </a:r>
            <a:endParaRPr lang="en-US" sz="1700" dirty="0"/>
          </a:p>
        </p:txBody>
      </p:sp>
      <p:sp>
        <p:nvSpPr>
          <p:cNvPr id="24" name="Text 22"/>
          <p:cNvSpPr txBox="1"/>
          <p:nvPr/>
        </p:nvSpPr>
        <p:spPr>
          <a:xfrm>
            <a:off x="1280160" y="4773168"/>
            <a:ext cx="4800600" cy="457200"/>
          </a:xfrm>
          <a:prstGeom prst="rect">
            <a:avLst/>
          </a:prstGeom>
          <a:noFill/>
          <a:ln/>
        </p:spPr>
        <p:txBody>
          <a:bodyPr wrap="square" lIns="0" tIns="0" rIns="0" bIns="0" rtlCol="0" anchor="ctr"/>
          <a:lstStyle/>
          <a:p>
            <a:pPr indent="0" marL="0">
              <a:buNone/>
            </a:pPr>
            <a:r>
              <a:rPr lang="en-US" sz="1400" dirty="0">
                <a:solidFill>
                  <a:schemeClr val="tx1"/>
                </a:solidFill>
                <a:latin typeface="Segoe UI" pitchFamily="34" charset="0"/>
                <a:ea typeface="Segoe UI" pitchFamily="34" charset="-122"/>
                <a:cs typeface="Segoe UI" pitchFamily="34" charset="-120"/>
              </a:rPr>
              <a:t>132 ms per analysis, on a single CPU core</a:t>
            </a:r>
            <a:endParaRPr lang="en-US" sz="1400" dirty="0"/>
          </a:p>
        </p:txBody>
      </p:sp>
      <p:sp>
        <p:nvSpPr>
          <p:cNvPr id="25" name="Text 23"/>
          <p:cNvSpPr txBox="1"/>
          <p:nvPr/>
        </p:nvSpPr>
        <p:spPr>
          <a:xfrm>
            <a:off x="6355080" y="4773168"/>
            <a:ext cx="5105095" cy="457200"/>
          </a:xfrm>
          <a:prstGeom prst="rect">
            <a:avLst/>
          </a:prstGeom>
          <a:noFill/>
          <a:ln/>
        </p:spPr>
        <p:txBody>
          <a:bodyPr wrap="square" lIns="0" tIns="0" rIns="0" bIns="0" rtlCol="0" anchor="ctr"/>
          <a:lstStyle/>
          <a:p>
            <a:pPr indent="0" marL="0">
              <a:buNone/>
            </a:pPr>
            <a:r>
              <a:rPr lang="en-US" sz="1400" dirty="0">
                <a:solidFill>
                  <a:schemeClr val="accent4"/>
                </a:solidFill>
                <a:latin typeface="Segoe UI" pitchFamily="34" charset="0"/>
                <a:ea typeface="Segoe UI" pitchFamily="34" charset="-122"/>
                <a:cs typeface="Segoe UI" pitchFamily="34" charset="-120"/>
              </a:rPr>
              <a:t>Enable multithreading (site headers) and an optimized model</a:t>
            </a:r>
            <a:endParaRPr lang="en-US" sz="1400" dirty="0"/>
          </a:p>
        </p:txBody>
      </p:sp>
      <p:sp>
        <p:nvSpPr>
          <p:cNvPr id="26" name="limite-filet-5"/>
          <p:cNvSpPr/>
          <p:nvPr/>
        </p:nvSpPr>
        <p:spPr>
          <a:xfrm>
            <a:off x="731520" y="5303520"/>
            <a:ext cx="10728655" cy="0"/>
          </a:xfrm>
          <a:prstGeom prst="line">
            <a:avLst/>
          </a:prstGeom>
          <a:noFill/>
          <a:ln w="9525">
            <a:solidFill>
              <a:srgbClr val="DCD0BD"/>
            </a:solidFill>
            <a:prstDash val="solid"/>
          </a:ln>
        </p:spPr>
      </p:sp>
      <p:sp>
        <p:nvSpPr>
          <p:cNvPr id="27" name="Text 25"/>
          <p:cNvSpPr txBox="1"/>
          <p:nvPr/>
        </p:nvSpPr>
        <p:spPr>
          <a:xfrm>
            <a:off x="731520" y="5413248"/>
            <a:ext cx="457200" cy="457200"/>
          </a:xfrm>
          <a:prstGeom prst="rect">
            <a:avLst/>
          </a:prstGeom>
          <a:noFill/>
          <a:ln/>
        </p:spPr>
        <p:txBody>
          <a:bodyPr wrap="square" lIns="0" tIns="0" rIns="0" bIns="0" rtlCol="0" anchor="ctr"/>
          <a:lstStyle/>
          <a:p>
            <a:pPr indent="0" marL="0">
              <a:buNone/>
            </a:pPr>
            <a:r>
              <a:rPr lang="en-US" sz="1700" dirty="0">
                <a:solidFill>
                  <a:srgbClr val="82601A"/>
                </a:solidFill>
                <a:latin typeface="Bodoni MT" pitchFamily="34" charset="0"/>
                <a:ea typeface="Bodoni MT" pitchFamily="34" charset="-122"/>
                <a:cs typeface="Bodoni MT" pitchFamily="34" charset="-120"/>
              </a:rPr>
              <a:t>06</a:t>
            </a:r>
            <a:endParaRPr lang="en-US" sz="1700" dirty="0"/>
          </a:p>
        </p:txBody>
      </p:sp>
      <p:sp>
        <p:nvSpPr>
          <p:cNvPr id="28" name="Text 26"/>
          <p:cNvSpPr txBox="1"/>
          <p:nvPr/>
        </p:nvSpPr>
        <p:spPr>
          <a:xfrm>
            <a:off x="1280160" y="5413248"/>
            <a:ext cx="4800600" cy="457200"/>
          </a:xfrm>
          <a:prstGeom prst="rect">
            <a:avLst/>
          </a:prstGeom>
          <a:noFill/>
          <a:ln/>
        </p:spPr>
        <p:txBody>
          <a:bodyPr wrap="square" lIns="0" tIns="0" rIns="0" bIns="0" rtlCol="0" anchor="ctr"/>
          <a:lstStyle/>
          <a:p>
            <a:pPr indent="0" marL="0">
              <a:buNone/>
            </a:pPr>
            <a:r>
              <a:rPr lang="en-US" sz="1400" dirty="0">
                <a:solidFill>
                  <a:schemeClr val="tx1"/>
                </a:solidFill>
                <a:latin typeface="Segoe UI" pitchFamily="34" charset="0"/>
                <a:ea typeface="Segoe UI" pitchFamily="34" charset="-122"/>
                <a:cs typeface="Segoe UI" pitchFamily="34" charset="-120"/>
              </a:rPr>
              <a:t>Usable range about 2 m, sensitive to blur</a:t>
            </a:r>
            <a:endParaRPr lang="en-US" sz="1400" dirty="0"/>
          </a:p>
        </p:txBody>
      </p:sp>
      <p:sp>
        <p:nvSpPr>
          <p:cNvPr id="29" name="Text 27"/>
          <p:cNvSpPr txBox="1"/>
          <p:nvPr/>
        </p:nvSpPr>
        <p:spPr>
          <a:xfrm>
            <a:off x="6355080" y="5413248"/>
            <a:ext cx="5105095" cy="457200"/>
          </a:xfrm>
          <a:prstGeom prst="rect">
            <a:avLst/>
          </a:prstGeom>
          <a:noFill/>
          <a:ln/>
        </p:spPr>
        <p:txBody>
          <a:bodyPr wrap="square" lIns="0" tIns="0" rIns="0" bIns="0" rtlCol="0" anchor="ctr"/>
          <a:lstStyle/>
          <a:p>
            <a:pPr indent="0" marL="0">
              <a:buNone/>
            </a:pPr>
            <a:r>
              <a:rPr lang="en-US" sz="1400" dirty="0">
                <a:solidFill>
                  <a:schemeClr val="accent4"/>
                </a:solidFill>
                <a:latin typeface="Segoe UI" pitchFamily="34" charset="0"/>
                <a:ea typeface="Segoe UI" pitchFamily="34" charset="-122"/>
                <a:cs typeface="Segoe UI" pitchFamily="34" charset="-120"/>
              </a:rPr>
              <a:t>Better placed, higher resolution camera, front lighting</a:t>
            </a:r>
            <a:endParaRPr lang="en-US" sz="1400" dirty="0"/>
          </a:p>
        </p:txBody>
      </p:sp>
      <p:sp>
        <p:nvSpPr>
          <p:cNvPr id="30" name="limite-filet-fin"/>
          <p:cNvSpPr/>
          <p:nvPr/>
        </p:nvSpPr>
        <p:spPr>
          <a:xfrm>
            <a:off x="731520" y="5943600"/>
            <a:ext cx="10728655" cy="0"/>
          </a:xfrm>
          <a:prstGeom prst="line">
            <a:avLst/>
          </a:prstGeom>
          <a:noFill/>
          <a:ln w="9525">
            <a:solidFill>
              <a:srgbClr val="DCD0BD"/>
            </a:solidFill>
            <a:prstDash val="solid"/>
          </a:ln>
        </p:spPr>
      </p:sp>
      <p:sp>
        <p:nvSpPr>
          <p:cNvPr id="25" name="Slide Number Placeholder 0"/>
          <p:cNvSpPr>
            <a:spLocks noGrp="1"/>
          </p:cNvSpPr>
          <p:nvPr>
            <p:ph type="sldNum" sz="quarter" idx="4294967295"/>
          </p:nvPr>
        </p:nvSpPr>
        <p:spPr>
          <a:xfrm>
            <a:off x="10911535" y="6400800"/>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6E645B"/>
                </a:solidFill>
                <a:latin typeface="Segoe UI Semibold"/>
                <a:ea typeface="Segoe UI Semibold"/>
                <a:cs typeface="Segoe UI Semibold"/>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731520" y="457200"/>
            <a:ext cx="8229600" cy="274320"/>
          </a:xfrm>
          <a:prstGeom prst="rect">
            <a:avLst/>
          </a:prstGeom>
          <a:noFill/>
          <a:ln/>
        </p:spPr>
        <p:txBody>
          <a:bodyPr wrap="square" lIns="0" tIns="0" rIns="0" bIns="0" rtlCol="0" anchor="t"/>
          <a:lstStyle/>
          <a:p>
            <a:pPr indent="0" marL="0">
              <a:buNone/>
            </a:pPr>
            <a:r>
              <a:rPr lang="en-US" sz="1050" spc="300" kern="0" dirty="0">
                <a:solidFill>
                  <a:srgbClr val="82601A"/>
                </a:solidFill>
                <a:latin typeface="Segoe UI Semibold" pitchFamily="34" charset="0"/>
                <a:ea typeface="Segoe UI Semibold" pitchFamily="34" charset="-122"/>
                <a:cs typeface="Segoe UI Semibold" pitchFamily="34" charset="-120"/>
              </a:rPr>
              <a:t>LIMITS  ·  LEGAL</a:t>
            </a:r>
            <a:endParaRPr lang="en-US" sz="1050" dirty="0"/>
          </a:p>
        </p:txBody>
      </p:sp>
      <p:sp>
        <p:nvSpPr>
          <p:cNvPr id="3" name="Text 0"/>
          <p:cNvSpPr/>
          <p:nvPr>
            <p:ph idx="101" type="title" hasCustomPrompt="1"/>
          </p:nvPr>
        </p:nvSpPr>
        <p:spPr>
          <a:xfrm>
            <a:off x="731520" y="749808"/>
            <a:ext cx="10728655" cy="731520"/>
          </a:xfrm>
          <a:prstGeom prst="rect">
            <a:avLst/>
          </a:prstGeom>
          <a:noFill/>
          <a:ln/>
        </p:spPr>
        <p:txBody>
          <a:bodyPr wrap="square" lIns="0" tIns="0" rIns="0" bIns="0" rtlCol="0" anchor="t"/>
          <a:lstStyle/>
          <a:p>
            <a:pPr algn="l" indent="0" marL="0">
              <a:buNone/>
            </a:pPr>
            <a:r>
              <a:rPr lang="en-US" sz="2800" dirty="0">
                <a:solidFill>
                  <a:schemeClr val="tx1"/>
                </a:solidFill>
                <a:latin typeface="Georgia" pitchFamily="34" charset="0"/>
                <a:ea typeface="Georgia" pitchFamily="34" charset="-122"/>
                <a:cs typeface="Georgia" pitchFamily="34" charset="-120"/>
              </a:rPr>
              <a:t>Legally, biometrics is the real issue</a:t>
            </a:r>
            <a:endParaRPr lang="en-US" sz="2800" dirty="0"/>
          </a:p>
        </p:txBody>
      </p:sp>
      <p:sp>
        <p:nvSpPr>
          <p:cNvPr id="4" name="legal-filet-0"/>
          <p:cNvSpPr/>
          <p:nvPr/>
        </p:nvSpPr>
        <p:spPr>
          <a:xfrm>
            <a:off x="731520" y="1737360"/>
            <a:ext cx="5090008" cy="0"/>
          </a:xfrm>
          <a:prstGeom prst="line">
            <a:avLst/>
          </a:prstGeom>
          <a:noFill/>
          <a:ln w="12700">
            <a:solidFill>
              <a:schemeClr val="tx1"/>
            </a:solidFill>
            <a:prstDash val="solid"/>
          </a:ln>
        </p:spPr>
      </p:sp>
      <p:sp>
        <p:nvSpPr>
          <p:cNvPr id="5" name="Text 3"/>
          <p:cNvSpPr txBox="1"/>
          <p:nvPr/>
        </p:nvSpPr>
        <p:spPr>
          <a:xfrm>
            <a:off x="731520" y="1874520"/>
            <a:ext cx="5090008" cy="256032"/>
          </a:xfrm>
          <a:prstGeom prst="rect">
            <a:avLst/>
          </a:prstGeom>
          <a:noFill/>
          <a:ln/>
        </p:spPr>
        <p:txBody>
          <a:bodyPr wrap="square" lIns="0" tIns="0" rIns="0" bIns="0" rtlCol="0" anchor="t"/>
          <a:lstStyle/>
          <a:p>
            <a:pPr indent="0" marL="0">
              <a:buNone/>
            </a:pPr>
            <a:r>
              <a:rPr lang="en-US" sz="950" spc="250" kern="0" dirty="0">
                <a:solidFill>
                  <a:schemeClr val="accent4"/>
                </a:solidFill>
                <a:latin typeface="Segoe UI Semibold" pitchFamily="34" charset="0"/>
                <a:ea typeface="Segoe UI Semibold" pitchFamily="34" charset="-122"/>
                <a:cs typeface="Segoe UI Semibold" pitchFamily="34" charset="-120"/>
              </a:rPr>
              <a:t>REGULATION (EU) 2016/679</a:t>
            </a:r>
            <a:endParaRPr lang="en-US" sz="950" dirty="0"/>
          </a:p>
        </p:txBody>
      </p:sp>
      <p:sp>
        <p:nvSpPr>
          <p:cNvPr id="6" name="Text 4"/>
          <p:cNvSpPr txBox="1"/>
          <p:nvPr/>
        </p:nvSpPr>
        <p:spPr>
          <a:xfrm>
            <a:off x="731520" y="2148840"/>
            <a:ext cx="5090008" cy="411480"/>
          </a:xfrm>
          <a:prstGeom prst="rect">
            <a:avLst/>
          </a:prstGeom>
          <a:noFill/>
          <a:ln/>
        </p:spPr>
        <p:txBody>
          <a:bodyPr wrap="square" lIns="0" tIns="0" rIns="0" bIns="0" rtlCol="0" anchor="t"/>
          <a:lstStyle/>
          <a:p>
            <a:pPr indent="0" marL="0">
              <a:buNone/>
            </a:pPr>
            <a:r>
              <a:rPr lang="en-US" sz="2000" dirty="0">
                <a:solidFill>
                  <a:schemeClr val="tx1"/>
                </a:solidFill>
                <a:latin typeface="Georgia" pitchFamily="34" charset="0"/>
                <a:ea typeface="Georgia" pitchFamily="34" charset="-122"/>
                <a:cs typeface="Georgia" pitchFamily="34" charset="-120"/>
              </a:rPr>
              <a:t>GDPR, Article 9</a:t>
            </a:r>
            <a:endParaRPr lang="en-US" sz="2000" dirty="0"/>
          </a:p>
        </p:txBody>
      </p:sp>
      <p:sp>
        <p:nvSpPr>
          <p:cNvPr id="7" name="Text 5"/>
          <p:cNvSpPr txBox="1"/>
          <p:nvPr/>
        </p:nvSpPr>
        <p:spPr>
          <a:xfrm>
            <a:off x="731520" y="2606040"/>
            <a:ext cx="5090008" cy="822960"/>
          </a:xfrm>
          <a:prstGeom prst="rect">
            <a:avLst/>
          </a:prstGeom>
          <a:noFill/>
          <a:ln/>
        </p:spPr>
        <p:txBody>
          <a:bodyPr wrap="square" lIns="0" tIns="0" rIns="0" bIns="0" rtlCol="0" anchor="t"/>
          <a:lstStyle/>
          <a:p>
            <a:pPr indent="0" marL="0">
              <a:buNone/>
            </a:pPr>
            <a:r>
              <a:rPr lang="en-US" sz="1300" dirty="0">
                <a:solidFill>
                  <a:schemeClr val="accent4"/>
                </a:solidFill>
                <a:latin typeface="Segoe UI" pitchFamily="34" charset="0"/>
                <a:ea typeface="Segoe UI" pitchFamily="34" charset="-122"/>
                <a:cs typeface="Segoe UI" pitchFamily="34" charset="-120"/>
              </a:rPr>
              <a:t>Biometric data is prohibited by default. The usable exception is explicit, freely given consent, so a face-free alternative must exist.</a:t>
            </a:r>
            <a:endParaRPr lang="en-US" sz="1300" dirty="0"/>
          </a:p>
        </p:txBody>
      </p:sp>
      <p:sp>
        <p:nvSpPr>
          <p:cNvPr id="8" name="legal-filet-1"/>
          <p:cNvSpPr/>
          <p:nvPr/>
        </p:nvSpPr>
        <p:spPr>
          <a:xfrm>
            <a:off x="6370168" y="1737360"/>
            <a:ext cx="5090008" cy="0"/>
          </a:xfrm>
          <a:prstGeom prst="line">
            <a:avLst/>
          </a:prstGeom>
          <a:noFill/>
          <a:ln w="12700">
            <a:solidFill>
              <a:schemeClr val="tx1"/>
            </a:solidFill>
            <a:prstDash val="solid"/>
          </a:ln>
        </p:spPr>
      </p:sp>
      <p:sp>
        <p:nvSpPr>
          <p:cNvPr id="9" name="Text 7"/>
          <p:cNvSpPr txBox="1"/>
          <p:nvPr/>
        </p:nvSpPr>
        <p:spPr>
          <a:xfrm>
            <a:off x="6370168" y="1874520"/>
            <a:ext cx="5090008" cy="256032"/>
          </a:xfrm>
          <a:prstGeom prst="rect">
            <a:avLst/>
          </a:prstGeom>
          <a:noFill/>
          <a:ln/>
        </p:spPr>
        <p:txBody>
          <a:bodyPr wrap="square" lIns="0" tIns="0" rIns="0" bIns="0" rtlCol="0" anchor="t"/>
          <a:lstStyle/>
          <a:p>
            <a:pPr indent="0" marL="0">
              <a:buNone/>
            </a:pPr>
            <a:r>
              <a:rPr lang="en-US" sz="950" spc="250" kern="0" dirty="0">
                <a:solidFill>
                  <a:schemeClr val="accent4"/>
                </a:solidFill>
                <a:latin typeface="Segoe UI Semibold" pitchFamily="34" charset="0"/>
                <a:ea typeface="Segoe UI Semibold" pitchFamily="34" charset="-122"/>
                <a:cs typeface="Segoe UI Semibold" pitchFamily="34" charset="-120"/>
              </a:rPr>
              <a:t>REGULATION (EU) 2024/1689</a:t>
            </a:r>
            <a:endParaRPr lang="en-US" sz="950" dirty="0"/>
          </a:p>
        </p:txBody>
      </p:sp>
      <p:sp>
        <p:nvSpPr>
          <p:cNvPr id="10" name="Text 8"/>
          <p:cNvSpPr txBox="1"/>
          <p:nvPr/>
        </p:nvSpPr>
        <p:spPr>
          <a:xfrm>
            <a:off x="6370168" y="2148840"/>
            <a:ext cx="5090008" cy="411480"/>
          </a:xfrm>
          <a:prstGeom prst="rect">
            <a:avLst/>
          </a:prstGeom>
          <a:noFill/>
          <a:ln/>
        </p:spPr>
        <p:txBody>
          <a:bodyPr wrap="square" lIns="0" tIns="0" rIns="0" bIns="0" rtlCol="0" anchor="t"/>
          <a:lstStyle/>
          <a:p>
            <a:pPr indent="0" marL="0">
              <a:buNone/>
            </a:pPr>
            <a:r>
              <a:rPr lang="en-US" sz="2000" dirty="0">
                <a:solidFill>
                  <a:schemeClr val="tx1"/>
                </a:solidFill>
                <a:latin typeface="Georgia" pitchFamily="34" charset="0"/>
                <a:ea typeface="Georgia" pitchFamily="34" charset="-122"/>
                <a:cs typeface="Georgia" pitchFamily="34" charset="-120"/>
              </a:rPr>
              <a:t>EU AI Act</a:t>
            </a:r>
            <a:endParaRPr lang="en-US" sz="2000" dirty="0"/>
          </a:p>
        </p:txBody>
      </p:sp>
      <p:sp>
        <p:nvSpPr>
          <p:cNvPr id="11" name="Text 9"/>
          <p:cNvSpPr txBox="1"/>
          <p:nvPr/>
        </p:nvSpPr>
        <p:spPr>
          <a:xfrm>
            <a:off x="6370168" y="2606040"/>
            <a:ext cx="5090008" cy="822960"/>
          </a:xfrm>
          <a:prstGeom prst="rect">
            <a:avLst/>
          </a:prstGeom>
          <a:noFill/>
          <a:ln/>
        </p:spPr>
        <p:txBody>
          <a:bodyPr wrap="square" lIns="0" tIns="0" rIns="0" bIns="0" rtlCol="0" anchor="t"/>
          <a:lstStyle/>
          <a:p>
            <a:pPr indent="0" marL="0">
              <a:buNone/>
            </a:pPr>
            <a:r>
              <a:rPr lang="en-US" sz="1300" dirty="0">
                <a:solidFill>
                  <a:schemeClr val="accent4"/>
                </a:solidFill>
                <a:latin typeface="Segoe UI" pitchFamily="34" charset="0"/>
                <a:ea typeface="Segoe UI" pitchFamily="34" charset="-122"/>
                <a:cs typeface="Segoe UI" pitchFamily="34" charset="-120"/>
              </a:rPr>
              <a:t>Remote biometric identification is listed as high risk (Annex III). The obligations were pushed back to 2 December 2027 by the June 2026 Omnibus agreement.</a:t>
            </a:r>
            <a:endParaRPr lang="en-US" sz="1300" dirty="0"/>
          </a:p>
        </p:txBody>
      </p:sp>
      <p:sp>
        <p:nvSpPr>
          <p:cNvPr id="12" name="legal-filet-2"/>
          <p:cNvSpPr/>
          <p:nvPr/>
        </p:nvSpPr>
        <p:spPr>
          <a:xfrm>
            <a:off x="731520" y="3566160"/>
            <a:ext cx="5090008" cy="0"/>
          </a:xfrm>
          <a:prstGeom prst="line">
            <a:avLst/>
          </a:prstGeom>
          <a:noFill/>
          <a:ln w="12700">
            <a:solidFill>
              <a:schemeClr val="tx1"/>
            </a:solidFill>
            <a:prstDash val="solid"/>
          </a:ln>
        </p:spPr>
      </p:sp>
      <p:sp>
        <p:nvSpPr>
          <p:cNvPr id="13" name="Text 11"/>
          <p:cNvSpPr txBox="1"/>
          <p:nvPr/>
        </p:nvSpPr>
        <p:spPr>
          <a:xfrm>
            <a:off x="731520" y="3703320"/>
            <a:ext cx="5090008" cy="256032"/>
          </a:xfrm>
          <a:prstGeom prst="rect">
            <a:avLst/>
          </a:prstGeom>
          <a:noFill/>
          <a:ln/>
        </p:spPr>
        <p:txBody>
          <a:bodyPr wrap="square" lIns="0" tIns="0" rIns="0" bIns="0" rtlCol="0" anchor="t"/>
          <a:lstStyle/>
          <a:p>
            <a:pPr indent="0" marL="0">
              <a:buNone/>
            </a:pPr>
            <a:r>
              <a:rPr lang="en-US" sz="950" spc="250" kern="0" dirty="0">
                <a:solidFill>
                  <a:schemeClr val="accent4"/>
                </a:solidFill>
                <a:latin typeface="Segoe UI Semibold" pitchFamily="34" charset="0"/>
                <a:ea typeface="Segoe UI Semibold" pitchFamily="34" charset="-122"/>
                <a:cs typeface="Segoe UI Semibold" pitchFamily="34" charset="-120"/>
              </a:rPr>
              <a:t>CNIL, FRENCH DATA PROTECTION AUTHORITY</a:t>
            </a:r>
            <a:endParaRPr lang="en-US" sz="950" dirty="0"/>
          </a:p>
        </p:txBody>
      </p:sp>
      <p:sp>
        <p:nvSpPr>
          <p:cNvPr id="14" name="Text 12"/>
          <p:cNvSpPr txBox="1"/>
          <p:nvPr/>
        </p:nvSpPr>
        <p:spPr>
          <a:xfrm>
            <a:off x="731520" y="3977640"/>
            <a:ext cx="5090008" cy="411480"/>
          </a:xfrm>
          <a:prstGeom prst="rect">
            <a:avLst/>
          </a:prstGeom>
          <a:noFill/>
          <a:ln/>
        </p:spPr>
        <p:txBody>
          <a:bodyPr wrap="square" lIns="0" tIns="0" rIns="0" bIns="0" rtlCol="0" anchor="t"/>
          <a:lstStyle/>
          <a:p>
            <a:pPr indent="0" marL="0">
              <a:buNone/>
            </a:pPr>
            <a:r>
              <a:rPr lang="en-US" sz="2000" dirty="0">
                <a:solidFill>
                  <a:schemeClr val="tx1"/>
                </a:solidFill>
                <a:latin typeface="Georgia" pitchFamily="34" charset="0"/>
                <a:ea typeface="Georgia" pitchFamily="34" charset="-122"/>
                <a:cs typeface="Georgia" pitchFamily="34" charset="-120"/>
              </a:rPr>
              <a:t>Consent and impact assessment</a:t>
            </a:r>
            <a:endParaRPr lang="en-US" sz="2000" dirty="0"/>
          </a:p>
        </p:txBody>
      </p:sp>
      <p:sp>
        <p:nvSpPr>
          <p:cNvPr id="15" name="Text 13"/>
          <p:cNvSpPr txBox="1"/>
          <p:nvPr/>
        </p:nvSpPr>
        <p:spPr>
          <a:xfrm>
            <a:off x="731520" y="4434840"/>
            <a:ext cx="5090008" cy="822960"/>
          </a:xfrm>
          <a:prstGeom prst="rect">
            <a:avLst/>
          </a:prstGeom>
          <a:noFill/>
          <a:ln/>
        </p:spPr>
        <p:txBody>
          <a:bodyPr wrap="square" lIns="0" tIns="0" rIns="0" bIns="0" rtlCol="0" anchor="t"/>
          <a:lstStyle/>
          <a:p>
            <a:pPr indent="0" marL="0">
              <a:buNone/>
            </a:pPr>
            <a:r>
              <a:rPr lang="en-US" sz="1300" dirty="0">
                <a:solidFill>
                  <a:schemeClr val="accent4"/>
                </a:solidFill>
                <a:latin typeface="Segoe UI" pitchFamily="34" charset="0"/>
                <a:ea typeface="Segoe UI" pitchFamily="34" charset="-122"/>
                <a:cs typeface="Segoe UI" pitchFamily="34" charset="-120"/>
              </a:rPr>
              <a:t>Walking into a shop is not consent. A data protection impact assessment is required before any deployment.</a:t>
            </a:r>
            <a:endParaRPr lang="en-US" sz="1300" dirty="0"/>
          </a:p>
        </p:txBody>
      </p:sp>
      <p:sp>
        <p:nvSpPr>
          <p:cNvPr id="16" name="legal-filet-3"/>
          <p:cNvSpPr/>
          <p:nvPr/>
        </p:nvSpPr>
        <p:spPr>
          <a:xfrm>
            <a:off x="6370168" y="3566160"/>
            <a:ext cx="5090008" cy="0"/>
          </a:xfrm>
          <a:prstGeom prst="line">
            <a:avLst/>
          </a:prstGeom>
          <a:noFill/>
          <a:ln w="12700">
            <a:solidFill>
              <a:schemeClr val="tx1"/>
            </a:solidFill>
            <a:prstDash val="solid"/>
          </a:ln>
        </p:spPr>
      </p:sp>
      <p:sp>
        <p:nvSpPr>
          <p:cNvPr id="17" name="Text 15"/>
          <p:cNvSpPr txBox="1"/>
          <p:nvPr/>
        </p:nvSpPr>
        <p:spPr>
          <a:xfrm>
            <a:off x="6370168" y="3703320"/>
            <a:ext cx="5090008" cy="256032"/>
          </a:xfrm>
          <a:prstGeom prst="rect">
            <a:avLst/>
          </a:prstGeom>
          <a:noFill/>
          <a:ln/>
        </p:spPr>
        <p:txBody>
          <a:bodyPr wrap="square" lIns="0" tIns="0" rIns="0" bIns="0" rtlCol="0" anchor="t"/>
          <a:lstStyle/>
          <a:p>
            <a:pPr indent="0" marL="0">
              <a:buNone/>
            </a:pPr>
            <a:r>
              <a:rPr lang="en-US" sz="950" spc="250" kern="0" dirty="0">
                <a:solidFill>
                  <a:schemeClr val="accent4"/>
                </a:solidFill>
                <a:latin typeface="Segoe UI Semibold" pitchFamily="34" charset="0"/>
                <a:ea typeface="Segoe UI Semibold" pitchFamily="34" charset="-122"/>
                <a:cs typeface="Segoe UI Semibold" pitchFamily="34" charset="-120"/>
              </a:rPr>
              <a:t>INSIGHTFACE</a:t>
            </a:r>
            <a:endParaRPr lang="en-US" sz="950" dirty="0"/>
          </a:p>
        </p:txBody>
      </p:sp>
      <p:sp>
        <p:nvSpPr>
          <p:cNvPr id="18" name="Text 16"/>
          <p:cNvSpPr txBox="1"/>
          <p:nvPr/>
        </p:nvSpPr>
        <p:spPr>
          <a:xfrm>
            <a:off x="6370168" y="3977640"/>
            <a:ext cx="5090008" cy="411480"/>
          </a:xfrm>
          <a:prstGeom prst="rect">
            <a:avLst/>
          </a:prstGeom>
          <a:noFill/>
          <a:ln/>
        </p:spPr>
        <p:txBody>
          <a:bodyPr wrap="square" lIns="0" tIns="0" rIns="0" bIns="0" rtlCol="0" anchor="t"/>
          <a:lstStyle/>
          <a:p>
            <a:pPr indent="0" marL="0">
              <a:buNone/>
            </a:pPr>
            <a:r>
              <a:rPr lang="en-US" sz="2000" dirty="0">
                <a:solidFill>
                  <a:schemeClr val="tx1"/>
                </a:solidFill>
                <a:latin typeface="Georgia" pitchFamily="34" charset="0"/>
                <a:ea typeface="Georgia" pitchFamily="34" charset="-122"/>
                <a:cs typeface="Georgia" pitchFamily="34" charset="-120"/>
              </a:rPr>
              <a:t>Model license</a:t>
            </a:r>
            <a:endParaRPr lang="en-US" sz="2000" dirty="0"/>
          </a:p>
        </p:txBody>
      </p:sp>
      <p:sp>
        <p:nvSpPr>
          <p:cNvPr id="19" name="Text 17"/>
          <p:cNvSpPr txBox="1"/>
          <p:nvPr/>
        </p:nvSpPr>
        <p:spPr>
          <a:xfrm>
            <a:off x="6370168" y="4434840"/>
            <a:ext cx="5090008" cy="822960"/>
          </a:xfrm>
          <a:prstGeom prst="rect">
            <a:avLst/>
          </a:prstGeom>
          <a:noFill/>
          <a:ln/>
        </p:spPr>
        <p:txBody>
          <a:bodyPr wrap="square" lIns="0" tIns="0" rIns="0" bIns="0" rtlCol="0" anchor="t"/>
          <a:lstStyle/>
          <a:p>
            <a:pPr indent="0" marL="0">
              <a:buNone/>
            </a:pPr>
            <a:r>
              <a:rPr lang="en-US" sz="1300" dirty="0">
                <a:solidFill>
                  <a:schemeClr val="accent4"/>
                </a:solidFill>
                <a:latin typeface="Segoe UI" pitchFamily="34" charset="0"/>
                <a:ea typeface="Segoe UI" pitchFamily="34" charset="-122"/>
                <a:cs typeface="Segoe UI" pitchFamily="34" charset="-120"/>
              </a:rPr>
              <a:t>The models we used are for non-commercial research only. A real deployment needs commercially licensed models.</a:t>
            </a:r>
            <a:endParaRPr lang="en-US" sz="1300" dirty="0"/>
          </a:p>
        </p:txBody>
      </p:sp>
      <p:sp>
        <p:nvSpPr>
          <p:cNvPr id="20" name="filet-applique"/>
          <p:cNvSpPr/>
          <p:nvPr/>
        </p:nvSpPr>
        <p:spPr>
          <a:xfrm>
            <a:off x="731520" y="5440680"/>
            <a:ext cx="10728655" cy="0"/>
          </a:xfrm>
          <a:prstGeom prst="line">
            <a:avLst/>
          </a:prstGeom>
          <a:noFill/>
          <a:ln w="9525">
            <a:solidFill>
              <a:schemeClr val="accent1"/>
            </a:solidFill>
            <a:prstDash val="solid"/>
          </a:ln>
        </p:spPr>
      </p:sp>
      <p:sp>
        <p:nvSpPr>
          <p:cNvPr id="21" name="Text 19"/>
          <p:cNvSpPr txBox="1"/>
          <p:nvPr/>
        </p:nvSpPr>
        <p:spPr>
          <a:xfrm>
            <a:off x="731520" y="5550408"/>
            <a:ext cx="10728655" cy="548640"/>
          </a:xfrm>
          <a:prstGeom prst="rect">
            <a:avLst/>
          </a:prstGeom>
          <a:noFill/>
          <a:ln/>
        </p:spPr>
        <p:txBody>
          <a:bodyPr wrap="square" lIns="0" tIns="0" rIns="0" bIns="0" rtlCol="0" anchor="t"/>
          <a:lstStyle/>
          <a:p>
            <a:pPr indent="0" marL="0">
              <a:buNone/>
            </a:pPr>
            <a:r>
              <a:rPr lang="en-US" sz="1300" i="1" dirty="0">
                <a:solidFill>
                  <a:schemeClr val="tx1"/>
                </a:solidFill>
                <a:latin typeface="Georgia" pitchFamily="34" charset="0"/>
                <a:ea typeface="Georgia" pitchFamily="34" charset="-122"/>
                <a:cs typeface="Georgia" pitchFamily="34" charset="-120"/>
              </a:rPr>
              <a:t>What we applied: dated “J'ACCEPTE” consent before any capture, no photo stored, unknown faces never saved, deletion on request. Not an exhaustive analysis; to be reviewed by a lawyer.</a:t>
            </a:r>
            <a:endParaRPr lang="en-US" sz="1300" dirty="0"/>
          </a:p>
        </p:txBody>
      </p:sp>
      <p:sp>
        <p:nvSpPr>
          <p:cNvPr id="25" name="Slide Number Placeholder 0"/>
          <p:cNvSpPr>
            <a:spLocks noGrp="1"/>
          </p:cNvSpPr>
          <p:nvPr>
            <p:ph type="sldNum" sz="quarter" idx="4294967295"/>
          </p:nvPr>
        </p:nvSpPr>
        <p:spPr>
          <a:xfrm>
            <a:off x="10911535" y="6400800"/>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6E645B"/>
                </a:solidFill>
                <a:latin typeface="Segoe UI Semibold"/>
                <a:ea typeface="Segoe UI Semibold"/>
                <a:cs typeface="Segoe UI Semibold"/>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731520" y="457200"/>
            <a:ext cx="8229600" cy="274320"/>
          </a:xfrm>
          <a:prstGeom prst="rect">
            <a:avLst/>
          </a:prstGeom>
          <a:noFill/>
          <a:ln/>
        </p:spPr>
        <p:txBody>
          <a:bodyPr wrap="square" lIns="0" tIns="0" rIns="0" bIns="0" rtlCol="0" anchor="t"/>
          <a:lstStyle/>
          <a:p>
            <a:pPr indent="0" marL="0">
              <a:buNone/>
            </a:pPr>
            <a:r>
              <a:rPr lang="en-US" sz="1050" spc="300" kern="0" dirty="0">
                <a:solidFill>
                  <a:srgbClr val="82601A"/>
                </a:solidFill>
                <a:latin typeface="Segoe UI Semibold" pitchFamily="34" charset="0"/>
                <a:ea typeface="Segoe UI Semibold" pitchFamily="34" charset="-122"/>
                <a:cs typeface="Segoe UI Semibold" pitchFamily="34" charset="-120"/>
              </a:rPr>
              <a:t>LIMITS  ·  HARDWARE</a:t>
            </a:r>
            <a:endParaRPr lang="en-US" sz="1050" dirty="0"/>
          </a:p>
        </p:txBody>
      </p:sp>
      <p:sp>
        <p:nvSpPr>
          <p:cNvPr id="3" name="Text 0"/>
          <p:cNvSpPr/>
          <p:nvPr>
            <p:ph idx="101" type="title" hasCustomPrompt="1"/>
          </p:nvPr>
        </p:nvSpPr>
        <p:spPr>
          <a:xfrm>
            <a:off x="731520" y="749808"/>
            <a:ext cx="10728655" cy="731520"/>
          </a:xfrm>
          <a:prstGeom prst="rect">
            <a:avLst/>
          </a:prstGeom>
          <a:noFill/>
          <a:ln/>
        </p:spPr>
        <p:txBody>
          <a:bodyPr wrap="square" lIns="0" tIns="0" rIns="0" bIns="0" rtlCol="0" anchor="t"/>
          <a:lstStyle/>
          <a:p>
            <a:pPr algn="l" indent="0" marL="0">
              <a:buNone/>
            </a:pPr>
            <a:r>
              <a:rPr lang="en-US" sz="2800" dirty="0">
                <a:solidFill>
                  <a:schemeClr val="tx1"/>
                </a:solidFill>
                <a:latin typeface="Georgia" pitchFamily="34" charset="0"/>
                <a:ea typeface="Georgia" pitchFamily="34" charset="-122"/>
                <a:cs typeface="Georgia" pitchFamily="34" charset="-120"/>
              </a:rPr>
              <a:t>The camera matters as much as the model</a:t>
            </a:r>
            <a:endParaRPr lang="en-US" sz="2800" dirty="0"/>
          </a:p>
        </p:txBody>
      </p:sp>
      <p:sp>
        <p:nvSpPr>
          <p:cNvPr id="4" name="materiel-filet-0"/>
          <p:cNvSpPr/>
          <p:nvPr/>
        </p:nvSpPr>
        <p:spPr>
          <a:xfrm>
            <a:off x="731520" y="1737360"/>
            <a:ext cx="10728655" cy="0"/>
          </a:xfrm>
          <a:prstGeom prst="line">
            <a:avLst/>
          </a:prstGeom>
          <a:noFill/>
          <a:ln w="9525">
            <a:solidFill>
              <a:srgbClr val="DCD0BD"/>
            </a:solidFill>
            <a:prstDash val="solid"/>
          </a:ln>
        </p:spPr>
      </p:sp>
      <p:sp>
        <p:nvSpPr>
          <p:cNvPr id="5" name="Text 3"/>
          <p:cNvSpPr txBox="1"/>
          <p:nvPr/>
        </p:nvSpPr>
        <p:spPr>
          <a:xfrm>
            <a:off x="731520" y="1847088"/>
            <a:ext cx="2834640" cy="502920"/>
          </a:xfrm>
          <a:prstGeom prst="rect">
            <a:avLst/>
          </a:prstGeom>
          <a:noFill/>
          <a:ln/>
        </p:spPr>
        <p:txBody>
          <a:bodyPr wrap="square" lIns="0" tIns="0" rIns="0" bIns="0" rtlCol="0" anchor="ctr"/>
          <a:lstStyle/>
          <a:p>
            <a:pPr indent="0" marL="0">
              <a:buNone/>
            </a:pPr>
            <a:r>
              <a:rPr lang="en-US" sz="1800" dirty="0">
                <a:solidFill>
                  <a:schemeClr val="tx1"/>
                </a:solidFill>
                <a:latin typeface="Georgia" pitchFamily="34" charset="0"/>
                <a:ea typeface="Georgia" pitchFamily="34" charset="-122"/>
                <a:cs typeface="Georgia" pitchFamily="34" charset="-120"/>
              </a:rPr>
              <a:t>Camera</a:t>
            </a:r>
            <a:endParaRPr lang="en-US" sz="1800" dirty="0"/>
          </a:p>
        </p:txBody>
      </p:sp>
      <p:sp>
        <p:nvSpPr>
          <p:cNvPr id="6" name="Text 4"/>
          <p:cNvSpPr txBox="1"/>
          <p:nvPr/>
        </p:nvSpPr>
        <p:spPr>
          <a:xfrm>
            <a:off x="3749040" y="1847088"/>
            <a:ext cx="7711135" cy="502920"/>
          </a:xfrm>
          <a:prstGeom prst="rect">
            <a:avLst/>
          </a:prstGeom>
          <a:noFill/>
          <a:ln/>
        </p:spPr>
        <p:txBody>
          <a:bodyPr wrap="square" lIns="0" tIns="0" rIns="0" bIns="0" rtlCol="0" anchor="ctr"/>
          <a:lstStyle/>
          <a:p>
            <a:pPr indent="0" marL="0">
              <a:buNone/>
            </a:pPr>
            <a:r>
              <a:rPr lang="en-US" sz="1400" dirty="0">
                <a:solidFill>
                  <a:schemeClr val="accent4"/>
                </a:solidFill>
                <a:latin typeface="Segoe UI" pitchFamily="34" charset="0"/>
                <a:ea typeface="Segoe UI" pitchFamily="34" charset="-122"/>
                <a:cs typeface="Segoe UI" pitchFamily="34" charset="-120"/>
              </a:rPr>
              <a:t>HD webcam at least. Beyond 2 m or with motion blur, recognition drops.</a:t>
            </a:r>
            <a:endParaRPr lang="en-US" sz="1400" dirty="0"/>
          </a:p>
        </p:txBody>
      </p:sp>
      <p:sp>
        <p:nvSpPr>
          <p:cNvPr id="7" name="materiel-filet-1"/>
          <p:cNvSpPr/>
          <p:nvPr/>
        </p:nvSpPr>
        <p:spPr>
          <a:xfrm>
            <a:off x="731520" y="2468880"/>
            <a:ext cx="10728655" cy="0"/>
          </a:xfrm>
          <a:prstGeom prst="line">
            <a:avLst/>
          </a:prstGeom>
          <a:noFill/>
          <a:ln w="9525">
            <a:solidFill>
              <a:srgbClr val="DCD0BD"/>
            </a:solidFill>
            <a:prstDash val="solid"/>
          </a:ln>
        </p:spPr>
      </p:sp>
      <p:sp>
        <p:nvSpPr>
          <p:cNvPr id="8" name="Text 6"/>
          <p:cNvSpPr txBox="1"/>
          <p:nvPr/>
        </p:nvSpPr>
        <p:spPr>
          <a:xfrm>
            <a:off x="731520" y="2578608"/>
            <a:ext cx="2834640" cy="502920"/>
          </a:xfrm>
          <a:prstGeom prst="rect">
            <a:avLst/>
          </a:prstGeom>
          <a:noFill/>
          <a:ln/>
        </p:spPr>
        <p:txBody>
          <a:bodyPr wrap="square" lIns="0" tIns="0" rIns="0" bIns="0" rtlCol="0" anchor="ctr"/>
          <a:lstStyle/>
          <a:p>
            <a:pPr indent="0" marL="0">
              <a:buNone/>
            </a:pPr>
            <a:r>
              <a:rPr lang="en-US" sz="1800" dirty="0">
                <a:solidFill>
                  <a:schemeClr val="tx1"/>
                </a:solidFill>
                <a:latin typeface="Georgia" pitchFamily="34" charset="0"/>
                <a:ea typeface="Georgia" pitchFamily="34" charset="-122"/>
                <a:cs typeface="Georgia" pitchFamily="34" charset="-120"/>
              </a:rPr>
              <a:t>Lighting</a:t>
            </a:r>
            <a:endParaRPr lang="en-US" sz="1800" dirty="0"/>
          </a:p>
        </p:txBody>
      </p:sp>
      <p:sp>
        <p:nvSpPr>
          <p:cNvPr id="9" name="Text 7"/>
          <p:cNvSpPr txBox="1"/>
          <p:nvPr/>
        </p:nvSpPr>
        <p:spPr>
          <a:xfrm>
            <a:off x="3749040" y="2578608"/>
            <a:ext cx="7711135" cy="502920"/>
          </a:xfrm>
          <a:prstGeom prst="rect">
            <a:avLst/>
          </a:prstGeom>
          <a:noFill/>
          <a:ln/>
        </p:spPr>
        <p:txBody>
          <a:bodyPr wrap="square" lIns="0" tIns="0" rIns="0" bIns="0" rtlCol="0" anchor="ctr"/>
          <a:lstStyle/>
          <a:p>
            <a:pPr indent="0" marL="0">
              <a:buNone/>
            </a:pPr>
            <a:r>
              <a:rPr lang="en-US" sz="1400" dirty="0">
                <a:solidFill>
                  <a:schemeClr val="accent4"/>
                </a:solidFill>
                <a:latin typeface="Segoe UI" pitchFamily="34" charset="0"/>
                <a:ea typeface="Segoe UI" pitchFamily="34" charset="-122"/>
                <a:cs typeface="Segoe UI" pitchFamily="34" charset="-120"/>
              </a:rPr>
              <a:t>Copes with dim light, but backlight or strong side light hurts detection.</a:t>
            </a:r>
            <a:endParaRPr lang="en-US" sz="1400" dirty="0"/>
          </a:p>
        </p:txBody>
      </p:sp>
      <p:sp>
        <p:nvSpPr>
          <p:cNvPr id="10" name="materiel-filet-2"/>
          <p:cNvSpPr/>
          <p:nvPr/>
        </p:nvSpPr>
        <p:spPr>
          <a:xfrm>
            <a:off x="731520" y="3200400"/>
            <a:ext cx="10728655" cy="0"/>
          </a:xfrm>
          <a:prstGeom prst="line">
            <a:avLst/>
          </a:prstGeom>
          <a:noFill/>
          <a:ln w="9525">
            <a:solidFill>
              <a:srgbClr val="DCD0BD"/>
            </a:solidFill>
            <a:prstDash val="solid"/>
          </a:ln>
        </p:spPr>
      </p:sp>
      <p:sp>
        <p:nvSpPr>
          <p:cNvPr id="11" name="Text 9"/>
          <p:cNvSpPr txBox="1"/>
          <p:nvPr/>
        </p:nvSpPr>
        <p:spPr>
          <a:xfrm>
            <a:off x="731520" y="3310128"/>
            <a:ext cx="2834640" cy="502920"/>
          </a:xfrm>
          <a:prstGeom prst="rect">
            <a:avLst/>
          </a:prstGeom>
          <a:noFill/>
          <a:ln/>
        </p:spPr>
        <p:txBody>
          <a:bodyPr wrap="square" lIns="0" tIns="0" rIns="0" bIns="0" rtlCol="0" anchor="ctr"/>
          <a:lstStyle/>
          <a:p>
            <a:pPr indent="0" marL="0">
              <a:buNone/>
            </a:pPr>
            <a:r>
              <a:rPr lang="en-US" sz="1800" dirty="0">
                <a:solidFill>
                  <a:schemeClr val="tx1"/>
                </a:solidFill>
                <a:latin typeface="Georgia" pitchFamily="34" charset="0"/>
                <a:ea typeface="Georgia" pitchFamily="34" charset="-122"/>
                <a:cs typeface="Georgia" pitchFamily="34" charset="-120"/>
              </a:rPr>
              <a:t>Placement</a:t>
            </a:r>
            <a:endParaRPr lang="en-US" sz="1800" dirty="0"/>
          </a:p>
        </p:txBody>
      </p:sp>
      <p:sp>
        <p:nvSpPr>
          <p:cNvPr id="12" name="Text 10"/>
          <p:cNvSpPr txBox="1"/>
          <p:nvPr/>
        </p:nvSpPr>
        <p:spPr>
          <a:xfrm>
            <a:off x="3749040" y="3310128"/>
            <a:ext cx="7711135" cy="502920"/>
          </a:xfrm>
          <a:prstGeom prst="rect">
            <a:avLst/>
          </a:prstGeom>
          <a:noFill/>
          <a:ln/>
        </p:spPr>
        <p:txBody>
          <a:bodyPr wrap="square" lIns="0" tIns="0" rIns="0" bIns="0" rtlCol="0" anchor="ctr"/>
          <a:lstStyle/>
          <a:p>
            <a:pPr indent="0" marL="0">
              <a:buNone/>
            </a:pPr>
            <a:r>
              <a:rPr lang="en-US" sz="1400" dirty="0">
                <a:solidFill>
                  <a:schemeClr val="accent4"/>
                </a:solidFill>
                <a:latin typeface="Segoe UI" pitchFamily="34" charset="0"/>
                <a:ea typeface="Segoe UI" pitchFamily="34" charset="-122"/>
                <a:cs typeface="Segoe UI" pitchFamily="34" charset="-120"/>
              </a:rPr>
              <a:t>At the entrance, at face height, facing the flow. Several people at once: one card shown.</a:t>
            </a:r>
            <a:endParaRPr lang="en-US" sz="1400" dirty="0"/>
          </a:p>
        </p:txBody>
      </p:sp>
      <p:sp>
        <p:nvSpPr>
          <p:cNvPr id="13" name="materiel-filet-3"/>
          <p:cNvSpPr/>
          <p:nvPr/>
        </p:nvSpPr>
        <p:spPr>
          <a:xfrm>
            <a:off x="731520" y="3931920"/>
            <a:ext cx="10728655" cy="0"/>
          </a:xfrm>
          <a:prstGeom prst="line">
            <a:avLst/>
          </a:prstGeom>
          <a:noFill/>
          <a:ln w="9525">
            <a:solidFill>
              <a:srgbClr val="DCD0BD"/>
            </a:solidFill>
            <a:prstDash val="solid"/>
          </a:ln>
        </p:spPr>
      </p:sp>
      <p:sp>
        <p:nvSpPr>
          <p:cNvPr id="14" name="Text 12"/>
          <p:cNvSpPr txBox="1"/>
          <p:nvPr/>
        </p:nvSpPr>
        <p:spPr>
          <a:xfrm>
            <a:off x="731520" y="4041648"/>
            <a:ext cx="2834640" cy="502920"/>
          </a:xfrm>
          <a:prstGeom prst="rect">
            <a:avLst/>
          </a:prstGeom>
          <a:noFill/>
          <a:ln/>
        </p:spPr>
        <p:txBody>
          <a:bodyPr wrap="square" lIns="0" tIns="0" rIns="0" bIns="0" rtlCol="0" anchor="ctr"/>
          <a:lstStyle/>
          <a:p>
            <a:pPr indent="0" marL="0">
              <a:buNone/>
            </a:pPr>
            <a:r>
              <a:rPr lang="en-US" sz="1800" dirty="0">
                <a:solidFill>
                  <a:schemeClr val="tx1"/>
                </a:solidFill>
                <a:latin typeface="Georgia" pitchFamily="34" charset="0"/>
                <a:ea typeface="Georgia" pitchFamily="34" charset="-122"/>
                <a:cs typeface="Georgia" pitchFamily="34" charset="-120"/>
              </a:rPr>
              <a:t>Computer</a:t>
            </a:r>
            <a:endParaRPr lang="en-US" sz="1800" dirty="0"/>
          </a:p>
        </p:txBody>
      </p:sp>
      <p:sp>
        <p:nvSpPr>
          <p:cNvPr id="15" name="Text 13"/>
          <p:cNvSpPr txBox="1"/>
          <p:nvPr/>
        </p:nvSpPr>
        <p:spPr>
          <a:xfrm>
            <a:off x="3749040" y="4041648"/>
            <a:ext cx="7711135" cy="502920"/>
          </a:xfrm>
          <a:prstGeom prst="rect">
            <a:avLst/>
          </a:prstGeom>
          <a:noFill/>
          <a:ln/>
        </p:spPr>
        <p:txBody>
          <a:bodyPr wrap="square" lIns="0" tIns="0" rIns="0" bIns="0" rtlCol="0" anchor="ctr"/>
          <a:lstStyle/>
          <a:p>
            <a:pPr indent="0" marL="0">
              <a:buNone/>
            </a:pPr>
            <a:r>
              <a:rPr lang="en-US" sz="1400" dirty="0">
                <a:solidFill>
                  <a:schemeClr val="accent4"/>
                </a:solidFill>
                <a:latin typeface="Segoe UI" pitchFamily="34" charset="0"/>
                <a:ea typeface="Segoe UI" pitchFamily="34" charset="-122"/>
                <a:cs typeface="Segoe UI" pitchFamily="34" charset="-120"/>
              </a:rPr>
              <a:t>A recent PC: 132 ms per analysis on a Ryzen 7 5800H. An older PC or a tablet will be slower.</a:t>
            </a:r>
            <a:endParaRPr lang="en-US" sz="1400" dirty="0"/>
          </a:p>
        </p:txBody>
      </p:sp>
      <p:sp>
        <p:nvSpPr>
          <p:cNvPr id="16" name="materiel-filet-4"/>
          <p:cNvSpPr/>
          <p:nvPr/>
        </p:nvSpPr>
        <p:spPr>
          <a:xfrm>
            <a:off x="731520" y="4663440"/>
            <a:ext cx="10728655" cy="0"/>
          </a:xfrm>
          <a:prstGeom prst="line">
            <a:avLst/>
          </a:prstGeom>
          <a:noFill/>
          <a:ln w="9525">
            <a:solidFill>
              <a:srgbClr val="DCD0BD"/>
            </a:solidFill>
            <a:prstDash val="solid"/>
          </a:ln>
        </p:spPr>
      </p:sp>
      <p:sp>
        <p:nvSpPr>
          <p:cNvPr id="17" name="Text 15"/>
          <p:cNvSpPr txBox="1"/>
          <p:nvPr/>
        </p:nvSpPr>
        <p:spPr>
          <a:xfrm>
            <a:off x="731520" y="4773168"/>
            <a:ext cx="2834640" cy="502920"/>
          </a:xfrm>
          <a:prstGeom prst="rect">
            <a:avLst/>
          </a:prstGeom>
          <a:noFill/>
          <a:ln/>
        </p:spPr>
        <p:txBody>
          <a:bodyPr wrap="square" lIns="0" tIns="0" rIns="0" bIns="0" rtlCol="0" anchor="ctr"/>
          <a:lstStyle/>
          <a:p>
            <a:pPr indent="0" marL="0">
              <a:buNone/>
            </a:pPr>
            <a:r>
              <a:rPr lang="en-US" sz="1800" dirty="0">
                <a:solidFill>
                  <a:schemeClr val="tx1"/>
                </a:solidFill>
                <a:latin typeface="Georgia" pitchFamily="34" charset="0"/>
                <a:ea typeface="Georgia" pitchFamily="34" charset="-122"/>
                <a:cs typeface="Georgia" pitchFamily="34" charset="-120"/>
              </a:rPr>
              <a:t>Browser and network</a:t>
            </a:r>
            <a:endParaRPr lang="en-US" sz="1800" dirty="0"/>
          </a:p>
        </p:txBody>
      </p:sp>
      <p:sp>
        <p:nvSpPr>
          <p:cNvPr id="18" name="Text 16"/>
          <p:cNvSpPr txBox="1"/>
          <p:nvPr/>
        </p:nvSpPr>
        <p:spPr>
          <a:xfrm>
            <a:off x="3749040" y="4773168"/>
            <a:ext cx="7711135" cy="502920"/>
          </a:xfrm>
          <a:prstGeom prst="rect">
            <a:avLst/>
          </a:prstGeom>
          <a:noFill/>
          <a:ln/>
        </p:spPr>
        <p:txBody>
          <a:bodyPr wrap="square" lIns="0" tIns="0" rIns="0" bIns="0" rtlCol="0" anchor="ctr"/>
          <a:lstStyle/>
          <a:p>
            <a:pPr indent="0" marL="0">
              <a:buNone/>
            </a:pPr>
            <a:r>
              <a:rPr lang="en-US" sz="1400" dirty="0">
                <a:solidFill>
                  <a:schemeClr val="accent4"/>
                </a:solidFill>
                <a:latin typeface="Segoe UI" pitchFamily="34" charset="0"/>
                <a:ea typeface="Segoe UI" pitchFamily="34" charset="-122"/>
                <a:cs typeface="Segoe UI" pitchFamily="34" charset="-120"/>
              </a:rPr>
              <a:t>Recent Chrome or Edge. 15 MB to download on first launch, then everything runs locally.</a:t>
            </a:r>
            <a:endParaRPr lang="en-US" sz="1400" dirty="0"/>
          </a:p>
        </p:txBody>
      </p:sp>
      <p:sp>
        <p:nvSpPr>
          <p:cNvPr id="19" name="materiel-filet-fin"/>
          <p:cNvSpPr/>
          <p:nvPr/>
        </p:nvSpPr>
        <p:spPr>
          <a:xfrm>
            <a:off x="731520" y="5394960"/>
            <a:ext cx="10728655" cy="0"/>
          </a:xfrm>
          <a:prstGeom prst="line">
            <a:avLst/>
          </a:prstGeom>
          <a:noFill/>
          <a:ln w="9525">
            <a:solidFill>
              <a:srgbClr val="DCD0BD"/>
            </a:solidFill>
            <a:prstDash val="solid"/>
          </a:ln>
        </p:spPr>
      </p:sp>
      <p:sp>
        <p:nvSpPr>
          <p:cNvPr id="20" name="cout-materiel"/>
          <p:cNvSpPr/>
          <p:nvPr/>
        </p:nvSpPr>
        <p:spPr>
          <a:xfrm>
            <a:off x="731520" y="5532120"/>
            <a:ext cx="10728655" cy="548640"/>
          </a:xfrm>
          <a:prstGeom prst="rect">
            <a:avLst/>
          </a:prstGeom>
          <a:solidFill>
            <a:srgbClr val="FFFDF9"/>
          </a:solidFill>
          <a:ln w="9525">
            <a:solidFill>
              <a:srgbClr val="DCD0BD"/>
            </a:solidFill>
            <a:prstDash val="solid"/>
          </a:ln>
        </p:spPr>
      </p:sp>
      <p:sp>
        <p:nvSpPr>
          <p:cNvPr id="21" name="Text 19"/>
          <p:cNvSpPr txBox="1"/>
          <p:nvPr/>
        </p:nvSpPr>
        <p:spPr>
          <a:xfrm>
            <a:off x="960120" y="5532120"/>
            <a:ext cx="10271455" cy="548640"/>
          </a:xfrm>
          <a:prstGeom prst="rect">
            <a:avLst/>
          </a:prstGeom>
          <a:noFill/>
          <a:ln/>
        </p:spPr>
        <p:txBody>
          <a:bodyPr wrap="square" lIns="0" tIns="0" rIns="0" bIns="0" rtlCol="0" anchor="ctr"/>
          <a:lstStyle/>
          <a:p>
            <a:pPr indent="0" marL="0">
              <a:buNone/>
            </a:pPr>
            <a:r>
              <a:rPr lang="en-US" sz="1350" dirty="0">
                <a:solidFill>
                  <a:schemeClr val="tx1"/>
                </a:solidFill>
                <a:latin typeface="Segoe UI" pitchFamily="34" charset="0"/>
                <a:ea typeface="Segoe UI" pitchFamily="34" charset="-122"/>
                <a:cs typeface="Segoe UI" pitchFamily="34" charset="-120"/>
              </a:rPr>
              <a:t>Order of magnitude per entrance: a €50 to €150 webcam and an existing PC are enough for the prototype. No server, no subscription.</a:t>
            </a:r>
            <a:endParaRPr lang="en-US" sz="1350" dirty="0"/>
          </a:p>
        </p:txBody>
      </p:sp>
      <p:sp>
        <p:nvSpPr>
          <p:cNvPr id="25" name="Slide Number Placeholder 0"/>
          <p:cNvSpPr>
            <a:spLocks noGrp="1"/>
          </p:cNvSpPr>
          <p:nvPr>
            <p:ph type="sldNum" sz="quarter" idx="4294967295"/>
          </p:nvPr>
        </p:nvSpPr>
        <p:spPr>
          <a:xfrm>
            <a:off x="10911535" y="6400800"/>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6E645B"/>
                </a:solidFill>
                <a:latin typeface="Segoe UI Semibold"/>
                <a:ea typeface="Segoe UI Semibold"/>
                <a:cs typeface="Segoe UI Semibold"/>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731520" y="457200"/>
            <a:ext cx="8229600" cy="274320"/>
          </a:xfrm>
          <a:prstGeom prst="rect">
            <a:avLst/>
          </a:prstGeom>
          <a:noFill/>
          <a:ln/>
        </p:spPr>
        <p:txBody>
          <a:bodyPr wrap="square" lIns="0" tIns="0" rIns="0" bIns="0" rtlCol="0" anchor="t"/>
          <a:lstStyle/>
          <a:p>
            <a:pPr indent="0" marL="0">
              <a:buNone/>
            </a:pPr>
            <a:r>
              <a:rPr lang="en-US" sz="1050" spc="300" kern="0" dirty="0">
                <a:solidFill>
                  <a:srgbClr val="82601A"/>
                </a:solidFill>
                <a:latin typeface="Segoe UI Semibold" pitchFamily="34" charset="0"/>
                <a:ea typeface="Segoe UI Semibold" pitchFamily="34" charset="-122"/>
                <a:cs typeface="Segoe UI Semibold" pitchFamily="34" charset="-120"/>
              </a:rPr>
              <a:t>LIMITS  ·  COMMERCIAL</a:t>
            </a:r>
            <a:endParaRPr lang="en-US" sz="1050" dirty="0"/>
          </a:p>
        </p:txBody>
      </p:sp>
      <p:sp>
        <p:nvSpPr>
          <p:cNvPr id="3" name="Text 0"/>
          <p:cNvSpPr/>
          <p:nvPr>
            <p:ph idx="101" type="title" hasCustomPrompt="1"/>
          </p:nvPr>
        </p:nvSpPr>
        <p:spPr>
          <a:xfrm>
            <a:off x="731520" y="749808"/>
            <a:ext cx="10728655" cy="731520"/>
          </a:xfrm>
          <a:prstGeom prst="rect">
            <a:avLst/>
          </a:prstGeom>
          <a:noFill/>
          <a:ln/>
        </p:spPr>
        <p:txBody>
          <a:bodyPr wrap="square" lIns="0" tIns="0" rIns="0" bIns="0" rtlCol="0" anchor="t"/>
          <a:lstStyle/>
          <a:p>
            <a:pPr algn="l" indent="0" marL="0">
              <a:buNone/>
            </a:pPr>
            <a:r>
              <a:rPr lang="en-US" sz="2800" dirty="0">
                <a:solidFill>
                  <a:schemeClr val="tx1"/>
                </a:solidFill>
                <a:latin typeface="Georgia" pitchFamily="34" charset="0"/>
                <a:ea typeface="Georgia" pitchFamily="34" charset="-122"/>
                <a:cs typeface="Georgia" pitchFamily="34" charset="-120"/>
              </a:rPr>
              <a:t>Commercially, technology is not the main obstacle</a:t>
            </a:r>
            <a:endParaRPr lang="en-US" sz="2800" dirty="0"/>
          </a:p>
        </p:txBody>
      </p:sp>
      <p:sp>
        <p:nvSpPr>
          <p:cNvPr id="4" name="Text 2"/>
          <p:cNvSpPr txBox="1"/>
          <p:nvPr/>
        </p:nvSpPr>
        <p:spPr>
          <a:xfrm>
            <a:off x="731520" y="1709928"/>
            <a:ext cx="548640" cy="365760"/>
          </a:xfrm>
          <a:prstGeom prst="rect">
            <a:avLst/>
          </a:prstGeom>
          <a:noFill/>
          <a:ln/>
        </p:spPr>
        <p:txBody>
          <a:bodyPr wrap="square" lIns="0" tIns="0" rIns="0" bIns="0" rtlCol="0" anchor="t"/>
          <a:lstStyle/>
          <a:p>
            <a:pPr indent="0" marL="0">
              <a:buNone/>
            </a:pPr>
            <a:r>
              <a:rPr lang="en-US" sz="2000" dirty="0">
                <a:solidFill>
                  <a:srgbClr val="82601A"/>
                </a:solidFill>
                <a:latin typeface="Bodoni MT" pitchFamily="34" charset="0"/>
                <a:ea typeface="Bodoni MT" pitchFamily="34" charset="-122"/>
                <a:cs typeface="Bodoni MT" pitchFamily="34" charset="-120"/>
              </a:rPr>
              <a:t>01</a:t>
            </a:r>
            <a:endParaRPr lang="en-US" sz="2000" dirty="0"/>
          </a:p>
        </p:txBody>
      </p:sp>
      <p:sp>
        <p:nvSpPr>
          <p:cNvPr id="5" name="Text 3"/>
          <p:cNvSpPr txBox="1"/>
          <p:nvPr/>
        </p:nvSpPr>
        <p:spPr>
          <a:xfrm>
            <a:off x="1325880" y="1737360"/>
            <a:ext cx="4754880" cy="32004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Acceptability</a:t>
            </a:r>
            <a:endParaRPr lang="en-US" sz="1600" dirty="0"/>
          </a:p>
        </p:txBody>
      </p:sp>
      <p:sp>
        <p:nvSpPr>
          <p:cNvPr id="6" name="Text 4"/>
          <p:cNvSpPr txBox="1"/>
          <p:nvPr/>
        </p:nvSpPr>
        <p:spPr>
          <a:xfrm>
            <a:off x="1325880" y="2075688"/>
            <a:ext cx="4754880" cy="594360"/>
          </a:xfrm>
          <a:prstGeom prst="rect">
            <a:avLst/>
          </a:prstGeom>
          <a:noFill/>
          <a:ln/>
        </p:spPr>
        <p:txBody>
          <a:bodyPr wrap="square" lIns="0" tIns="0" rIns="0" bIns="0" rtlCol="0" anchor="t"/>
          <a:lstStyle/>
          <a:p>
            <a:pPr indent="0" marL="0">
              <a:buNone/>
            </a:pPr>
            <a:r>
              <a:rPr lang="en-US" sz="1300" dirty="0">
                <a:solidFill>
                  <a:schemeClr val="accent4"/>
                </a:solidFill>
                <a:latin typeface="Segoe UI" pitchFamily="34" charset="0"/>
                <a:ea typeface="Segoe UI" pitchFamily="34" charset="-122"/>
                <a:cs typeface="Segoe UI" pitchFamily="34" charset="-120"/>
              </a:rPr>
              <a:t>In luxury, discretion comes first. Being recognized without asking can feel like surveillance.</a:t>
            </a:r>
            <a:endParaRPr lang="en-US" sz="1300" dirty="0"/>
          </a:p>
        </p:txBody>
      </p:sp>
      <p:sp>
        <p:nvSpPr>
          <p:cNvPr id="7" name="Text 5"/>
          <p:cNvSpPr txBox="1"/>
          <p:nvPr/>
        </p:nvSpPr>
        <p:spPr>
          <a:xfrm>
            <a:off x="731520" y="2734056"/>
            <a:ext cx="548640" cy="365760"/>
          </a:xfrm>
          <a:prstGeom prst="rect">
            <a:avLst/>
          </a:prstGeom>
          <a:noFill/>
          <a:ln/>
        </p:spPr>
        <p:txBody>
          <a:bodyPr wrap="square" lIns="0" tIns="0" rIns="0" bIns="0" rtlCol="0" anchor="t"/>
          <a:lstStyle/>
          <a:p>
            <a:pPr indent="0" marL="0">
              <a:buNone/>
            </a:pPr>
            <a:r>
              <a:rPr lang="en-US" sz="2000" dirty="0">
                <a:solidFill>
                  <a:srgbClr val="82601A"/>
                </a:solidFill>
                <a:latin typeface="Bodoni MT" pitchFamily="34" charset="0"/>
                <a:ea typeface="Bodoni MT" pitchFamily="34" charset="-122"/>
                <a:cs typeface="Bodoni MT" pitchFamily="34" charset="-120"/>
              </a:rPr>
              <a:t>02</a:t>
            </a:r>
            <a:endParaRPr lang="en-US" sz="2000" dirty="0"/>
          </a:p>
        </p:txBody>
      </p:sp>
      <p:sp>
        <p:nvSpPr>
          <p:cNvPr id="8" name="Text 6"/>
          <p:cNvSpPr txBox="1"/>
          <p:nvPr/>
        </p:nvSpPr>
        <p:spPr>
          <a:xfrm>
            <a:off x="1325880" y="2761488"/>
            <a:ext cx="4754880" cy="32004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Real consent</a:t>
            </a:r>
            <a:endParaRPr lang="en-US" sz="1600" dirty="0"/>
          </a:p>
        </p:txBody>
      </p:sp>
      <p:sp>
        <p:nvSpPr>
          <p:cNvPr id="9" name="Text 7"/>
          <p:cNvSpPr txBox="1"/>
          <p:nvPr/>
        </p:nvSpPr>
        <p:spPr>
          <a:xfrm>
            <a:off x="1325880" y="3099816"/>
            <a:ext cx="4754880" cy="594360"/>
          </a:xfrm>
          <a:prstGeom prst="rect">
            <a:avLst/>
          </a:prstGeom>
          <a:noFill/>
          <a:ln/>
        </p:spPr>
        <p:txBody>
          <a:bodyPr wrap="square" lIns="0" tIns="0" rIns="0" bIns="0" rtlCol="0" anchor="t"/>
          <a:lstStyle/>
          <a:p>
            <a:pPr indent="0" marL="0">
              <a:buNone/>
            </a:pPr>
            <a:r>
              <a:rPr lang="en-US" sz="1300" dirty="0">
                <a:solidFill>
                  <a:schemeClr val="accent4"/>
                </a:solidFill>
                <a:latin typeface="Segoe UI" pitchFamily="34" charset="0"/>
                <a:ea typeface="Segoe UI" pitchFamily="34" charset="-122"/>
                <a:cs typeface="Segoe UI" pitchFamily="34" charset="-120"/>
              </a:rPr>
              <a:t>Service must be just as good without face recognition, or consent is not freely given.</a:t>
            </a:r>
            <a:endParaRPr lang="en-US" sz="1300" dirty="0"/>
          </a:p>
        </p:txBody>
      </p:sp>
      <p:sp>
        <p:nvSpPr>
          <p:cNvPr id="10" name="Text 8"/>
          <p:cNvSpPr txBox="1"/>
          <p:nvPr/>
        </p:nvSpPr>
        <p:spPr>
          <a:xfrm>
            <a:off x="731520" y="3758184"/>
            <a:ext cx="548640" cy="365760"/>
          </a:xfrm>
          <a:prstGeom prst="rect">
            <a:avLst/>
          </a:prstGeom>
          <a:noFill/>
          <a:ln/>
        </p:spPr>
        <p:txBody>
          <a:bodyPr wrap="square" lIns="0" tIns="0" rIns="0" bIns="0" rtlCol="0" anchor="t"/>
          <a:lstStyle/>
          <a:p>
            <a:pPr indent="0" marL="0">
              <a:buNone/>
            </a:pPr>
            <a:r>
              <a:rPr lang="en-US" sz="2000" dirty="0">
                <a:solidFill>
                  <a:srgbClr val="82601A"/>
                </a:solidFill>
                <a:latin typeface="Bodoni MT" pitchFamily="34" charset="0"/>
                <a:ea typeface="Bodoni MT" pitchFamily="34" charset="-122"/>
                <a:cs typeface="Bodoni MT" pitchFamily="34" charset="-120"/>
              </a:rPr>
              <a:t>03</a:t>
            </a:r>
            <a:endParaRPr lang="en-US" sz="2000" dirty="0"/>
          </a:p>
        </p:txBody>
      </p:sp>
      <p:sp>
        <p:nvSpPr>
          <p:cNvPr id="11" name="Text 9"/>
          <p:cNvSpPr txBox="1"/>
          <p:nvPr/>
        </p:nvSpPr>
        <p:spPr>
          <a:xfrm>
            <a:off x="1325880" y="3785616"/>
            <a:ext cx="4754880" cy="32004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Costly mistakes</a:t>
            </a:r>
            <a:endParaRPr lang="en-US" sz="1600" dirty="0"/>
          </a:p>
        </p:txBody>
      </p:sp>
      <p:sp>
        <p:nvSpPr>
          <p:cNvPr id="12" name="Text 10"/>
          <p:cNvSpPr txBox="1"/>
          <p:nvPr/>
        </p:nvSpPr>
        <p:spPr>
          <a:xfrm>
            <a:off x="1325880" y="4123944"/>
            <a:ext cx="4754880" cy="594360"/>
          </a:xfrm>
          <a:prstGeom prst="rect">
            <a:avLst/>
          </a:prstGeom>
          <a:noFill/>
          <a:ln/>
        </p:spPr>
        <p:txBody>
          <a:bodyPr wrap="square" lIns="0" tIns="0" rIns="0" bIns="0" rtlCol="0" anchor="t"/>
          <a:lstStyle/>
          <a:p>
            <a:pPr indent="0" marL="0">
              <a:buNone/>
            </a:pPr>
            <a:r>
              <a:rPr lang="en-US" sz="1300" dirty="0">
                <a:solidFill>
                  <a:schemeClr val="accent4"/>
                </a:solidFill>
                <a:latin typeface="Segoe UI" pitchFamily="34" charset="0"/>
                <a:ea typeface="Segoe UI" pitchFamily="34" charset="-122"/>
                <a:cs typeface="Segoe UI" pitchFamily="34" charset="-120"/>
              </a:rPr>
              <a:t>Showing another client's card exposes their purchases and notes. Rare, but serious.</a:t>
            </a:r>
            <a:endParaRPr lang="en-US" sz="1300" dirty="0"/>
          </a:p>
        </p:txBody>
      </p:sp>
      <p:sp>
        <p:nvSpPr>
          <p:cNvPr id="13" name="Text 11"/>
          <p:cNvSpPr txBox="1"/>
          <p:nvPr/>
        </p:nvSpPr>
        <p:spPr>
          <a:xfrm>
            <a:off x="731520" y="4782312"/>
            <a:ext cx="548640" cy="365760"/>
          </a:xfrm>
          <a:prstGeom prst="rect">
            <a:avLst/>
          </a:prstGeom>
          <a:noFill/>
          <a:ln/>
        </p:spPr>
        <p:txBody>
          <a:bodyPr wrap="square" lIns="0" tIns="0" rIns="0" bIns="0" rtlCol="0" anchor="t"/>
          <a:lstStyle/>
          <a:p>
            <a:pPr indent="0" marL="0">
              <a:buNone/>
            </a:pPr>
            <a:r>
              <a:rPr lang="en-US" sz="2000" dirty="0">
                <a:solidFill>
                  <a:srgbClr val="82601A"/>
                </a:solidFill>
                <a:latin typeface="Bodoni MT" pitchFamily="34" charset="0"/>
                <a:ea typeface="Bodoni MT" pitchFamily="34" charset="-122"/>
                <a:cs typeface="Bodoni MT" pitchFamily="34" charset="-120"/>
              </a:rPr>
              <a:t>04</a:t>
            </a:r>
            <a:endParaRPr lang="en-US" sz="2000" dirty="0"/>
          </a:p>
        </p:txBody>
      </p:sp>
      <p:sp>
        <p:nvSpPr>
          <p:cNvPr id="14" name="Text 12"/>
          <p:cNvSpPr txBox="1"/>
          <p:nvPr/>
        </p:nvSpPr>
        <p:spPr>
          <a:xfrm>
            <a:off x="1325880" y="4809744"/>
            <a:ext cx="4754880" cy="32004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Integration</a:t>
            </a:r>
            <a:endParaRPr lang="en-US" sz="1600" dirty="0"/>
          </a:p>
        </p:txBody>
      </p:sp>
      <p:sp>
        <p:nvSpPr>
          <p:cNvPr id="15" name="Text 13"/>
          <p:cNvSpPr txBox="1"/>
          <p:nvPr/>
        </p:nvSpPr>
        <p:spPr>
          <a:xfrm>
            <a:off x="1325880" y="5148072"/>
            <a:ext cx="4754880" cy="594360"/>
          </a:xfrm>
          <a:prstGeom prst="rect">
            <a:avLst/>
          </a:prstGeom>
          <a:noFill/>
          <a:ln/>
        </p:spPr>
        <p:txBody>
          <a:bodyPr wrap="square" lIns="0" tIns="0" rIns="0" bIns="0" rtlCol="0" anchor="t"/>
          <a:lstStyle/>
          <a:p>
            <a:pPr indent="0" marL="0">
              <a:buNone/>
            </a:pPr>
            <a:r>
              <a:rPr lang="en-US" sz="1300" dirty="0">
                <a:solidFill>
                  <a:schemeClr val="accent4"/>
                </a:solidFill>
                <a:latin typeface="Segoe UI" pitchFamily="34" charset="0"/>
                <a:ea typeface="Segoe UI" pitchFamily="34" charset="-122"/>
                <a:cs typeface="Segoe UI" pitchFamily="34" charset="-120"/>
              </a:rPr>
              <a:t>The value is in the client card, so it has to plug into the existing CRM.</a:t>
            </a:r>
            <a:endParaRPr lang="en-US" sz="1300" dirty="0"/>
          </a:p>
        </p:txBody>
      </p:sp>
      <p:sp>
        <p:nvSpPr>
          <p:cNvPr id="16" name="positionnement"/>
          <p:cNvSpPr/>
          <p:nvPr/>
        </p:nvSpPr>
        <p:spPr>
          <a:xfrm>
            <a:off x="6629400" y="1691640"/>
            <a:ext cx="4830775" cy="3840480"/>
          </a:xfrm>
          <a:prstGeom prst="rect">
            <a:avLst/>
          </a:prstGeom>
          <a:solidFill>
            <a:srgbClr val="FFFDF9"/>
          </a:solidFill>
          <a:ln w="9525">
            <a:solidFill>
              <a:srgbClr val="DCD0BD"/>
            </a:solidFill>
            <a:prstDash val="solid"/>
          </a:ln>
        </p:spPr>
      </p:sp>
      <p:sp>
        <p:nvSpPr>
          <p:cNvPr id="17" name="Text 15"/>
          <p:cNvSpPr txBox="1"/>
          <p:nvPr/>
        </p:nvSpPr>
        <p:spPr>
          <a:xfrm>
            <a:off x="6949440" y="1920240"/>
            <a:ext cx="4190695" cy="457200"/>
          </a:xfrm>
          <a:prstGeom prst="rect">
            <a:avLst/>
          </a:prstGeom>
          <a:noFill/>
          <a:ln/>
        </p:spPr>
        <p:txBody>
          <a:bodyPr wrap="square" lIns="0" tIns="0" rIns="0" bIns="0" rtlCol="0" anchor="t"/>
          <a:lstStyle/>
          <a:p>
            <a:pPr indent="0" marL="0">
              <a:buNone/>
            </a:pPr>
            <a:r>
              <a:rPr lang="en-US" sz="2200" dirty="0">
                <a:solidFill>
                  <a:schemeClr val="tx1"/>
                </a:solidFill>
                <a:latin typeface="Georgia" pitchFamily="34" charset="0"/>
                <a:ea typeface="Georgia" pitchFamily="34" charset="-122"/>
                <a:cs typeface="Georgia" pitchFamily="34" charset="-120"/>
              </a:rPr>
              <a:t>A realistic positioning</a:t>
            </a:r>
            <a:endParaRPr lang="en-US" sz="2200" dirty="0"/>
          </a:p>
        </p:txBody>
      </p:sp>
      <p:sp>
        <p:nvSpPr>
          <p:cNvPr id="18" name="Text 16"/>
          <p:cNvSpPr txBox="1"/>
          <p:nvPr/>
        </p:nvSpPr>
        <p:spPr>
          <a:xfrm>
            <a:off x="6949440" y="2606040"/>
            <a:ext cx="4190695" cy="2743200"/>
          </a:xfrm>
          <a:prstGeom prst="rect">
            <a:avLst/>
          </a:prstGeom>
          <a:noFill/>
          <a:ln/>
        </p:spPr>
        <p:txBody>
          <a:bodyPr wrap="square" lIns="0" tIns="0" rIns="0" bIns="0" rtlCol="0" anchor="t"/>
          <a:lstStyle/>
          <a:p>
            <a:pPr marL="203200" indent="-203200">
              <a:spcAft>
                <a:spcPts val="1800"/>
              </a:spcAft>
              <a:buSzPct val="100000"/>
              <a:buChar char="•"/>
            </a:pPr>
            <a:r>
              <a:rPr lang="en-US" sz="1500" dirty="0">
                <a:solidFill>
                  <a:schemeClr val="tx1"/>
                </a:solidFill>
                <a:latin typeface="Segoe UI" pitchFamily="34" charset="0"/>
                <a:ea typeface="Segoe UI" pitchFamily="34" charset="-122"/>
                <a:cs typeface="Segoe UI" pitchFamily="34" charset="-120"/>
              </a:rPr>
              <a:t>An opt-in program for loyal clients who ask for it, never on by default.</a:t>
            </a:r>
            <a:endParaRPr lang="en-US" sz="1500" dirty="0"/>
          </a:p>
          <a:p>
            <a:pPr marL="203200" indent="-203200">
              <a:spcAft>
                <a:spcPts val="1800"/>
              </a:spcAft>
              <a:buSzPct val="100000"/>
              <a:buChar char="•"/>
            </a:pPr>
            <a:r>
              <a:rPr lang="en-US" sz="1500" dirty="0">
                <a:solidFill>
                  <a:schemeClr val="tx1"/>
                </a:solidFill>
                <a:latin typeface="Segoe UI" pitchFamily="34" charset="0"/>
                <a:ea typeface="Segoe UI" pitchFamily="34" charset="-122"/>
                <a:cs typeface="Segoe UI" pitchFamily="34" charset="-120"/>
              </a:rPr>
              <a:t>The advisor stays in control: a Hide card button, no automatic action.</a:t>
            </a:r>
            <a:endParaRPr lang="en-US" sz="1500" dirty="0"/>
          </a:p>
          <a:p>
            <a:pPr marL="203200" indent="-203200">
              <a:spcAft>
                <a:spcPts val="1800"/>
              </a:spcAft>
              <a:buSzPct val="100000"/>
              <a:buChar char="•"/>
            </a:pPr>
            <a:r>
              <a:rPr lang="en-US" sz="1500" dirty="0">
                <a:solidFill>
                  <a:schemeClr val="tx1"/>
                </a:solidFill>
                <a:latin typeface="Segoe UI" pitchFamily="34" charset="0"/>
                <a:ea typeface="Segoe UI" pitchFamily="34" charset="-122"/>
                <a:cs typeface="Segoe UI" pitchFamily="34" charset="-120"/>
              </a:rPr>
              <a:t>A face-free alternative: loyalty card or app.</a:t>
            </a:r>
            <a:endParaRPr lang="en-US" sz="1500" dirty="0"/>
          </a:p>
          <a:p>
            <a:pPr marL="203200" indent="-203200">
              <a:spcAft>
                <a:spcPts val="1800"/>
              </a:spcAft>
              <a:buSzPct val="100000"/>
              <a:buChar char="•"/>
            </a:pPr>
            <a:r>
              <a:rPr lang="en-US" sz="1500" dirty="0">
                <a:solidFill>
                  <a:schemeClr val="tx1"/>
                </a:solidFill>
                <a:latin typeface="Segoe UI" pitchFamily="34" charset="0"/>
                <a:ea typeface="Segoe UI" pitchFamily="34" charset="-122"/>
                <a:cs typeface="Segoe UI" pitchFamily="34" charset="-120"/>
              </a:rPr>
              <a:t>Success metric: the share of invited clients who opt in, and their satisfaction.</a:t>
            </a:r>
            <a:endParaRPr lang="en-US" sz="1500" dirty="0"/>
          </a:p>
        </p:txBody>
      </p:sp>
      <p:sp>
        <p:nvSpPr>
          <p:cNvPr id="25" name="Slide Number Placeholder 0"/>
          <p:cNvSpPr>
            <a:spLocks noGrp="1"/>
          </p:cNvSpPr>
          <p:nvPr>
            <p:ph type="sldNum" sz="quarter" idx="4294967295"/>
          </p:nvPr>
        </p:nvSpPr>
        <p:spPr>
          <a:xfrm>
            <a:off x="10911535" y="6400800"/>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6E645B"/>
                </a:solidFill>
                <a:latin typeface="Segoe UI Semibold"/>
                <a:ea typeface="Segoe UI Semibold"/>
                <a:cs typeface="Segoe UI Semibold"/>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731520" y="457200"/>
            <a:ext cx="8229600" cy="274320"/>
          </a:xfrm>
          <a:prstGeom prst="rect">
            <a:avLst/>
          </a:prstGeom>
          <a:noFill/>
          <a:ln/>
        </p:spPr>
        <p:txBody>
          <a:bodyPr wrap="square" lIns="0" tIns="0" rIns="0" bIns="0" rtlCol="0" anchor="t"/>
          <a:lstStyle/>
          <a:p>
            <a:pPr indent="0" marL="0">
              <a:buNone/>
            </a:pPr>
            <a:r>
              <a:rPr lang="en-US" sz="1050" spc="300" kern="0" dirty="0">
                <a:solidFill>
                  <a:srgbClr val="82601A"/>
                </a:solidFill>
                <a:latin typeface="Segoe UI Semibold" pitchFamily="34" charset="0"/>
                <a:ea typeface="Segoe UI Semibold" pitchFamily="34" charset="-122"/>
                <a:cs typeface="Segoe UI Semibold" pitchFamily="34" charset="-120"/>
              </a:rPr>
              <a:t>TAKEAWAYS</a:t>
            </a:r>
            <a:endParaRPr lang="en-US" sz="1050" dirty="0"/>
          </a:p>
        </p:txBody>
      </p:sp>
      <p:sp>
        <p:nvSpPr>
          <p:cNvPr id="3" name="Text 0"/>
          <p:cNvSpPr/>
          <p:nvPr>
            <p:ph idx="101" type="title" hasCustomPrompt="1"/>
          </p:nvPr>
        </p:nvSpPr>
        <p:spPr>
          <a:xfrm>
            <a:off x="731520" y="749808"/>
            <a:ext cx="10728655" cy="731520"/>
          </a:xfrm>
          <a:prstGeom prst="rect">
            <a:avLst/>
          </a:prstGeom>
          <a:noFill/>
          <a:ln/>
        </p:spPr>
        <p:txBody>
          <a:bodyPr wrap="square" lIns="0" tIns="0" rIns="0" bIns="0" rtlCol="0" anchor="t"/>
          <a:lstStyle/>
          <a:p>
            <a:pPr algn="l" indent="0" marL="0">
              <a:buNone/>
            </a:pPr>
            <a:r>
              <a:rPr lang="en-US" sz="2800" dirty="0">
                <a:solidFill>
                  <a:schemeClr val="tx1"/>
                </a:solidFill>
                <a:latin typeface="Georgia" pitchFamily="34" charset="0"/>
                <a:ea typeface="Georgia" pitchFamily="34" charset="-122"/>
                <a:cs typeface="Georgia" pitchFamily="34" charset="-120"/>
              </a:rPr>
              <a:t>What this project says about AI today</a:t>
            </a:r>
            <a:endParaRPr lang="en-US" sz="2800" dirty="0"/>
          </a:p>
        </p:txBody>
      </p:sp>
      <p:sp>
        <p:nvSpPr>
          <p:cNvPr id="4" name="colonne-trait-0"/>
          <p:cNvSpPr/>
          <p:nvPr/>
        </p:nvSpPr>
        <p:spPr>
          <a:xfrm>
            <a:off x="731520" y="1737360"/>
            <a:ext cx="548640" cy="45720"/>
          </a:xfrm>
          <a:prstGeom prst="rect">
            <a:avLst/>
          </a:prstGeom>
          <a:solidFill>
            <a:schemeClr val="accent2"/>
          </a:solidFill>
          <a:ln w="12700">
            <a:solidFill>
              <a:schemeClr val="accent2"/>
            </a:solidFill>
            <a:prstDash val="solid"/>
          </a:ln>
        </p:spPr>
      </p:sp>
      <p:sp>
        <p:nvSpPr>
          <p:cNvPr id="5" name="Text 3"/>
          <p:cNvSpPr txBox="1"/>
          <p:nvPr/>
        </p:nvSpPr>
        <p:spPr>
          <a:xfrm>
            <a:off x="731520" y="1874520"/>
            <a:ext cx="4998568" cy="457200"/>
          </a:xfrm>
          <a:prstGeom prst="rect">
            <a:avLst/>
          </a:prstGeom>
          <a:noFill/>
          <a:ln/>
        </p:spPr>
        <p:txBody>
          <a:bodyPr wrap="square" lIns="0" tIns="0" rIns="0" bIns="0" rtlCol="0" anchor="t"/>
          <a:lstStyle/>
          <a:p>
            <a:pPr indent="0" marL="0">
              <a:buNone/>
            </a:pPr>
            <a:r>
              <a:rPr lang="en-US" sz="2200" dirty="0">
                <a:solidFill>
                  <a:schemeClr val="tx1"/>
                </a:solidFill>
                <a:latin typeface="Georgia" pitchFamily="34" charset="0"/>
                <a:ea typeface="Georgia" pitchFamily="34" charset="-122"/>
                <a:cs typeface="Georgia" pitchFamily="34" charset="-120"/>
              </a:rPr>
              <a:t>Already good at</a:t>
            </a:r>
            <a:endParaRPr lang="en-US" sz="2200" dirty="0"/>
          </a:p>
        </p:txBody>
      </p:sp>
      <p:sp>
        <p:nvSpPr>
          <p:cNvPr id="6" name="Text 4"/>
          <p:cNvSpPr txBox="1"/>
          <p:nvPr/>
        </p:nvSpPr>
        <p:spPr>
          <a:xfrm>
            <a:off x="731520" y="2468880"/>
            <a:ext cx="4998568" cy="2103120"/>
          </a:xfrm>
          <a:prstGeom prst="rect">
            <a:avLst/>
          </a:prstGeom>
          <a:noFill/>
          <a:ln/>
        </p:spPr>
        <p:txBody>
          <a:bodyPr wrap="square" lIns="0" tIns="0" rIns="0" bIns="0" rtlCol="0" anchor="t"/>
          <a:lstStyle/>
          <a:p>
            <a:pPr marL="203200" indent="-203200">
              <a:spcAft>
                <a:spcPts val="1000"/>
              </a:spcAft>
              <a:buSzPct val="100000"/>
              <a:buChar char="•"/>
            </a:pPr>
            <a:r>
              <a:rPr lang="en-US" sz="1450" dirty="0">
                <a:solidFill>
                  <a:schemeClr val="tx1"/>
                </a:solidFill>
                <a:latin typeface="Segoe UI" pitchFamily="34" charset="0"/>
                <a:ea typeface="Segoe UI" pitchFamily="34" charset="-122"/>
                <a:cs typeface="Segoe UI" pitchFamily="34" charset="-120"/>
              </a:rPr>
              <a:t>Recognizing a known face in a fraction of a second, on an ordinary PC.</a:t>
            </a:r>
            <a:endParaRPr lang="en-US" sz="1450" dirty="0"/>
          </a:p>
          <a:p>
            <a:pPr marL="203200" indent="-203200">
              <a:spcAft>
                <a:spcPts val="1000"/>
              </a:spcAft>
              <a:buSzPct val="100000"/>
              <a:buChar char="•"/>
            </a:pPr>
            <a:r>
              <a:rPr lang="en-US" sz="1450" dirty="0">
                <a:solidFill>
                  <a:schemeClr val="tx1"/>
                </a:solidFill>
                <a:latin typeface="Segoe UI" pitchFamily="34" charset="0"/>
                <a:ea typeface="Segoe UI" pitchFamily="34" charset="-122"/>
                <a:cs typeface="Segoe UI" pitchFamily="34" charset="-120"/>
              </a:rPr>
              <a:t>Running without a server, in a plain browser, with 15 MB of models.</a:t>
            </a:r>
            <a:endParaRPr lang="en-US" sz="1450" dirty="0"/>
          </a:p>
          <a:p>
            <a:pPr marL="203200" indent="-203200">
              <a:spcAft>
                <a:spcPts val="1000"/>
              </a:spcAft>
              <a:buSzPct val="100000"/>
              <a:buChar char="•"/>
            </a:pPr>
            <a:r>
              <a:rPr lang="en-US" sz="1450" dirty="0">
                <a:solidFill>
                  <a:schemeClr val="tx1"/>
                </a:solidFill>
                <a:latin typeface="Segoe UI" pitchFamily="34" charset="0"/>
                <a:ea typeface="Segoe UI" pitchFamily="34" charset="-122"/>
                <a:cs typeface="Segoe UI" pitchFamily="34" charset="-120"/>
              </a:rPr>
              <a:t>Staying stable in dim light or with a compressed image.</a:t>
            </a:r>
            <a:endParaRPr lang="en-US" sz="1450" dirty="0"/>
          </a:p>
        </p:txBody>
      </p:sp>
      <p:sp>
        <p:nvSpPr>
          <p:cNvPr id="7" name="colonne-trait-1"/>
          <p:cNvSpPr/>
          <p:nvPr/>
        </p:nvSpPr>
        <p:spPr>
          <a:xfrm>
            <a:off x="6461608" y="1737360"/>
            <a:ext cx="548640" cy="45720"/>
          </a:xfrm>
          <a:prstGeom prst="rect">
            <a:avLst/>
          </a:prstGeom>
          <a:solidFill>
            <a:schemeClr val="accent5"/>
          </a:solidFill>
          <a:ln w="12700">
            <a:solidFill>
              <a:schemeClr val="accent5"/>
            </a:solidFill>
            <a:prstDash val="solid"/>
          </a:ln>
        </p:spPr>
      </p:sp>
      <p:sp>
        <p:nvSpPr>
          <p:cNvPr id="8" name="Text 6"/>
          <p:cNvSpPr txBox="1"/>
          <p:nvPr/>
        </p:nvSpPr>
        <p:spPr>
          <a:xfrm>
            <a:off x="6461608" y="1874520"/>
            <a:ext cx="4998568" cy="457200"/>
          </a:xfrm>
          <a:prstGeom prst="rect">
            <a:avLst/>
          </a:prstGeom>
          <a:noFill/>
          <a:ln/>
        </p:spPr>
        <p:txBody>
          <a:bodyPr wrap="square" lIns="0" tIns="0" rIns="0" bIns="0" rtlCol="0" anchor="t"/>
          <a:lstStyle/>
          <a:p>
            <a:pPr indent="0" marL="0">
              <a:buNone/>
            </a:pPr>
            <a:r>
              <a:rPr lang="en-US" sz="2200" dirty="0">
                <a:solidFill>
                  <a:schemeClr val="tx1"/>
                </a:solidFill>
                <a:latin typeface="Georgia" pitchFamily="34" charset="0"/>
                <a:ea typeface="Georgia" pitchFamily="34" charset="-122"/>
                <a:cs typeface="Georgia" pitchFamily="34" charset="-120"/>
              </a:rPr>
              <a:t>Still hard</a:t>
            </a:r>
            <a:endParaRPr lang="en-US" sz="2200" dirty="0"/>
          </a:p>
        </p:txBody>
      </p:sp>
      <p:sp>
        <p:nvSpPr>
          <p:cNvPr id="9" name="Text 7"/>
          <p:cNvSpPr txBox="1"/>
          <p:nvPr/>
        </p:nvSpPr>
        <p:spPr>
          <a:xfrm>
            <a:off x="6461608" y="2468880"/>
            <a:ext cx="4998568" cy="2103120"/>
          </a:xfrm>
          <a:prstGeom prst="rect">
            <a:avLst/>
          </a:prstGeom>
          <a:noFill/>
          <a:ln/>
        </p:spPr>
        <p:txBody>
          <a:bodyPr wrap="square" lIns="0" tIns="0" rIns="0" bIns="0" rtlCol="0" anchor="t"/>
          <a:lstStyle/>
          <a:p>
            <a:pPr marL="203200" indent="-203200">
              <a:spcAft>
                <a:spcPts val="1000"/>
              </a:spcAft>
              <a:buSzPct val="100000"/>
              <a:buChar char="•"/>
            </a:pPr>
            <a:r>
              <a:rPr lang="en-US" sz="1450" dirty="0">
                <a:solidFill>
                  <a:schemeClr val="tx1"/>
                </a:solidFill>
                <a:latin typeface="Segoe UI" pitchFamily="34" charset="0"/>
                <a:ea typeface="Segoe UI" pitchFamily="34" charset="-122"/>
                <a:cs typeface="Segoe UI" pitchFamily="34" charset="-120"/>
              </a:rPr>
              <a:t>Real conditions: distance, blur, covered or turned faces.</a:t>
            </a:r>
            <a:endParaRPr lang="en-US" sz="1450" dirty="0"/>
          </a:p>
          <a:p>
            <a:pPr marL="203200" indent="-203200">
              <a:spcAft>
                <a:spcPts val="1000"/>
              </a:spcAft>
              <a:buSzPct val="100000"/>
              <a:buChar char="•"/>
            </a:pPr>
            <a:r>
              <a:rPr lang="en-US" sz="1450" dirty="0">
                <a:solidFill>
                  <a:schemeClr val="tx1"/>
                </a:solidFill>
                <a:latin typeface="Segoe UI" pitchFamily="34" charset="0"/>
                <a:ea typeface="Segoe UI" pitchFamily="34" charset="-122"/>
                <a:cs typeface="Segoe UI" pitchFamily="34" charset="-120"/>
              </a:rPr>
              <a:t>Spoofing, fairness across profiles, evaluation at scale.</a:t>
            </a:r>
            <a:endParaRPr lang="en-US" sz="1450" dirty="0"/>
          </a:p>
          <a:p>
            <a:pPr marL="203200" indent="-203200">
              <a:spcAft>
                <a:spcPts val="1000"/>
              </a:spcAft>
              <a:buSzPct val="100000"/>
              <a:buChar char="•"/>
            </a:pPr>
            <a:r>
              <a:rPr lang="en-US" sz="1450" dirty="0">
                <a:solidFill>
                  <a:schemeClr val="tx1"/>
                </a:solidFill>
                <a:latin typeface="Segoe UI" pitchFamily="34" charset="0"/>
                <a:ea typeface="Segoe UI" pitchFamily="34" charset="-122"/>
                <a:cs typeface="Segoe UI" pitchFamily="34" charset="-120"/>
              </a:rPr>
              <a:t>The framework: consent, biometrics law, client acceptance.</a:t>
            </a:r>
            <a:endParaRPr lang="en-US" sz="1450" dirty="0"/>
          </a:p>
        </p:txBody>
      </p:sp>
      <p:sp>
        <p:nvSpPr>
          <p:cNvPr id="10" name="filet-competences"/>
          <p:cNvSpPr/>
          <p:nvPr/>
        </p:nvSpPr>
        <p:spPr>
          <a:xfrm>
            <a:off x="731520" y="4937760"/>
            <a:ext cx="10728655" cy="0"/>
          </a:xfrm>
          <a:prstGeom prst="line">
            <a:avLst/>
          </a:prstGeom>
          <a:noFill/>
          <a:ln w="9525">
            <a:solidFill>
              <a:schemeClr val="accent1"/>
            </a:solidFill>
            <a:prstDash val="solid"/>
          </a:ln>
        </p:spPr>
      </p:sp>
      <p:sp>
        <p:nvSpPr>
          <p:cNvPr id="11" name="Text 9"/>
          <p:cNvSpPr txBox="1"/>
          <p:nvPr/>
        </p:nvSpPr>
        <p:spPr>
          <a:xfrm>
            <a:off x="731520" y="5074920"/>
            <a:ext cx="4572000" cy="256032"/>
          </a:xfrm>
          <a:prstGeom prst="rect">
            <a:avLst/>
          </a:prstGeom>
          <a:noFill/>
          <a:ln/>
        </p:spPr>
        <p:txBody>
          <a:bodyPr wrap="square" lIns="0" tIns="0" rIns="0" bIns="0" rtlCol="0" anchor="t"/>
          <a:lstStyle/>
          <a:p>
            <a:pPr indent="0" marL="0">
              <a:buNone/>
            </a:pPr>
            <a:r>
              <a:rPr lang="en-US" sz="950" spc="250" kern="0" dirty="0">
                <a:solidFill>
                  <a:srgbClr val="82601A"/>
                </a:solidFill>
                <a:latin typeface="Segoe UI Semibold" pitchFamily="34" charset="0"/>
                <a:ea typeface="Segoe UI Semibold" pitchFamily="34" charset="-122"/>
                <a:cs typeface="Segoe UI Semibold" pitchFamily="34" charset="-120"/>
              </a:rPr>
              <a:t>SKILLS WE USED</a:t>
            </a:r>
            <a:endParaRPr lang="en-US" sz="950" dirty="0"/>
          </a:p>
        </p:txBody>
      </p:sp>
      <p:sp>
        <p:nvSpPr>
          <p:cNvPr id="12" name="Text 10"/>
          <p:cNvSpPr txBox="1"/>
          <p:nvPr/>
        </p:nvSpPr>
        <p:spPr>
          <a:xfrm>
            <a:off x="731520" y="5394960"/>
            <a:ext cx="10728655" cy="457200"/>
          </a:xfrm>
          <a:prstGeom prst="rect">
            <a:avLst/>
          </a:prstGeom>
          <a:noFill/>
          <a:ln/>
        </p:spPr>
        <p:txBody>
          <a:bodyPr wrap="square" lIns="0" tIns="0" rIns="0" bIns="0" rtlCol="0" anchor="t"/>
          <a:lstStyle/>
          <a:p>
            <a:pPr indent="0" marL="0">
              <a:buNone/>
            </a:pPr>
            <a:r>
              <a:rPr lang="en-US" sz="1900" i="1" dirty="0">
                <a:solidFill>
                  <a:schemeClr val="tx1"/>
                </a:solidFill>
                <a:latin typeface="Georgia" pitchFamily="34" charset="0"/>
                <a:ea typeface="Georgia" pitchFamily="34" charset="-122"/>
                <a:cs typeface="Georgia" pitchFamily="34" charset="-120"/>
              </a:rPr>
              <a:t>Product framing   ·   On-device AI   ·   Measurement and KPIs   ·   Digital law   ·   Software quality</a:t>
            </a:r>
            <a:endParaRPr lang="en-US" sz="1900" dirty="0"/>
          </a:p>
        </p:txBody>
      </p:sp>
      <p:sp>
        <p:nvSpPr>
          <p:cNvPr id="25" name="Slide Number Placeholder 0"/>
          <p:cNvSpPr>
            <a:spLocks noGrp="1"/>
          </p:cNvSpPr>
          <p:nvPr>
            <p:ph type="sldNum" sz="quarter" idx="4294967295"/>
          </p:nvPr>
        </p:nvSpPr>
        <p:spPr>
          <a:xfrm>
            <a:off x="10911535" y="6400800"/>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6E645B"/>
                </a:solidFill>
                <a:latin typeface="Segoe UI Semibold"/>
                <a:ea typeface="Segoe UI Semibold"/>
                <a:cs typeface="Segoe UI Semibold"/>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731520" y="1554480"/>
            <a:ext cx="8229600" cy="274320"/>
          </a:xfrm>
          <a:prstGeom prst="rect">
            <a:avLst/>
          </a:prstGeom>
          <a:noFill/>
          <a:ln/>
        </p:spPr>
        <p:txBody>
          <a:bodyPr wrap="square" lIns="0" tIns="0" rIns="0" bIns="0" rtlCol="0" anchor="t"/>
          <a:lstStyle/>
          <a:p>
            <a:pPr indent="0" marL="0">
              <a:buNone/>
            </a:pPr>
            <a:r>
              <a:rPr lang="en-US" sz="1050" spc="300" kern="0" dirty="0">
                <a:solidFill>
                  <a:srgbClr val="D2B57A"/>
                </a:solidFill>
                <a:latin typeface="Segoe UI Semibold" pitchFamily="34" charset="0"/>
                <a:ea typeface="Segoe UI Semibold" pitchFamily="34" charset="-122"/>
                <a:cs typeface="Segoe UI Semibold" pitchFamily="34" charset="-120"/>
              </a:rPr>
              <a:t>NEXT STEPS</a:t>
            </a:r>
            <a:endParaRPr lang="en-US" sz="1050" dirty="0"/>
          </a:p>
        </p:txBody>
      </p:sp>
      <p:sp>
        <p:nvSpPr>
          <p:cNvPr id="3" name="Text 1"/>
          <p:cNvSpPr/>
          <p:nvPr>
            <p:ph idx="102" type="title" hasCustomPrompt="1"/>
          </p:nvPr>
        </p:nvSpPr>
        <p:spPr>
          <a:xfrm>
            <a:off x="731520" y="1874520"/>
            <a:ext cx="6126480" cy="1828800"/>
          </a:xfrm>
          <a:prstGeom prst="rect">
            <a:avLst/>
          </a:prstGeom>
          <a:noFill/>
          <a:ln/>
        </p:spPr>
        <p:txBody>
          <a:bodyPr wrap="square" lIns="0" tIns="0" rIns="0" bIns="0" rtlCol="0" anchor="t"/>
          <a:lstStyle/>
          <a:p>
            <a:pPr algn="l" indent="0" marL="0">
              <a:buNone/>
            </a:pPr>
            <a:r>
              <a:rPr lang="en-US" sz="4400" dirty="0">
                <a:solidFill>
                  <a:srgbClr val="F5EFE6"/>
                </a:solidFill>
                <a:latin typeface="Georgia" pitchFamily="34" charset="0"/>
                <a:ea typeface="Georgia" pitchFamily="34" charset="-122"/>
                <a:cs typeface="Georgia" pitchFamily="34" charset="-120"/>
              </a:rPr>
              <a:t>It works. Now it needs a framework.</a:t>
            </a:r>
            <a:endParaRPr lang="en-US" sz="4400" dirty="0"/>
          </a:p>
        </p:txBody>
      </p:sp>
      <p:sp>
        <p:nvSpPr>
          <p:cNvPr id="4" name="Text 2"/>
          <p:cNvSpPr txBox="1"/>
          <p:nvPr/>
        </p:nvSpPr>
        <p:spPr>
          <a:xfrm>
            <a:off x="731520" y="3895344"/>
            <a:ext cx="365760" cy="384048"/>
          </a:xfrm>
          <a:prstGeom prst="rect">
            <a:avLst/>
          </a:prstGeom>
          <a:noFill/>
          <a:ln/>
        </p:spPr>
        <p:txBody>
          <a:bodyPr wrap="square" lIns="0" tIns="0" rIns="0" bIns="0" rtlCol="0" anchor="t"/>
          <a:lstStyle/>
          <a:p>
            <a:pPr indent="0" marL="0">
              <a:buNone/>
            </a:pPr>
            <a:r>
              <a:rPr lang="en-US" sz="2000" dirty="0">
                <a:solidFill>
                  <a:srgbClr val="D2B57A"/>
                </a:solidFill>
                <a:latin typeface="Bodoni MT" pitchFamily="34" charset="0"/>
                <a:ea typeface="Bodoni MT" pitchFamily="34" charset="-122"/>
                <a:cs typeface="Bodoni MT" pitchFamily="34" charset="-120"/>
              </a:rPr>
              <a:t>1</a:t>
            </a:r>
            <a:endParaRPr lang="en-US" sz="2000" dirty="0"/>
          </a:p>
        </p:txBody>
      </p:sp>
      <p:sp>
        <p:nvSpPr>
          <p:cNvPr id="5" name="Text 3"/>
          <p:cNvSpPr txBox="1"/>
          <p:nvPr/>
        </p:nvSpPr>
        <p:spPr>
          <a:xfrm>
            <a:off x="1143000" y="3931920"/>
            <a:ext cx="6766560" cy="384048"/>
          </a:xfrm>
          <a:prstGeom prst="rect">
            <a:avLst/>
          </a:prstGeom>
          <a:noFill/>
          <a:ln/>
        </p:spPr>
        <p:txBody>
          <a:bodyPr wrap="square" lIns="0" tIns="0" rIns="0" bIns="0" rtlCol="0" anchor="t"/>
          <a:lstStyle/>
          <a:p>
            <a:pPr indent="0" marL="0">
              <a:buNone/>
            </a:pPr>
            <a:r>
              <a:rPr lang="en-US" sz="1500" dirty="0">
                <a:solidFill>
                  <a:srgbClr val="F5EFE6"/>
                </a:solidFill>
                <a:latin typeface="Segoe UI" pitchFamily="34" charset="0"/>
                <a:ea typeface="Segoe UI" pitchFamily="34" charset="-122"/>
                <a:cs typeface="Segoe UI" pitchFamily="34" charset="-120"/>
              </a:rPr>
              <a:t>Test with a volunteer panel, in a real boutique, over several days.</a:t>
            </a:r>
            <a:endParaRPr lang="en-US" sz="1500" dirty="0"/>
          </a:p>
        </p:txBody>
      </p:sp>
      <p:sp>
        <p:nvSpPr>
          <p:cNvPr id="6" name="Text 4"/>
          <p:cNvSpPr txBox="1"/>
          <p:nvPr/>
        </p:nvSpPr>
        <p:spPr>
          <a:xfrm>
            <a:off x="731520" y="4398264"/>
            <a:ext cx="365760" cy="384048"/>
          </a:xfrm>
          <a:prstGeom prst="rect">
            <a:avLst/>
          </a:prstGeom>
          <a:noFill/>
          <a:ln/>
        </p:spPr>
        <p:txBody>
          <a:bodyPr wrap="square" lIns="0" tIns="0" rIns="0" bIns="0" rtlCol="0" anchor="t"/>
          <a:lstStyle/>
          <a:p>
            <a:pPr indent="0" marL="0">
              <a:buNone/>
            </a:pPr>
            <a:r>
              <a:rPr lang="en-US" sz="2000" dirty="0">
                <a:solidFill>
                  <a:srgbClr val="D2B57A"/>
                </a:solidFill>
                <a:latin typeface="Bodoni MT" pitchFamily="34" charset="0"/>
                <a:ea typeface="Bodoni MT" pitchFamily="34" charset="-122"/>
                <a:cs typeface="Bodoni MT" pitchFamily="34" charset="-120"/>
              </a:rPr>
              <a:t>2</a:t>
            </a:r>
            <a:endParaRPr lang="en-US" sz="2000" dirty="0"/>
          </a:p>
        </p:txBody>
      </p:sp>
      <p:sp>
        <p:nvSpPr>
          <p:cNvPr id="7" name="Text 5"/>
          <p:cNvSpPr txBox="1"/>
          <p:nvPr/>
        </p:nvSpPr>
        <p:spPr>
          <a:xfrm>
            <a:off x="1143000" y="4434840"/>
            <a:ext cx="6766560" cy="384048"/>
          </a:xfrm>
          <a:prstGeom prst="rect">
            <a:avLst/>
          </a:prstGeom>
          <a:noFill/>
          <a:ln/>
        </p:spPr>
        <p:txBody>
          <a:bodyPr wrap="square" lIns="0" tIns="0" rIns="0" bIns="0" rtlCol="0" anchor="t"/>
          <a:lstStyle/>
          <a:p>
            <a:pPr indent="0" marL="0">
              <a:buNone/>
            </a:pPr>
            <a:r>
              <a:rPr lang="en-US" sz="1500" dirty="0">
                <a:solidFill>
                  <a:srgbClr val="F5EFE6"/>
                </a:solidFill>
                <a:latin typeface="Segoe UI" pitchFamily="34" charset="0"/>
                <a:ea typeface="Segoe UI" pitchFamily="34" charset="-122"/>
                <a:cs typeface="Segoe UI" pitchFamily="34" charset="-120"/>
              </a:rPr>
              <a:t>Add spoofing detection and switch to commercially licensed models.</a:t>
            </a:r>
            <a:endParaRPr lang="en-US" sz="1500" dirty="0"/>
          </a:p>
        </p:txBody>
      </p:sp>
      <p:sp>
        <p:nvSpPr>
          <p:cNvPr id="8" name="Text 6"/>
          <p:cNvSpPr txBox="1"/>
          <p:nvPr/>
        </p:nvSpPr>
        <p:spPr>
          <a:xfrm>
            <a:off x="731520" y="4901184"/>
            <a:ext cx="365760" cy="384048"/>
          </a:xfrm>
          <a:prstGeom prst="rect">
            <a:avLst/>
          </a:prstGeom>
          <a:noFill/>
          <a:ln/>
        </p:spPr>
        <p:txBody>
          <a:bodyPr wrap="square" lIns="0" tIns="0" rIns="0" bIns="0" rtlCol="0" anchor="t"/>
          <a:lstStyle/>
          <a:p>
            <a:pPr indent="0" marL="0">
              <a:buNone/>
            </a:pPr>
            <a:r>
              <a:rPr lang="en-US" sz="2000" dirty="0">
                <a:solidFill>
                  <a:srgbClr val="D2B57A"/>
                </a:solidFill>
                <a:latin typeface="Bodoni MT" pitchFamily="34" charset="0"/>
                <a:ea typeface="Bodoni MT" pitchFamily="34" charset="-122"/>
                <a:cs typeface="Bodoni MT" pitchFamily="34" charset="-120"/>
              </a:rPr>
              <a:t>3</a:t>
            </a:r>
            <a:endParaRPr lang="en-US" sz="2000" dirty="0"/>
          </a:p>
        </p:txBody>
      </p:sp>
      <p:sp>
        <p:nvSpPr>
          <p:cNvPr id="9" name="Text 7"/>
          <p:cNvSpPr txBox="1"/>
          <p:nvPr/>
        </p:nvSpPr>
        <p:spPr>
          <a:xfrm>
            <a:off x="1143000" y="4937760"/>
            <a:ext cx="6766560" cy="384048"/>
          </a:xfrm>
          <a:prstGeom prst="rect">
            <a:avLst/>
          </a:prstGeom>
          <a:noFill/>
          <a:ln/>
        </p:spPr>
        <p:txBody>
          <a:bodyPr wrap="square" lIns="0" tIns="0" rIns="0" bIns="0" rtlCol="0" anchor="t"/>
          <a:lstStyle/>
          <a:p>
            <a:pPr indent="0" marL="0">
              <a:buNone/>
            </a:pPr>
            <a:r>
              <a:rPr lang="en-US" sz="1500" dirty="0">
                <a:solidFill>
                  <a:srgbClr val="F5EFE6"/>
                </a:solidFill>
                <a:latin typeface="Segoe UI" pitchFamily="34" charset="0"/>
                <a:ea typeface="Segoe UI" pitchFamily="34" charset="-122"/>
                <a:cs typeface="Segoe UI" pitchFamily="34" charset="-120"/>
              </a:rPr>
              <a:t>Run the impact assessment and design the client opt-in journey.</a:t>
            </a:r>
            <a:endParaRPr lang="en-US" sz="1500" dirty="0"/>
          </a:p>
        </p:txBody>
      </p:sp>
      <p:sp>
        <p:nvSpPr>
          <p:cNvPr id="10" name="Text 8"/>
          <p:cNvSpPr txBox="1"/>
          <p:nvPr/>
        </p:nvSpPr>
        <p:spPr>
          <a:xfrm>
            <a:off x="731520" y="5669280"/>
            <a:ext cx="8229600" cy="320040"/>
          </a:xfrm>
          <a:prstGeom prst="rect">
            <a:avLst/>
          </a:prstGeom>
          <a:noFill/>
          <a:ln/>
        </p:spPr>
        <p:txBody>
          <a:bodyPr wrap="square" lIns="0" tIns="0" rIns="0" bIns="0" rtlCol="0" anchor="t"/>
          <a:lstStyle/>
          <a:p>
            <a:pPr indent="0" marL="0">
              <a:buNone/>
            </a:pPr>
            <a:r>
              <a:rPr lang="en-US" sz="1200" i="1" dirty="0">
                <a:solidFill>
                  <a:srgbClr val="F5EFE6"/>
                </a:solidFill>
                <a:latin typeface="Georgia" pitchFamily="34" charset="0"/>
                <a:ea typeface="Georgia" pitchFamily="34" charset="-122"/>
                <a:cs typeface="Georgia" pitchFamily="34" charset="-120"/>
              </a:rPr>
              <a:t>Thank you.   </a:t>
            </a:r>
            <a:pPr indent="0" marL="0">
              <a:buNone/>
            </a:pPr>
            <a:r>
              <a:rPr lang="en-US" sz="1200" dirty="0">
                <a:solidFill>
                  <a:srgbClr val="D2B57A"/>
                </a:solidFill>
                <a:latin typeface="Segoe UI" pitchFamily="34" charset="0"/>
                <a:ea typeface="Segoe UI" pitchFamily="34" charset="-122"/>
                <a:cs typeface="Segoe UI" pitchFamily="34" charset="-120"/>
              </a:rPr>
              <a:t>Demo  mathos34.github.io/reconnaissance-equipe   ·   Code  github.com/Mathos34/reconnaissance-equipe</a:t>
            </a:r>
            <a:endParaRPr lang="en-US" sz="1200" dirty="0"/>
          </a:p>
        </p:txBody>
      </p:sp>
      <p:sp>
        <p:nvSpPr>
          <p:cNvPr id="11" name="Text 9"/>
          <p:cNvSpPr txBox="1"/>
          <p:nvPr/>
        </p:nvSpPr>
        <p:spPr>
          <a:xfrm>
            <a:off x="731520" y="6035040"/>
            <a:ext cx="8229600" cy="274320"/>
          </a:xfrm>
          <a:prstGeom prst="rect">
            <a:avLst/>
          </a:prstGeom>
          <a:noFill/>
          <a:ln/>
        </p:spPr>
        <p:txBody>
          <a:bodyPr wrap="square" lIns="0" tIns="0" rIns="0" bIns="0" rtlCol="0" anchor="t"/>
          <a:lstStyle/>
          <a:p>
            <a:pPr indent="0" marL="0">
              <a:buNone/>
            </a:pPr>
            <a:r>
              <a:rPr lang="en-US" sz="1100" dirty="0">
                <a:solidFill>
                  <a:srgbClr val="B3A797"/>
                </a:solidFill>
                <a:latin typeface="Segoe UI" pitchFamily="34" charset="0"/>
                <a:ea typeface="Segoe UI" pitchFamily="34" charset="-122"/>
                <a:cs typeface="Segoe UI" pitchFamily="34" charset="-120"/>
              </a:rPr>
              <a:t>Rim Middi   ·   Felix Chevalier   ·   Jean-Baptiste Caron   ·   Mathis Lacombe</a:t>
            </a:r>
            <a:endParaRPr lang="en-US" sz="1100" dirty="0"/>
          </a:p>
        </p:txBody>
      </p:sp>
      <p:sp>
        <p:nvSpPr>
          <p:cNvPr id="12" name="qr-fond-fin"/>
          <p:cNvSpPr/>
          <p:nvPr/>
        </p:nvSpPr>
        <p:spPr>
          <a:xfrm>
            <a:off x="9372600" y="3611880"/>
            <a:ext cx="1828800" cy="1828800"/>
          </a:xfrm>
          <a:prstGeom prst="rect">
            <a:avLst/>
          </a:prstGeom>
          <a:solidFill>
            <a:srgbClr val="FFFFFF"/>
          </a:solidFill>
          <a:ln w="12700">
            <a:solidFill>
              <a:srgbClr val="FFFFFF"/>
            </a:solidFill>
            <a:prstDash val="solid"/>
          </a:ln>
        </p:spPr>
      </p:sp>
      <p:pic>
        <p:nvPicPr>
          <p:cNvPr id="13" name="qr-fin" descr="QR code to the live demo">    </p:cNvPr>
          <p:cNvPicPr>
            <a:picLocks noChangeAspect="1"/>
          </p:cNvPicPr>
          <p:nvPr/>
        </p:nvPicPr>
        <p:blipFill>
          <a:blip r:embed="rId1"/>
          <a:stretch>
            <a:fillRect/>
          </a:stretch>
        </p:blipFill>
        <p:spPr>
          <a:xfrm>
            <a:off x="9464040" y="3703320"/>
            <a:ext cx="1645920" cy="1645920"/>
          </a:xfrm>
          <a:prstGeom prst="rect">
            <a:avLst/>
          </a:prstGeom>
        </p:spPr>
      </p:pic>
      <p:sp>
        <p:nvSpPr>
          <p:cNvPr id="14" name="cadre-qr-fin-coin-1"/>
          <p:cNvSpPr/>
          <p:nvPr/>
        </p:nvSpPr>
        <p:spPr>
          <a:xfrm>
            <a:off x="9208008" y="3447288"/>
            <a:ext cx="292608" cy="32004"/>
          </a:xfrm>
          <a:prstGeom prst="rect">
            <a:avLst/>
          </a:prstGeom>
          <a:solidFill>
            <a:schemeClr val="accent2"/>
          </a:solidFill>
          <a:ln w="12700">
            <a:solidFill>
              <a:schemeClr val="accent2"/>
            </a:solidFill>
            <a:prstDash val="solid"/>
          </a:ln>
        </p:spPr>
      </p:sp>
      <p:sp>
        <p:nvSpPr>
          <p:cNvPr id="15" name="cadre-qr-fin-coin-2"/>
          <p:cNvSpPr/>
          <p:nvPr/>
        </p:nvSpPr>
        <p:spPr>
          <a:xfrm>
            <a:off x="9208008" y="3447288"/>
            <a:ext cx="32004" cy="292608"/>
          </a:xfrm>
          <a:prstGeom prst="rect">
            <a:avLst/>
          </a:prstGeom>
          <a:solidFill>
            <a:schemeClr val="accent2"/>
          </a:solidFill>
          <a:ln w="12700">
            <a:solidFill>
              <a:schemeClr val="accent2"/>
            </a:solidFill>
            <a:prstDash val="solid"/>
          </a:ln>
        </p:spPr>
      </p:sp>
      <p:sp>
        <p:nvSpPr>
          <p:cNvPr id="16" name="cadre-qr-fin-coin-3"/>
          <p:cNvSpPr/>
          <p:nvPr/>
        </p:nvSpPr>
        <p:spPr>
          <a:xfrm>
            <a:off x="11073384" y="3447288"/>
            <a:ext cx="292608" cy="32004"/>
          </a:xfrm>
          <a:prstGeom prst="rect">
            <a:avLst/>
          </a:prstGeom>
          <a:solidFill>
            <a:schemeClr val="accent2"/>
          </a:solidFill>
          <a:ln w="12700">
            <a:solidFill>
              <a:schemeClr val="accent2"/>
            </a:solidFill>
            <a:prstDash val="solid"/>
          </a:ln>
        </p:spPr>
      </p:sp>
      <p:sp>
        <p:nvSpPr>
          <p:cNvPr id="17" name="cadre-qr-fin-coin-4"/>
          <p:cNvSpPr/>
          <p:nvPr/>
        </p:nvSpPr>
        <p:spPr>
          <a:xfrm>
            <a:off x="11333988" y="3447288"/>
            <a:ext cx="32004" cy="292608"/>
          </a:xfrm>
          <a:prstGeom prst="rect">
            <a:avLst/>
          </a:prstGeom>
          <a:solidFill>
            <a:schemeClr val="accent2"/>
          </a:solidFill>
          <a:ln w="12700">
            <a:solidFill>
              <a:schemeClr val="accent2"/>
            </a:solidFill>
            <a:prstDash val="solid"/>
          </a:ln>
        </p:spPr>
      </p:sp>
      <p:sp>
        <p:nvSpPr>
          <p:cNvPr id="18" name="cadre-qr-fin-coin-5"/>
          <p:cNvSpPr/>
          <p:nvPr/>
        </p:nvSpPr>
        <p:spPr>
          <a:xfrm>
            <a:off x="9208008" y="5573268"/>
            <a:ext cx="292608" cy="32004"/>
          </a:xfrm>
          <a:prstGeom prst="rect">
            <a:avLst/>
          </a:prstGeom>
          <a:solidFill>
            <a:schemeClr val="accent2"/>
          </a:solidFill>
          <a:ln w="12700">
            <a:solidFill>
              <a:schemeClr val="accent2"/>
            </a:solidFill>
            <a:prstDash val="solid"/>
          </a:ln>
        </p:spPr>
      </p:sp>
      <p:sp>
        <p:nvSpPr>
          <p:cNvPr id="19" name="cadre-qr-fin-coin-6"/>
          <p:cNvSpPr/>
          <p:nvPr/>
        </p:nvSpPr>
        <p:spPr>
          <a:xfrm>
            <a:off x="9208008" y="5312664"/>
            <a:ext cx="32004" cy="292608"/>
          </a:xfrm>
          <a:prstGeom prst="rect">
            <a:avLst/>
          </a:prstGeom>
          <a:solidFill>
            <a:schemeClr val="accent2"/>
          </a:solidFill>
          <a:ln w="12700">
            <a:solidFill>
              <a:schemeClr val="accent2"/>
            </a:solidFill>
            <a:prstDash val="solid"/>
          </a:ln>
        </p:spPr>
      </p:sp>
      <p:sp>
        <p:nvSpPr>
          <p:cNvPr id="20" name="cadre-qr-fin-coin-7"/>
          <p:cNvSpPr/>
          <p:nvPr/>
        </p:nvSpPr>
        <p:spPr>
          <a:xfrm>
            <a:off x="11073384" y="5573268"/>
            <a:ext cx="292608" cy="32004"/>
          </a:xfrm>
          <a:prstGeom prst="rect">
            <a:avLst/>
          </a:prstGeom>
          <a:solidFill>
            <a:schemeClr val="accent2"/>
          </a:solidFill>
          <a:ln w="12700">
            <a:solidFill>
              <a:schemeClr val="accent2"/>
            </a:solidFill>
            <a:prstDash val="solid"/>
          </a:ln>
        </p:spPr>
      </p:sp>
      <p:sp>
        <p:nvSpPr>
          <p:cNvPr id="21" name="cadre-qr-fin-coin-8"/>
          <p:cNvSpPr/>
          <p:nvPr/>
        </p:nvSpPr>
        <p:spPr>
          <a:xfrm>
            <a:off x="11333988" y="5312664"/>
            <a:ext cx="32004" cy="292608"/>
          </a:xfrm>
          <a:prstGeom prst="rect">
            <a:avLst/>
          </a:prstGeom>
          <a:solidFill>
            <a:schemeClr val="accent2"/>
          </a:solidFill>
          <a:ln w="12700">
            <a:solidFill>
              <a:schemeClr val="accent2"/>
            </a:solidFill>
            <a:prstDash val="solid"/>
          </a:ln>
        </p:spPr>
      </p:sp>
      <p:sp>
        <p:nvSpPr>
          <p:cNvPr id="22" name="cadre-qr-fin-etiquette-fond"/>
          <p:cNvSpPr/>
          <p:nvPr/>
        </p:nvSpPr>
        <p:spPr>
          <a:xfrm>
            <a:off x="9208008" y="3154680"/>
            <a:ext cx="722376" cy="292608"/>
          </a:xfrm>
          <a:prstGeom prst="rect">
            <a:avLst/>
          </a:prstGeom>
          <a:solidFill>
            <a:schemeClr val="accent2"/>
          </a:solidFill>
          <a:ln w="12700">
            <a:solidFill>
              <a:schemeClr val="accent2"/>
            </a:solidFill>
            <a:prstDash val="solid"/>
          </a:ln>
        </p:spPr>
      </p:sp>
      <p:sp>
        <p:nvSpPr>
          <p:cNvPr id="23" name="cadre-qr-fin-etiquette"/>
          <p:cNvSpPr txBox="1"/>
          <p:nvPr/>
        </p:nvSpPr>
        <p:spPr>
          <a:xfrm>
            <a:off x="9208008" y="3154680"/>
            <a:ext cx="722376" cy="292608"/>
          </a:xfrm>
          <a:prstGeom prst="rect">
            <a:avLst/>
          </a:prstGeom>
          <a:no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Try it</a:t>
            </a:r>
            <a:endParaRPr lang="en-US" sz="1100" dirty="0"/>
          </a:p>
        </p:txBody>
      </p:sp>
      <p:sp>
        <p:nvSpPr>
          <p:cNvPr id="25" name="Text 1"/>
          <p:cNvSpPr/>
          <p:nvPr>
            <p:ph idx="103" type="body" hasCustomPrompt="1"/>
          </p:nvPr>
        </p:nvSpPr>
        <p:spPr>
          <a:xfrm>
            <a:off x="731520" y="3840480"/>
            <a:ext cx="5852160" cy="731520"/>
          </a:xfrm>
          <a:prstGeom prst="rect">
            <a:avLst/>
          </a:prstGeom>
          <a:noFill/>
          <a:ln/>
        </p:spPr>
        <p:txBody>
          <a:bodyPr wrap="square" lIns="0" tIns="0" rIns="0" bIns="0" rtlCol="0" anchor="t"/>
          <a:lstStyle/>
          <a:p>
            <a:pPr indent="0" marL="0">
              <a:buNone/>
            </a:pPr>
            <a:endParaRPr lang="en-US" sz="1700" dirty="0"/>
          </a:p>
        </p:txBody>
      </p:sp>
    </p:spTree>
  </p:cSld>
  <p:clrMapOvr>
    <a:masterClrMapping/>
  </p:clrMapOvr>
</p:sld>
</file>

<file path=ppt/theme/theme1.xml><?xml version="1.0" encoding="utf-8"?>
<a:theme xmlns:a="http://schemas.openxmlformats.org/drawingml/2006/main" name="Maison Test">
  <a:themeElements>
    <a:clrScheme name="Maison Test">
      <a:dk1>
        <a:srgbClr val="221C18"/>
      </a:dk1>
      <a:lt1>
        <a:srgbClr val="FFFFFF"/>
      </a:lt1>
      <a:dk2>
        <a:srgbClr val="14110F"/>
      </a:dk2>
      <a:lt2>
        <a:srgbClr val="F5EFE6"/>
      </a:lt2>
      <a:accent1>
        <a:srgbClr val="A2761A"/>
      </a:accent1>
      <a:accent2>
        <a:srgbClr val="2A74A6"/>
      </a:accent2>
      <a:accent3>
        <a:srgbClr val="8F4A8C"/>
      </a:accent3>
      <a:accent4>
        <a:srgbClr val="6E645B"/>
      </a:accent4>
      <a:accent5>
        <a:srgbClr val="A8412F"/>
      </a:accent5>
      <a:accent6>
        <a:srgbClr val="2F6E46"/>
      </a:accent6>
      <a:hlink>
        <a:srgbClr val="2A74A6"/>
      </a:hlink>
      <a:folHlink>
        <a:srgbClr val="6E645B"/>
      </a:folHlink>
    </a:clrScheme>
    <a:fontScheme name="Maison Tes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Maison Test: recognizing a client in under a second</dc:title>
  <dc:subject>Client recognition prototype running in the browser, Audencia course project</dc:subject>
  <dc:creator>Rim Middi, Felix Chevalier, Jean-Baptiste Caron, Mathis Lacombe</dc:creator>
  <cp:lastModifiedBy>Rim Middi, Felix Chevalier, Jean-Baptiste Caron, Mathis Lacombe</cp:lastModifiedBy>
  <cp:revision>1</cp:revision>
  <dcterms:created xsi:type="dcterms:W3CDTF">2026-10-26T15:15:17Z</dcterms:created>
  <dcterms:modified xsi:type="dcterms:W3CDTF">2026-10-26T15:15:17Z</dcterms:modified>
</cp:coreProperties>
</file>